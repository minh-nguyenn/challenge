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74" r:id="rId3"/>
    <p:sldId id="257" r:id="rId4"/>
    <p:sldId id="258" r:id="rId5"/>
    <p:sldId id="259" r:id="rId6"/>
    <p:sldId id="260" r:id="rId7"/>
    <p:sldId id="261" r:id="rId8"/>
    <p:sldId id="263" r:id="rId9"/>
    <p:sldId id="264" r:id="rId10"/>
    <p:sldId id="265" r:id="rId11"/>
    <p:sldId id="266" r:id="rId12"/>
    <p:sldId id="267" r:id="rId13"/>
    <p:sldId id="269" r:id="rId14"/>
    <p:sldId id="275"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1" d="100"/>
          <a:sy n="101" d="100"/>
        </p:scale>
        <p:origin x="420"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60696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7273B"/>
          </a:solidFill>
          <a:ln w="12700">
            <a:solidFill>
              <a:srgbClr val="C7273B"/>
            </a:solidFill>
            <a:prstDash val="solid"/>
          </a:ln>
        </p:spPr>
        <p:txBody>
          <a:bodyPr/>
          <a:lstStyle/>
          <a:p>
            <a:endParaRPr lang="en-US"/>
          </a:p>
        </p:txBody>
      </p:sp>
      <p:sp>
        <p:nvSpPr>
          <p:cNvPr id="3" name="Shape 1"/>
          <p:cNvSpPr/>
          <p:nvPr/>
        </p:nvSpPr>
        <p:spPr>
          <a:xfrm>
            <a:off x="566928" y="1298448"/>
            <a:ext cx="502920" cy="50292"/>
          </a:xfrm>
          <a:prstGeom prst="rect">
            <a:avLst/>
          </a:prstGeom>
          <a:solidFill>
            <a:srgbClr val="C7273B"/>
          </a:solidFill>
          <a:ln w="12700">
            <a:solidFill>
              <a:srgbClr val="C7273B"/>
            </a:solidFill>
            <a:prstDash val="solid"/>
          </a:ln>
        </p:spPr>
        <p:txBody>
          <a:bodyPr/>
          <a:lstStyle/>
          <a:p>
            <a:endParaRPr lang="en-US"/>
          </a:p>
        </p:txBody>
      </p:sp>
      <p:sp>
        <p:nvSpPr>
          <p:cNvPr id="4" name="Text 2"/>
          <p:cNvSpPr/>
          <p:nvPr/>
        </p:nvSpPr>
        <p:spPr>
          <a:xfrm>
            <a:off x="1225296" y="1170432"/>
            <a:ext cx="5486400" cy="274320"/>
          </a:xfrm>
          <a:prstGeom prst="rect">
            <a:avLst/>
          </a:prstGeom>
          <a:noFill/>
          <a:ln/>
        </p:spPr>
        <p:txBody>
          <a:bodyPr wrap="square" rtlCol="0" anchor="ctr"/>
          <a:lstStyle/>
          <a:p>
            <a:pPr marL="0" indent="0">
              <a:buNone/>
            </a:pPr>
            <a:r>
              <a:rPr lang="en-US" sz="1150" b="1" kern="0" spc="200" dirty="0">
                <a:solidFill>
                  <a:srgbClr val="C7273B"/>
                </a:solidFill>
                <a:latin typeface="Yu Gothic" pitchFamily="34" charset="0"/>
                <a:ea typeface="Yu Gothic" pitchFamily="34" charset="-122"/>
                <a:cs typeface="Yu Gothic" pitchFamily="34" charset="-120"/>
              </a:rPr>
              <a:t>遠鉄ストア　ENTETSU STORE</a:t>
            </a:r>
            <a:endParaRPr lang="en-US" sz="1150" dirty="0"/>
          </a:p>
        </p:txBody>
      </p:sp>
      <p:sp>
        <p:nvSpPr>
          <p:cNvPr id="5" name="Text 3"/>
          <p:cNvSpPr/>
          <p:nvPr/>
        </p:nvSpPr>
        <p:spPr>
          <a:xfrm>
            <a:off x="566928" y="1572768"/>
            <a:ext cx="11057839" cy="868680"/>
          </a:xfrm>
          <a:prstGeom prst="rect">
            <a:avLst/>
          </a:prstGeom>
          <a:noFill/>
          <a:ln/>
        </p:spPr>
        <p:txBody>
          <a:bodyPr wrap="square" rtlCol="0" anchor="ctr"/>
          <a:lstStyle/>
          <a:p>
            <a:pPr marL="0" indent="0">
              <a:buNone/>
            </a:pPr>
            <a:r>
              <a:rPr lang="en-US" sz="4400" b="1" dirty="0">
                <a:solidFill>
                  <a:srgbClr val="331E0E"/>
                </a:solidFill>
                <a:latin typeface="Yu Mincho" pitchFamily="34" charset="0"/>
                <a:ea typeface="Yu Mincho" pitchFamily="34" charset="-122"/>
                <a:cs typeface="Yu Mincho" pitchFamily="34" charset="-120"/>
              </a:rPr>
              <a:t>Entstore Smart Search</a:t>
            </a:r>
            <a:endParaRPr lang="en-US" sz="4400" dirty="0"/>
          </a:p>
        </p:txBody>
      </p:sp>
      <p:sp>
        <p:nvSpPr>
          <p:cNvPr id="6" name="Text 4"/>
          <p:cNvSpPr/>
          <p:nvPr/>
        </p:nvSpPr>
        <p:spPr>
          <a:xfrm>
            <a:off x="566928" y="2487168"/>
            <a:ext cx="11057839" cy="365760"/>
          </a:xfrm>
          <a:prstGeom prst="rect">
            <a:avLst/>
          </a:prstGeom>
          <a:noFill/>
          <a:ln/>
        </p:spPr>
        <p:txBody>
          <a:bodyPr wrap="square" rtlCol="0" anchor="ctr"/>
          <a:lstStyle/>
          <a:p>
            <a:pPr marL="0" indent="0">
              <a:buNone/>
            </a:pPr>
            <a:r>
              <a:rPr lang="en-US" sz="1500" b="1" dirty="0">
                <a:solidFill>
                  <a:srgbClr val="2A1A0E"/>
                </a:solidFill>
                <a:latin typeface="Yu Gothic" pitchFamily="34" charset="0"/>
                <a:ea typeface="Yu Gothic" pitchFamily="34" charset="-122"/>
                <a:cs typeface="Yu Gothic" pitchFamily="34" charset="-120"/>
              </a:rPr>
              <a:t>商品・レシピ・特売を、ひとつの検索窓でつなぎました</a:t>
            </a:r>
          </a:p>
        </p:txBody>
      </p:sp>
      <p:sp>
        <p:nvSpPr>
          <p:cNvPr id="7" name="Text 5"/>
          <p:cNvSpPr/>
          <p:nvPr/>
        </p:nvSpPr>
        <p:spPr>
          <a:xfrm>
            <a:off x="566928" y="2852928"/>
            <a:ext cx="11057839" cy="310896"/>
          </a:xfrm>
          <a:prstGeom prst="rect">
            <a:avLst/>
          </a:prstGeom>
          <a:noFill/>
          <a:ln/>
        </p:spPr>
        <p:txBody>
          <a:bodyPr wrap="square" rtlCol="0" anchor="ctr"/>
          <a:lstStyle/>
          <a:p>
            <a:pPr marL="0" indent="0">
              <a:buNone/>
            </a:pPr>
            <a:r>
              <a:rPr lang="en-US" sz="1250" dirty="0">
                <a:solidFill>
                  <a:srgbClr val="877258"/>
                </a:solidFill>
                <a:latin typeface="Segoe UI" pitchFamily="34" charset="0"/>
                <a:ea typeface="Segoe UI" pitchFamily="34" charset="-122"/>
                <a:cs typeface="Segoe UI" pitchFamily="34" charset="-120"/>
              </a:rPr>
              <a:t>Nối sản phẩm, công thức và khuyến mãi lại trong một ô tìm kiếm</a:t>
            </a:r>
          </a:p>
        </p:txBody>
      </p:sp>
      <p:sp>
        <p:nvSpPr>
          <p:cNvPr id="18" name="Shape 16"/>
          <p:cNvSpPr/>
          <p:nvPr/>
        </p:nvSpPr>
        <p:spPr>
          <a:xfrm>
            <a:off x="566928" y="5852160"/>
            <a:ext cx="11057839" cy="0"/>
          </a:xfrm>
          <a:prstGeom prst="line">
            <a:avLst/>
          </a:prstGeom>
          <a:noFill/>
          <a:ln w="9525">
            <a:solidFill>
              <a:srgbClr val="E4D9C6"/>
            </a:solidFill>
            <a:prstDash val="solid"/>
          </a:ln>
        </p:spPr>
        <p:txBody>
          <a:bodyPr/>
          <a:lstStyle/>
          <a:p>
            <a:endParaRPr lang="en-US"/>
          </a:p>
        </p:txBody>
      </p:sp>
      <p:sp>
        <p:nvSpPr>
          <p:cNvPr id="19" name="Text 17"/>
          <p:cNvSpPr/>
          <p:nvPr/>
        </p:nvSpPr>
        <p:spPr>
          <a:xfrm>
            <a:off x="566928" y="5943600"/>
            <a:ext cx="6400800" cy="274320"/>
          </a:xfrm>
          <a:prstGeom prst="rect">
            <a:avLst/>
          </a:prstGeom>
          <a:noFill/>
          <a:ln/>
        </p:spPr>
        <p:txBody>
          <a:bodyPr wrap="square" rtlCol="0" anchor="ctr"/>
          <a:lstStyle/>
          <a:p>
            <a:pPr marL="0" indent="0">
              <a:buNone/>
            </a:pPr>
            <a:r>
              <a:rPr lang="en-US" sz="1100" dirty="0">
                <a:solidFill>
                  <a:srgbClr val="877258"/>
                </a:solidFill>
                <a:latin typeface="Yu Gothic" pitchFamily="34" charset="0"/>
                <a:ea typeface="Yu Gothic" pitchFamily="34" charset="-122"/>
                <a:cs typeface="Yu Gothic" pitchFamily="34" charset="-120"/>
              </a:rPr>
              <a:t>提案者：EVN（Entetsu Vietnam）　Nguyen Van Minh</a:t>
            </a:r>
            <a:endParaRPr lang="en-US" sz="1100" dirty="0"/>
          </a:p>
        </p:txBody>
      </p:sp>
      <p:sp>
        <p:nvSpPr>
          <p:cNvPr id="20" name="Text 18"/>
          <p:cNvSpPr/>
          <p:nvPr/>
        </p:nvSpPr>
        <p:spPr>
          <a:xfrm>
            <a:off x="8351215" y="6473952"/>
            <a:ext cx="3291840" cy="228600"/>
          </a:xfrm>
          <a:prstGeom prst="rect">
            <a:avLst/>
          </a:prstGeom>
          <a:noFill/>
          <a:ln/>
        </p:spPr>
        <p:txBody>
          <a:bodyPr wrap="square" rtlCol="0" anchor="ctr"/>
          <a:lstStyle/>
          <a:p>
            <a:pPr marL="0" indent="0" algn="r">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marL="0" indent="0" eaLnBrk="1" latinLnBrk="0" hangingPunct="1">
              <a:buNone/>
            </a:pPr>
            <a:r>
              <a:rPr lang="ja-JP" altLang="en-US" sz="1050" b="1" kern="0" spc="100" dirty="0">
                <a:solidFill>
                  <a:srgbClr val="C7273B"/>
                </a:solidFill>
                <a:latin typeface="Yu Gothic" pitchFamily="34" charset="0"/>
                <a:ea typeface="Yu Gothic" pitchFamily="34" charset="-122"/>
                <a:cs typeface="Yu Gothic" pitchFamily="34" charset="-120"/>
              </a:rPr>
              <a:t>現状の課題</a:t>
            </a:r>
            <a:r>
              <a:rPr lang="ja-JP" altLang="en-US" sz="1000" b="1" kern="0" spc="100" dirty="0">
                <a:solidFill>
                  <a:srgbClr val="877258"/>
                </a:solidFill>
                <a:latin typeface="Segoe UI" pitchFamily="34" charset="0"/>
                <a:ea typeface="Segoe UI" pitchFamily="34" charset="-122"/>
                <a:cs typeface="Segoe UI" pitchFamily="34" charset="-120"/>
              </a:rPr>
              <a:t>　／ VẤN ĐỀ ĐẶT RA</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txBody>
          <a:bodyPr/>
          <a:lstStyle/>
          <a:p>
            <a:endParaRPr lang="en-US"/>
          </a:p>
        </p:txBody>
      </p:sp>
      <p:sp>
        <p:nvSpPr>
          <p:cNvPr id="4" name="Text 2"/>
          <p:cNvSpPr/>
          <p:nvPr/>
        </p:nvSpPr>
        <p:spPr>
          <a:xfrm>
            <a:off x="566928" y="713232"/>
            <a:ext cx="11057839" cy="502920"/>
          </a:xfrm>
          <a:prstGeom prst="rect">
            <a:avLst/>
          </a:prstGeom>
          <a:noFill/>
          <a:ln/>
        </p:spPr>
        <p:txBody>
          <a:bodyPr wrap="square" rtlCol="0" anchor="ctr"/>
          <a:lstStyle/>
          <a:p>
            <a:pPr marL="0" indent="0" eaLnBrk="1" latinLnBrk="0" hangingPunct="1">
              <a:buNone/>
            </a:pPr>
            <a:r>
              <a:rPr lang="ja-JP" altLang="en-US" sz="2500" b="1" dirty="0">
                <a:solidFill>
                  <a:srgbClr val="331E0E"/>
                </a:solidFill>
                <a:latin typeface="Yu Mincho" pitchFamily="34" charset="0"/>
                <a:ea typeface="Yu Mincho" pitchFamily="34" charset="-122"/>
                <a:cs typeface="Yu Mincho" pitchFamily="34" charset="-120"/>
              </a:rPr>
              <a:t>ユーザー目線でサイトを使ってみて、気づいた問題</a:t>
            </a:r>
          </a:p>
        </p:txBody>
      </p:sp>
      <p:sp>
        <p:nvSpPr>
          <p:cNvPr id="5" name="Text 3"/>
          <p:cNvSpPr/>
          <p:nvPr/>
        </p:nvSpPr>
        <p:spPr>
          <a:xfrm>
            <a:off x="585216" y="1225296"/>
            <a:ext cx="11057839" cy="274320"/>
          </a:xfrm>
          <a:prstGeom prst="rect">
            <a:avLst/>
          </a:prstGeom>
          <a:noFill/>
          <a:ln/>
        </p:spPr>
        <p:txBody>
          <a:bodyPr wrap="square" rtlCol="0" anchor="ctr"/>
          <a:lstStyle/>
          <a:p>
            <a:r>
              <a:rPr lang="en-US" sz="1400" dirty="0" err="1"/>
              <a:t>Những vấn đề nhận ra sau khi tự dùng website như một người dùng</a:t>
            </a:r>
          </a:p>
        </p:txBody>
      </p:sp>
      <p:sp>
        <p:nvSpPr>
          <p:cNvPr id="6" name="Shape 4"/>
          <p:cNvSpPr/>
          <p:nvPr/>
        </p:nvSpPr>
        <p:spPr>
          <a:xfrm>
            <a:off x="566928" y="1965960"/>
            <a:ext cx="5446624" cy="914400"/>
          </a:xfrm>
          <a:prstGeom prst="rect">
            <a:avLst/>
          </a:prstGeom>
          <a:solidFill>
            <a:srgbClr val="FBF0F1"/>
          </a:solidFill>
          <a:ln w="12700">
            <a:solidFill>
              <a:srgbClr val="FBF0F1"/>
            </a:solidFill>
            <a:prstDash val="solid"/>
          </a:ln>
        </p:spPr>
        <p:txBody>
          <a:bodyPr/>
          <a:lstStyle/>
          <a:p>
            <a:endParaRPr lang="en-US"/>
          </a:p>
        </p:txBody>
      </p:sp>
      <p:sp>
        <p:nvSpPr>
          <p:cNvPr id="8" name="Text 6"/>
          <p:cNvSpPr/>
          <p:nvPr/>
        </p:nvSpPr>
        <p:spPr>
          <a:xfrm>
            <a:off x="786384" y="2075688"/>
            <a:ext cx="5007712" cy="694944"/>
          </a:xfrm>
          <a:prstGeom prst="rect">
            <a:avLst/>
          </a:prstGeom>
          <a:noFill/>
          <a:ln/>
        </p:spPr>
        <p:txBody>
          <a:bodyPr wrap="square" rtlCol="0" anchor="ctr"/>
          <a:lstStyle/>
          <a:p>
            <a:pPr marL="0" indent="0" eaLnBrk="1" latinLnBrk="0" hangingPunct="1">
              <a:buNone/>
            </a:pPr>
            <a:r>
              <a:rPr lang="ja-JP" altLang="en-US" sz="950" b="1" kern="0" spc="100" dirty="0">
                <a:solidFill>
                  <a:srgbClr val="C7273B"/>
                </a:solidFill>
                <a:latin typeface="Yu Mincho" pitchFamily="34" charset="0"/>
                <a:ea typeface="Yu Mincho" pitchFamily="34" charset="-122"/>
                <a:cs typeface="Yu Mincho" pitchFamily="34" charset="-120"/>
              </a:rPr>
              <a:t>根っこ ①</a:t>
            </a:r>
            <a:r>
              <a:rPr lang="ja-JP" altLang="en-US" sz="800" b="1" kern="0" spc="100" dirty="0">
                <a:solidFill>
                  <a:srgbClr val="C7273B"/>
                </a:solidFill>
                <a:latin typeface="Segoe UI" pitchFamily="34" charset="0"/>
                <a:ea typeface="Segoe UI" pitchFamily="34" charset="-122"/>
                <a:cs typeface="Segoe UI" pitchFamily="34" charset="-120"/>
              </a:rPr>
              <a:t>　／ GỐC RỄ ①</a:t>
            </a:r>
            <a:endParaRPr lang="en-US" sz="950" dirty="0"/>
          </a:p>
          <a:p>
            <a:pPr marL="0" indent="0" eaLnBrk="1" latinLnBrk="0" hangingPunct="1">
              <a:lnSpc>
                <a:spcPct val="115000"/>
              </a:lnSpc>
              <a:buNone/>
            </a:pPr>
            <a:r>
              <a:rPr lang="ja-JP" altLang="en-US" sz="1600" b="1" dirty="0">
                <a:solidFill>
                  <a:srgbClr val="331E0E"/>
                </a:solidFill>
                <a:latin typeface="Yu Mincho" pitchFamily="34" charset="0"/>
                <a:ea typeface="Yu Mincho" pitchFamily="34" charset="-122"/>
                <a:cs typeface="Yu Mincho" pitchFamily="34" charset="-120"/>
              </a:rPr>
              <a:t>サイトが受け身で、案内も接客も弱い</a:t>
            </a:r>
          </a:p>
          <a:p>
            <a:pPr marL="0" indent="0" eaLnBrk="1" latinLnBrk="0" hangingPunct="1">
              <a:lnSpc>
                <a:spcPct val="115000"/>
              </a:lnSpc>
              <a:buNone/>
            </a:pPr>
            <a:r>
              <a:rPr lang="en-US" sz="1000" dirty="0">
                <a:solidFill>
                  <a:srgbClr val="877258"/>
                </a:solidFill>
                <a:latin typeface="Segoe UI" pitchFamily="34" charset="0"/>
                <a:ea typeface="Segoe UI" pitchFamily="34" charset="-122"/>
                <a:cs typeface="Segoe UI" pitchFamily="34" charset="-120"/>
              </a:rPr>
              <a:t>Website còn bị động, chưa chủ động dẫn dắt và chăm sóc khách</a:t>
            </a:r>
          </a:p>
        </p:txBody>
      </p:sp>
      <p:sp>
        <p:nvSpPr>
          <p:cNvPr id="9" name="Shape 7"/>
          <p:cNvSpPr/>
          <p:nvPr/>
        </p:nvSpPr>
        <p:spPr>
          <a:xfrm>
            <a:off x="6178144" y="1965960"/>
            <a:ext cx="5446624" cy="914400"/>
          </a:xfrm>
          <a:prstGeom prst="rect">
            <a:avLst/>
          </a:prstGeom>
          <a:solidFill>
            <a:srgbClr val="FBF0F1"/>
          </a:solidFill>
          <a:ln w="12700">
            <a:solidFill>
              <a:srgbClr val="FBF0F1"/>
            </a:solidFill>
            <a:prstDash val="solid"/>
          </a:ln>
        </p:spPr>
        <p:txBody>
          <a:bodyPr/>
          <a:lstStyle/>
          <a:p>
            <a:endParaRPr lang="en-US"/>
          </a:p>
        </p:txBody>
      </p:sp>
      <p:sp>
        <p:nvSpPr>
          <p:cNvPr id="11" name="Text 9"/>
          <p:cNvSpPr/>
          <p:nvPr/>
        </p:nvSpPr>
        <p:spPr>
          <a:xfrm>
            <a:off x="6397600" y="2075688"/>
            <a:ext cx="5007712" cy="694944"/>
          </a:xfrm>
          <a:prstGeom prst="rect">
            <a:avLst/>
          </a:prstGeom>
          <a:noFill/>
          <a:ln/>
        </p:spPr>
        <p:txBody>
          <a:bodyPr wrap="square" rtlCol="0" anchor="ctr"/>
          <a:lstStyle/>
          <a:p>
            <a:pPr marL="0" indent="0" eaLnBrk="1" latinLnBrk="0" hangingPunct="1">
              <a:buNone/>
            </a:pPr>
            <a:r>
              <a:rPr lang="ja-JP" altLang="en-US" sz="950" b="1" kern="0" spc="100" dirty="0">
                <a:solidFill>
                  <a:srgbClr val="C7273B"/>
                </a:solidFill>
                <a:latin typeface="Yu Mincho" pitchFamily="34" charset="0"/>
                <a:ea typeface="Yu Mincho" pitchFamily="34" charset="-122"/>
                <a:cs typeface="Yu Mincho" pitchFamily="34" charset="-120"/>
              </a:rPr>
              <a:t>根っこ ②</a:t>
            </a:r>
            <a:r>
              <a:rPr lang="ja-JP" altLang="en-US" sz="800" b="1" kern="0" spc="100" dirty="0">
                <a:solidFill>
                  <a:srgbClr val="C7273B"/>
                </a:solidFill>
                <a:latin typeface="Segoe UI" pitchFamily="34" charset="0"/>
                <a:ea typeface="Segoe UI" pitchFamily="34" charset="-122"/>
                <a:cs typeface="Segoe UI" pitchFamily="34" charset="-120"/>
              </a:rPr>
              <a:t>　／ GỐC RỄ ②</a:t>
            </a:r>
            <a:endParaRPr lang="en-US" sz="950" dirty="0"/>
          </a:p>
          <a:p>
            <a:pPr marL="0" indent="0" eaLnBrk="1" latinLnBrk="0" hangingPunct="1">
              <a:lnSpc>
                <a:spcPct val="115000"/>
              </a:lnSpc>
              <a:buNone/>
            </a:pPr>
            <a:r>
              <a:rPr lang="ja-JP" altLang="en-US" sz="1600" b="1" dirty="0">
                <a:solidFill>
                  <a:srgbClr val="331E0E"/>
                </a:solidFill>
                <a:latin typeface="Yu Mincho" pitchFamily="34" charset="0"/>
                <a:ea typeface="Yu Mincho" pitchFamily="34" charset="-122"/>
                <a:cs typeface="Yu Mincho" pitchFamily="34" charset="-120"/>
              </a:rPr>
              <a:t>商品データが外部サイト頼み</a:t>
            </a:r>
            <a:endParaRPr lang="en-US" sz="950" dirty="0"/>
          </a:p>
          <a:p>
            <a:pPr marL="0" indent="0" eaLnBrk="1" latinLnBrk="0" hangingPunct="1">
              <a:lnSpc>
                <a:spcPct val="115000"/>
              </a:lnSpc>
              <a:buNone/>
            </a:pPr>
            <a:r>
              <a:rPr lang="en-US" sz="1000" dirty="0">
                <a:solidFill>
                  <a:srgbClr val="877258"/>
                </a:solidFill>
                <a:latin typeface="Segoe UI" pitchFamily="34" charset="0"/>
                <a:ea typeface="Segoe UI" pitchFamily="34" charset="-122"/>
                <a:cs typeface="Segoe UI" pitchFamily="34" charset="-120"/>
              </a:rPr>
              <a:t>Dữ liệu sản phẩm vẫn phải dựa vào trang web thứ ba</a:t>
            </a:r>
          </a:p>
        </p:txBody>
      </p:sp>
      <p:sp>
        <p:nvSpPr>
          <p:cNvPr id="12" name="Text 10"/>
          <p:cNvSpPr/>
          <p:nvPr/>
        </p:nvSpPr>
        <p:spPr>
          <a:xfrm>
            <a:off x="566928" y="2962656"/>
            <a:ext cx="11057839" cy="274320"/>
          </a:xfrm>
          <a:prstGeom prst="rect">
            <a:avLst/>
          </a:prstGeom>
          <a:noFill/>
          <a:ln/>
        </p:spPr>
        <p:txBody>
          <a:bodyPr wrap="square" rtlCol="0" anchor="ctr"/>
          <a:lstStyle/>
          <a:p>
            <a:pPr marL="0" indent="0" algn="ctr" eaLnBrk="1" latinLnBrk="0" hangingPunct="1">
              <a:buNone/>
            </a:pPr>
            <a:r>
              <a:rPr lang="en-US" sz="1300" dirty="0">
                <a:solidFill>
                  <a:srgbClr val="E4D9C6"/>
                </a:solidFill>
                <a:latin typeface="Yu Gothic" pitchFamily="34" charset="0"/>
                <a:ea typeface="Yu Gothic" pitchFamily="34" charset="-122"/>
                <a:cs typeface="Yu Gothic" pitchFamily="34" charset="-120"/>
              </a:rPr>
              <a:t>▼</a:t>
            </a:r>
            <a:endParaRPr lang="en-US" sz="1300" dirty="0"/>
          </a:p>
        </p:txBody>
      </p:sp>
      <p:sp>
        <p:nvSpPr>
          <p:cNvPr id="13" name="Shape 11"/>
          <p:cNvSpPr/>
          <p:nvPr/>
        </p:nvSpPr>
        <p:spPr>
          <a:xfrm>
            <a:off x="566928" y="3401568"/>
            <a:ext cx="3576218" cy="1691640"/>
          </a:xfrm>
          <a:prstGeom prst="rect">
            <a:avLst/>
          </a:prstGeom>
          <a:solidFill>
            <a:srgbClr val="FFFFFF"/>
          </a:solidFill>
          <a:ln w="9525">
            <a:solidFill>
              <a:srgbClr val="E4D9C6"/>
            </a:solidFill>
            <a:prstDash val="solid"/>
          </a:ln>
        </p:spPr>
        <p:txBody>
          <a:bodyPr/>
          <a:lstStyle/>
          <a:p>
            <a:endParaRPr lang="en-US"/>
          </a:p>
        </p:txBody>
      </p:sp>
      <p:sp>
        <p:nvSpPr>
          <p:cNvPr id="14" name="Shape 12"/>
          <p:cNvSpPr/>
          <p:nvPr/>
        </p:nvSpPr>
        <p:spPr>
          <a:xfrm>
            <a:off x="566928" y="3401568"/>
            <a:ext cx="3576218" cy="45720"/>
          </a:xfrm>
          <a:prstGeom prst="rect">
            <a:avLst/>
          </a:prstGeom>
          <a:solidFill>
            <a:srgbClr val="C7273B"/>
          </a:solidFill>
          <a:ln w="12700">
            <a:solidFill>
              <a:srgbClr val="C7273B"/>
            </a:solidFill>
            <a:prstDash val="solid"/>
          </a:ln>
        </p:spPr>
        <p:txBody>
          <a:bodyPr/>
          <a:lstStyle/>
          <a:p>
            <a:endParaRPr lang="en-US"/>
          </a:p>
        </p:txBody>
      </p:sp>
      <p:sp>
        <p:nvSpPr>
          <p:cNvPr id="15" name="Text 13"/>
          <p:cNvSpPr/>
          <p:nvPr/>
        </p:nvSpPr>
        <p:spPr>
          <a:xfrm>
            <a:off x="713232" y="3529584"/>
            <a:ext cx="3283610" cy="1435608"/>
          </a:xfrm>
          <a:prstGeom prst="rect">
            <a:avLst/>
          </a:prstGeom>
          <a:noFill/>
          <a:ln/>
        </p:spPr>
        <p:txBody>
          <a:bodyPr wrap="square" rtlCol="0" anchor="ctr"/>
          <a:lstStyle/>
          <a:p>
            <a:pPr marL="0" indent="0" eaLnBrk="1" latinLnBrk="0" hangingPunct="1">
              <a:buNone/>
            </a:pPr>
            <a:r>
              <a:rPr lang="ja-JP" altLang="en-US" sz="950" b="1" kern="0" spc="100" dirty="0">
                <a:solidFill>
                  <a:srgbClr val="C7273B"/>
                </a:solidFill>
                <a:latin typeface="Yu Mincho" pitchFamily="34" charset="0"/>
                <a:ea typeface="Yu Mincho" pitchFamily="34" charset="-122"/>
                <a:cs typeface="Yu Mincho" pitchFamily="34" charset="-120"/>
              </a:rPr>
              <a:t>場面 ①　今日、何を食べよう</a:t>
            </a:r>
          </a:p>
          <a:p>
            <a:pPr marL="0" indent="0" eaLnBrk="1" latinLnBrk="0" hangingPunct="1">
              <a:lnSpc>
                <a:spcPct val="115000"/>
              </a:lnSpc>
              <a:buNone/>
            </a:pPr>
            <a:r>
              <a:rPr lang="ja-JP" altLang="en-US" sz="1700" b="1" dirty="0">
                <a:solidFill>
                  <a:srgbClr val="331E0E"/>
                </a:solidFill>
                <a:latin typeface="Yu Mincho" pitchFamily="34" charset="0"/>
                <a:ea typeface="Yu Mincho" pitchFamily="34" charset="-122"/>
                <a:cs typeface="Yu Mincho" pitchFamily="34" charset="-120"/>
              </a:rPr>
              <a:t>バナーから、その特売商品にも料理にも行けない</a:t>
            </a:r>
          </a:p>
          <a:p>
            <a:pPr marL="0" indent="0" eaLnBrk="1" latinLnBrk="0" hangingPunct="1">
              <a:lnSpc>
                <a:spcPct val="115000"/>
              </a:lnSpc>
              <a:buNone/>
            </a:pPr>
            <a:r>
              <a:rPr lang="en-US" sz="900" dirty="0">
                <a:solidFill>
                  <a:srgbClr val="877258"/>
                </a:solidFill>
                <a:latin typeface="Segoe UI" pitchFamily="34" charset="0"/>
                <a:ea typeface="Segoe UI" pitchFamily="34" charset="-122"/>
                <a:cs typeface="Segoe UI" pitchFamily="34" charset="-120"/>
              </a:rPr>
              <a:t>Banner khuyến mãi không có link sang sản phẩm đó, cũng không sang món nấu được từ nó</a:t>
            </a:r>
          </a:p>
        </p:txBody>
      </p:sp>
      <p:sp>
        <p:nvSpPr>
          <p:cNvPr id="16" name="Shape 14"/>
          <p:cNvSpPr/>
          <p:nvPr/>
        </p:nvSpPr>
        <p:spPr>
          <a:xfrm>
            <a:off x="4307738" y="3401568"/>
            <a:ext cx="3576218" cy="1691640"/>
          </a:xfrm>
          <a:prstGeom prst="rect">
            <a:avLst/>
          </a:prstGeom>
          <a:solidFill>
            <a:srgbClr val="FFFFFF"/>
          </a:solidFill>
          <a:ln w="9525">
            <a:solidFill>
              <a:srgbClr val="E4D9C6"/>
            </a:solidFill>
            <a:prstDash val="solid"/>
          </a:ln>
        </p:spPr>
        <p:txBody>
          <a:bodyPr/>
          <a:lstStyle/>
          <a:p>
            <a:endParaRPr lang="en-US"/>
          </a:p>
        </p:txBody>
      </p:sp>
      <p:sp>
        <p:nvSpPr>
          <p:cNvPr id="17" name="Shape 15"/>
          <p:cNvSpPr/>
          <p:nvPr/>
        </p:nvSpPr>
        <p:spPr>
          <a:xfrm>
            <a:off x="4307738" y="3401568"/>
            <a:ext cx="3576218" cy="45720"/>
          </a:xfrm>
          <a:prstGeom prst="rect">
            <a:avLst/>
          </a:prstGeom>
          <a:solidFill>
            <a:srgbClr val="C7273B"/>
          </a:solidFill>
          <a:ln w="12700">
            <a:solidFill>
              <a:srgbClr val="C7273B"/>
            </a:solidFill>
            <a:prstDash val="solid"/>
          </a:ln>
        </p:spPr>
        <p:txBody>
          <a:bodyPr/>
          <a:lstStyle/>
          <a:p>
            <a:endParaRPr lang="en-US"/>
          </a:p>
        </p:txBody>
      </p:sp>
      <p:sp>
        <p:nvSpPr>
          <p:cNvPr id="18" name="Text 16"/>
          <p:cNvSpPr/>
          <p:nvPr/>
        </p:nvSpPr>
        <p:spPr>
          <a:xfrm>
            <a:off x="4454042" y="3529584"/>
            <a:ext cx="3283610" cy="1435608"/>
          </a:xfrm>
          <a:prstGeom prst="rect">
            <a:avLst/>
          </a:prstGeom>
          <a:noFill/>
          <a:ln/>
        </p:spPr>
        <p:txBody>
          <a:bodyPr wrap="square" rtlCol="0" anchor="ctr"/>
          <a:lstStyle/>
          <a:p>
            <a:pPr marL="0" indent="0" eaLnBrk="1" latinLnBrk="0" hangingPunct="1">
              <a:buNone/>
            </a:pPr>
            <a:r>
              <a:rPr lang="ja-JP" altLang="en-US" sz="950" b="1" kern="0" spc="100" dirty="0">
                <a:solidFill>
                  <a:srgbClr val="C7273B"/>
                </a:solidFill>
                <a:latin typeface="Yu Mincho" pitchFamily="34" charset="0"/>
                <a:ea typeface="Yu Mincho" pitchFamily="34" charset="-122"/>
                <a:cs typeface="Yu Mincho" pitchFamily="34" charset="-120"/>
              </a:rPr>
              <a:t>場面 ②　レシピを見たあと</a:t>
            </a:r>
            <a:endParaRPr lang="en-US" sz="950" dirty="0"/>
          </a:p>
          <a:p>
            <a:pPr marL="0" indent="0" eaLnBrk="1" latinLnBrk="0" hangingPunct="1">
              <a:lnSpc>
                <a:spcPct val="115000"/>
              </a:lnSpc>
              <a:buNone/>
            </a:pPr>
            <a:r>
              <a:rPr lang="ja-JP" altLang="en-US" sz="1700" b="1" dirty="0">
                <a:solidFill>
                  <a:srgbClr val="331E0E"/>
                </a:solidFill>
                <a:latin typeface="Yu Mincho" pitchFamily="34" charset="0"/>
                <a:ea typeface="Yu Mincho" pitchFamily="34" charset="-122"/>
                <a:cs typeface="Yu Mincho" pitchFamily="34" charset="-120"/>
              </a:rPr>
              <a:t>関連記事も似たレシピも無く、選択肢が広がらない</a:t>
            </a:r>
          </a:p>
          <a:p>
            <a:pPr marL="0" indent="0" eaLnBrk="1" latinLnBrk="0" hangingPunct="1">
              <a:lnSpc>
                <a:spcPct val="115000"/>
              </a:lnSpc>
              <a:buNone/>
            </a:pPr>
            <a:r>
              <a:rPr lang="en-US" sz="900" dirty="0">
                <a:solidFill>
                  <a:srgbClr val="877258"/>
                </a:solidFill>
                <a:latin typeface="Segoe UI" pitchFamily="34" charset="0"/>
                <a:ea typeface="Segoe UI" pitchFamily="34" charset="-122"/>
                <a:cs typeface="Segoe UI" pitchFamily="34" charset="-120"/>
              </a:rPr>
              <a:t>Không có bài viết liên quan hay món tương tự để xem tiếp, khách ít lựa chọn</a:t>
            </a:r>
          </a:p>
        </p:txBody>
      </p:sp>
      <p:sp>
        <p:nvSpPr>
          <p:cNvPr id="19" name="Shape 17"/>
          <p:cNvSpPr/>
          <p:nvPr/>
        </p:nvSpPr>
        <p:spPr>
          <a:xfrm>
            <a:off x="8048549" y="3401568"/>
            <a:ext cx="3576218" cy="1691640"/>
          </a:xfrm>
          <a:prstGeom prst="rect">
            <a:avLst/>
          </a:prstGeom>
          <a:solidFill>
            <a:srgbClr val="FFFFFF"/>
          </a:solidFill>
          <a:ln w="9525">
            <a:solidFill>
              <a:srgbClr val="E4D9C6"/>
            </a:solidFill>
            <a:prstDash val="solid"/>
          </a:ln>
        </p:spPr>
        <p:txBody>
          <a:bodyPr/>
          <a:lstStyle/>
          <a:p>
            <a:endParaRPr lang="en-US"/>
          </a:p>
        </p:txBody>
      </p:sp>
      <p:sp>
        <p:nvSpPr>
          <p:cNvPr id="20" name="Shape 18"/>
          <p:cNvSpPr/>
          <p:nvPr/>
        </p:nvSpPr>
        <p:spPr>
          <a:xfrm>
            <a:off x="8048549" y="3401568"/>
            <a:ext cx="3576218" cy="45720"/>
          </a:xfrm>
          <a:prstGeom prst="rect">
            <a:avLst/>
          </a:prstGeom>
          <a:solidFill>
            <a:srgbClr val="C7273B"/>
          </a:solidFill>
          <a:ln w="12700">
            <a:solidFill>
              <a:srgbClr val="C7273B"/>
            </a:solidFill>
            <a:prstDash val="solid"/>
          </a:ln>
        </p:spPr>
        <p:txBody>
          <a:bodyPr/>
          <a:lstStyle/>
          <a:p>
            <a:endParaRPr lang="en-US"/>
          </a:p>
        </p:txBody>
      </p:sp>
      <p:sp>
        <p:nvSpPr>
          <p:cNvPr id="21" name="Text 19"/>
          <p:cNvSpPr/>
          <p:nvPr/>
        </p:nvSpPr>
        <p:spPr>
          <a:xfrm>
            <a:off x="8194853" y="3529584"/>
            <a:ext cx="3283610" cy="1435608"/>
          </a:xfrm>
          <a:prstGeom prst="rect">
            <a:avLst/>
          </a:prstGeom>
          <a:noFill/>
          <a:ln/>
        </p:spPr>
        <p:txBody>
          <a:bodyPr wrap="square" rtlCol="0" anchor="ctr"/>
          <a:lstStyle/>
          <a:p>
            <a:pPr marL="0" indent="0" eaLnBrk="1" latinLnBrk="0" hangingPunct="1">
              <a:buNone/>
            </a:pPr>
            <a:r>
              <a:rPr lang="ja-JP" altLang="en-US" sz="950" b="1" kern="0" spc="100" dirty="0">
                <a:solidFill>
                  <a:srgbClr val="C7273B"/>
                </a:solidFill>
                <a:latin typeface="Yu Mincho" pitchFamily="34" charset="0"/>
                <a:ea typeface="Yu Mincho" pitchFamily="34" charset="-122"/>
                <a:cs typeface="Yu Mincho" pitchFamily="34" charset="-120"/>
              </a:rPr>
              <a:t>場面 ③　買う量と予算を決める</a:t>
            </a:r>
            <a:endParaRPr lang="en-US" sz="950" dirty="0"/>
          </a:p>
          <a:p>
            <a:pPr marL="0" indent="0" eaLnBrk="1" latinLnBrk="0" hangingPunct="1">
              <a:lnSpc>
                <a:spcPct val="115000"/>
              </a:lnSpc>
              <a:buNone/>
            </a:pPr>
            <a:r>
              <a:rPr lang="ja-JP" altLang="en-US" sz="1700" b="1" dirty="0">
                <a:solidFill>
                  <a:srgbClr val="331E0E"/>
                </a:solidFill>
                <a:latin typeface="Yu Mincho" pitchFamily="34" charset="0"/>
                <a:ea typeface="Yu Mincho" pitchFamily="34" charset="-122"/>
                <a:cs typeface="Yu Mincho" pitchFamily="34" charset="-120"/>
              </a:rPr>
              <a:t>材料の価格も特売も分からず、予算で選べない</a:t>
            </a:r>
          </a:p>
          <a:p>
            <a:pPr marL="0" indent="0" eaLnBrk="1" latinLnBrk="0" hangingPunct="1">
              <a:lnSpc>
                <a:spcPct val="115000"/>
              </a:lnSpc>
              <a:buNone/>
            </a:pPr>
            <a:r>
              <a:rPr lang="en-US" sz="900" dirty="0">
                <a:solidFill>
                  <a:srgbClr val="877258"/>
                </a:solidFill>
                <a:latin typeface="Segoe UI" pitchFamily="34" charset="0"/>
                <a:ea typeface="Segoe UI" pitchFamily="34" charset="-122"/>
                <a:cs typeface="Segoe UI" pitchFamily="34" charset="-120"/>
              </a:rPr>
              <a:t>Nguyên liệu không có giá, không rõ đang KM — khách khó tính tiền, khó chọn món theo túi tiền</a:t>
            </a:r>
          </a:p>
        </p:txBody>
      </p:sp>
      <p:sp>
        <p:nvSpPr>
          <p:cNvPr id="22" name="Text 20"/>
          <p:cNvSpPr/>
          <p:nvPr/>
        </p:nvSpPr>
        <p:spPr>
          <a:xfrm>
            <a:off x="8351215" y="6473952"/>
            <a:ext cx="3291840" cy="228600"/>
          </a:xfrm>
          <a:prstGeom prst="rect">
            <a:avLst/>
          </a:prstGeom>
          <a:noFill/>
          <a:ln/>
        </p:spPr>
        <p:txBody>
          <a:bodyPr wrap="square" rtlCol="0" anchor="ctr"/>
          <a:lstStyle/>
          <a:p>
            <a:pPr marL="0" indent="0" algn="r" eaLnBrk="1" latinLnBrk="0" hangingPunct="1">
              <a:buNone/>
            </a:pPr>
            <a:r>
              <a:rPr lang="ja-JP" alt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marL="0" indent="0" eaLnBrk="1" latinLnBrk="0" hangingPunct="1">
              <a:buNone/>
            </a:pPr>
            <a:r>
              <a:rPr lang="ja-JP" altLang="en-US" sz="1050" b="1" kern="0" spc="100" dirty="0">
                <a:solidFill>
                  <a:srgbClr val="C7273B"/>
                </a:solidFill>
                <a:latin typeface="Yu Gothic" pitchFamily="34" charset="0"/>
                <a:ea typeface="Yu Gothic" pitchFamily="34" charset="-122"/>
                <a:cs typeface="Yu Gothic" pitchFamily="34" charset="-120"/>
              </a:rPr>
              <a:t>全体像</a:t>
            </a:r>
            <a:r>
              <a:rPr lang="ja-JP" altLang="en-US" sz="1000" b="1" kern="0" spc="100" dirty="0">
                <a:solidFill>
                  <a:srgbClr val="877258"/>
                </a:solidFill>
                <a:latin typeface="Segoe UI" pitchFamily="34" charset="0"/>
                <a:ea typeface="Segoe UI" pitchFamily="34" charset="-122"/>
                <a:cs typeface="Segoe UI" pitchFamily="34" charset="-120"/>
              </a:rPr>
              <a:t>　／ TỔNG QUAN</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txBody>
          <a:bodyPr/>
          <a:lstStyle/>
          <a:p>
            <a:endParaRPr lang="en-US"/>
          </a:p>
        </p:txBody>
      </p:sp>
      <p:sp>
        <p:nvSpPr>
          <p:cNvPr id="4" name="Text 2"/>
          <p:cNvSpPr/>
          <p:nvPr/>
        </p:nvSpPr>
        <p:spPr>
          <a:xfrm>
            <a:off x="566928" y="713232"/>
            <a:ext cx="11057839" cy="502920"/>
          </a:xfrm>
          <a:prstGeom prst="rect">
            <a:avLst/>
          </a:prstGeom>
          <a:noFill/>
          <a:ln/>
        </p:spPr>
        <p:txBody>
          <a:bodyPr wrap="square" rtlCol="0" anchor="ctr"/>
          <a:lstStyle/>
          <a:p>
            <a:pPr marL="0" indent="0" eaLnBrk="1" latinLnBrk="0" hangingPunct="1">
              <a:buNone/>
            </a:pPr>
            <a:r>
              <a:rPr lang="ja-JP" altLang="en-US" sz="2500" b="1" dirty="0">
                <a:solidFill>
                  <a:srgbClr val="331E0E"/>
                </a:solidFill>
                <a:latin typeface="Yu Mincho" pitchFamily="34" charset="0"/>
                <a:ea typeface="Yu Mincho" pitchFamily="34" charset="-122"/>
                <a:cs typeface="Yu Mincho" pitchFamily="34" charset="-120"/>
              </a:rPr>
              <a:t>待つサイトから、案内するサイトへ</a:t>
            </a:r>
          </a:p>
        </p:txBody>
      </p:sp>
      <p:sp>
        <p:nvSpPr>
          <p:cNvPr id="5" name="Text 3"/>
          <p:cNvSpPr/>
          <p:nvPr/>
        </p:nvSpPr>
        <p:spPr>
          <a:xfrm>
            <a:off x="566928" y="1225296"/>
            <a:ext cx="11057839" cy="274320"/>
          </a:xfrm>
          <a:prstGeom prst="rect">
            <a:avLst/>
          </a:prstGeom>
          <a:noFill/>
          <a:ln/>
        </p:spPr>
        <p:txBody>
          <a:bodyPr wrap="square" rtlCol="0" anchor="ctr"/>
          <a:lstStyle/>
          <a:p>
            <a:pPr marL="0" indent="0" eaLnBrk="1" latinLnBrk="0" hangingPunct="1">
              <a:buNone/>
            </a:pPr>
            <a:r>
              <a:rPr lang="en-US" sz="1250" dirty="0">
                <a:solidFill>
                  <a:srgbClr val="877258"/>
                </a:solidFill>
                <a:latin typeface="Segoe UI" pitchFamily="34" charset="0"/>
                <a:ea typeface="Segoe UI" pitchFamily="34" charset="-122"/>
                <a:cs typeface="Segoe UI" pitchFamily="34" charset="-120"/>
              </a:rPr>
              <a:t>Từ website chỉ nằm chờ sang website biết dẫn đường cho khách</a:t>
            </a:r>
          </a:p>
        </p:txBody>
      </p:sp>
      <p:sp>
        <p:nvSpPr>
          <p:cNvPr id="6" name="Shape 4"/>
          <p:cNvSpPr/>
          <p:nvPr/>
        </p:nvSpPr>
        <p:spPr>
          <a:xfrm>
            <a:off x="566928" y="2148840"/>
            <a:ext cx="2079894" cy="1783080"/>
          </a:xfrm>
          <a:prstGeom prst="rect">
            <a:avLst/>
          </a:prstGeom>
          <a:solidFill>
            <a:srgbClr val="FFFFFF"/>
          </a:solidFill>
          <a:ln w="9525">
            <a:solidFill>
              <a:srgbClr val="E4D9C6"/>
            </a:solidFill>
            <a:prstDash val="solid"/>
          </a:ln>
        </p:spPr>
        <p:txBody>
          <a:bodyPr/>
          <a:lstStyle/>
          <a:p>
            <a:endParaRPr lang="en-US"/>
          </a:p>
        </p:txBody>
      </p:sp>
      <p:sp>
        <p:nvSpPr>
          <p:cNvPr id="7" name="Shape 5"/>
          <p:cNvSpPr/>
          <p:nvPr/>
        </p:nvSpPr>
        <p:spPr>
          <a:xfrm>
            <a:off x="566928" y="2148840"/>
            <a:ext cx="2079894" cy="45720"/>
          </a:xfrm>
          <a:prstGeom prst="rect">
            <a:avLst/>
          </a:prstGeom>
          <a:solidFill>
            <a:srgbClr val="C7273B"/>
          </a:solidFill>
          <a:ln w="12700">
            <a:solidFill>
              <a:srgbClr val="C7273B"/>
            </a:solidFill>
            <a:prstDash val="solid"/>
          </a:ln>
        </p:spPr>
        <p:txBody>
          <a:bodyPr/>
          <a:lstStyle/>
          <a:p>
            <a:endParaRPr lang="en-US"/>
          </a:p>
        </p:txBody>
      </p:sp>
      <p:sp>
        <p:nvSpPr>
          <p:cNvPr id="8" name="Text 6"/>
          <p:cNvSpPr/>
          <p:nvPr/>
        </p:nvSpPr>
        <p:spPr>
          <a:xfrm>
            <a:off x="713232" y="2276856"/>
            <a:ext cx="1787286" cy="1527048"/>
          </a:xfrm>
          <a:prstGeom prst="rect">
            <a:avLst/>
          </a:prstGeom>
          <a:noFill/>
          <a:ln/>
        </p:spPr>
        <p:txBody>
          <a:bodyPr wrap="square" rtlCol="0" anchor="ctr"/>
          <a:lstStyle/>
          <a:p>
            <a:pPr marL="0" indent="0" eaLnBrk="1" latinLnBrk="0" hangingPunct="1">
              <a:buNone/>
            </a:pPr>
            <a:r>
              <a:rPr lang="ja-JP" altLang="en-US" sz="950" b="1" kern="0" spc="100" dirty="0">
                <a:solidFill>
                  <a:srgbClr val="C7273B"/>
                </a:solidFill>
                <a:latin typeface="Yu Mincho" pitchFamily="34" charset="0"/>
                <a:ea typeface="Yu Mincho" pitchFamily="34" charset="-122"/>
                <a:cs typeface="Yu Mincho" pitchFamily="34" charset="-120"/>
              </a:rPr>
              <a:t>機能 ①</a:t>
            </a:r>
            <a:endParaRPr lang="en-US" sz="950" dirty="0"/>
          </a:p>
          <a:p>
            <a:pPr marL="0" indent="0" eaLnBrk="1" latinLnBrk="0" hangingPunct="1">
              <a:lnSpc>
                <a:spcPct val="115000"/>
              </a:lnSpc>
              <a:buNone/>
            </a:pPr>
            <a:r>
              <a:rPr lang="ja-JP" altLang="en-US" sz="1500" b="1" dirty="0">
                <a:solidFill>
                  <a:srgbClr val="331E0E"/>
                </a:solidFill>
                <a:latin typeface="Yu Mincho" pitchFamily="34" charset="0"/>
                <a:ea typeface="Yu Mincho" pitchFamily="34" charset="-122"/>
                <a:cs typeface="Yu Mincho" pitchFamily="34" charset="-120"/>
              </a:rPr>
              <a:t>なんでも検索</a:t>
            </a:r>
            <a:endParaRPr lang="en-US" sz="950" dirty="0"/>
          </a:p>
          <a:p>
            <a:pPr marL="0" indent="0" eaLnBrk="1" latinLnBrk="0" hangingPunct="1">
              <a:lnSpc>
                <a:spcPct val="115000"/>
              </a:lnSpc>
              <a:buNone/>
            </a:pPr>
            <a:r>
              <a:rPr lang="en-US" sz="900" dirty="0">
                <a:solidFill>
                  <a:srgbClr val="877258"/>
                </a:solidFill>
                <a:latin typeface="Segoe UI" pitchFamily="34" charset="0"/>
                <a:ea typeface="Segoe UI" pitchFamily="34" charset="-122"/>
                <a:cs typeface="Segoe UI" pitchFamily="34" charset="-120"/>
              </a:rPr>
              <a:t>Ô tìm kiếm cho cả site</a:t>
            </a:r>
          </a:p>
        </p:txBody>
      </p:sp>
      <p:sp>
        <p:nvSpPr>
          <p:cNvPr id="9" name="Shape 7"/>
          <p:cNvSpPr/>
          <p:nvPr/>
        </p:nvSpPr>
        <p:spPr>
          <a:xfrm>
            <a:off x="2811414" y="2148840"/>
            <a:ext cx="2079894" cy="1783080"/>
          </a:xfrm>
          <a:prstGeom prst="rect">
            <a:avLst/>
          </a:prstGeom>
          <a:solidFill>
            <a:srgbClr val="FFFFFF"/>
          </a:solidFill>
          <a:ln w="9525">
            <a:solidFill>
              <a:srgbClr val="E4D9C6"/>
            </a:solidFill>
            <a:prstDash val="solid"/>
          </a:ln>
        </p:spPr>
        <p:txBody>
          <a:bodyPr/>
          <a:lstStyle/>
          <a:p>
            <a:endParaRPr lang="en-US"/>
          </a:p>
        </p:txBody>
      </p:sp>
      <p:sp>
        <p:nvSpPr>
          <p:cNvPr id="10" name="Shape 8"/>
          <p:cNvSpPr/>
          <p:nvPr/>
        </p:nvSpPr>
        <p:spPr>
          <a:xfrm>
            <a:off x="2811414" y="2148840"/>
            <a:ext cx="2079894" cy="45720"/>
          </a:xfrm>
          <a:prstGeom prst="rect">
            <a:avLst/>
          </a:prstGeom>
          <a:solidFill>
            <a:srgbClr val="C7273B"/>
          </a:solidFill>
          <a:ln w="12700">
            <a:solidFill>
              <a:srgbClr val="C7273B"/>
            </a:solidFill>
            <a:prstDash val="solid"/>
          </a:ln>
        </p:spPr>
        <p:txBody>
          <a:bodyPr/>
          <a:lstStyle/>
          <a:p>
            <a:endParaRPr lang="en-US"/>
          </a:p>
        </p:txBody>
      </p:sp>
      <p:sp>
        <p:nvSpPr>
          <p:cNvPr id="11" name="Text 9"/>
          <p:cNvSpPr/>
          <p:nvPr/>
        </p:nvSpPr>
        <p:spPr>
          <a:xfrm>
            <a:off x="2957718" y="2276856"/>
            <a:ext cx="1787286" cy="1527048"/>
          </a:xfrm>
          <a:prstGeom prst="rect">
            <a:avLst/>
          </a:prstGeom>
          <a:noFill/>
          <a:ln/>
        </p:spPr>
        <p:txBody>
          <a:bodyPr wrap="square" rtlCol="0" anchor="ctr"/>
          <a:lstStyle/>
          <a:p>
            <a:pPr marL="0" indent="0" eaLnBrk="1" latinLnBrk="0" hangingPunct="1">
              <a:buNone/>
            </a:pPr>
            <a:r>
              <a:rPr lang="ja-JP" altLang="en-US" sz="950" b="1" kern="0" spc="100" dirty="0">
                <a:solidFill>
                  <a:srgbClr val="C7273B"/>
                </a:solidFill>
                <a:latin typeface="Yu Mincho" pitchFamily="34" charset="0"/>
                <a:ea typeface="Yu Mincho" pitchFamily="34" charset="-122"/>
                <a:cs typeface="Yu Mincho" pitchFamily="34" charset="-120"/>
              </a:rPr>
              <a:t>機能 ②</a:t>
            </a:r>
            <a:endParaRPr lang="en-US" sz="950" dirty="0"/>
          </a:p>
          <a:p>
            <a:pPr marL="0" indent="0" eaLnBrk="1" latinLnBrk="0" hangingPunct="1">
              <a:lnSpc>
                <a:spcPct val="115000"/>
              </a:lnSpc>
              <a:buNone/>
            </a:pPr>
            <a:r>
              <a:rPr lang="ja-JP" altLang="en-US" sz="1500" b="1" dirty="0">
                <a:solidFill>
                  <a:srgbClr val="331E0E"/>
                </a:solidFill>
                <a:latin typeface="Yu Mincho" pitchFamily="34" charset="0"/>
                <a:ea typeface="Yu Mincho" pitchFamily="34" charset="-122"/>
                <a:cs typeface="Yu Mincho" pitchFamily="34" charset="-120"/>
              </a:rPr>
              <a:t>AIチャットボット</a:t>
            </a:r>
            <a:endParaRPr lang="en-US" sz="950" dirty="0"/>
          </a:p>
          <a:p>
            <a:pPr marL="0" indent="0" eaLnBrk="1" latinLnBrk="0" hangingPunct="1">
              <a:lnSpc>
                <a:spcPct val="115000"/>
              </a:lnSpc>
              <a:buNone/>
            </a:pPr>
            <a:r>
              <a:rPr lang="en-US" sz="900" dirty="0">
                <a:solidFill>
                  <a:srgbClr val="877258"/>
                </a:solidFill>
                <a:latin typeface="Segoe UI" pitchFamily="34" charset="0"/>
                <a:ea typeface="Segoe UI" pitchFamily="34" charset="-122"/>
                <a:cs typeface="Segoe UI" pitchFamily="34" charset="-120"/>
              </a:rPr>
              <a:t>Trợ lý hỏi đáp</a:t>
            </a:r>
            <a:endParaRPr lang="en-US" sz="950" dirty="0"/>
          </a:p>
        </p:txBody>
      </p:sp>
      <p:sp>
        <p:nvSpPr>
          <p:cNvPr id="12" name="Shape 10"/>
          <p:cNvSpPr/>
          <p:nvPr/>
        </p:nvSpPr>
        <p:spPr>
          <a:xfrm>
            <a:off x="5055900" y="2148840"/>
            <a:ext cx="2079894" cy="1783080"/>
          </a:xfrm>
          <a:prstGeom prst="rect">
            <a:avLst/>
          </a:prstGeom>
          <a:solidFill>
            <a:srgbClr val="FFFFFF"/>
          </a:solidFill>
          <a:ln w="9525">
            <a:solidFill>
              <a:srgbClr val="E4D9C6"/>
            </a:solidFill>
            <a:prstDash val="solid"/>
          </a:ln>
        </p:spPr>
        <p:txBody>
          <a:bodyPr/>
          <a:lstStyle/>
          <a:p>
            <a:endParaRPr lang="en-US"/>
          </a:p>
        </p:txBody>
      </p:sp>
      <p:sp>
        <p:nvSpPr>
          <p:cNvPr id="13" name="Shape 11"/>
          <p:cNvSpPr/>
          <p:nvPr/>
        </p:nvSpPr>
        <p:spPr>
          <a:xfrm>
            <a:off x="5055900" y="2148840"/>
            <a:ext cx="2079894" cy="45720"/>
          </a:xfrm>
          <a:prstGeom prst="rect">
            <a:avLst/>
          </a:prstGeom>
          <a:solidFill>
            <a:srgbClr val="C7273B"/>
          </a:solidFill>
          <a:ln w="12700">
            <a:solidFill>
              <a:srgbClr val="C7273B"/>
            </a:solidFill>
            <a:prstDash val="solid"/>
          </a:ln>
        </p:spPr>
        <p:txBody>
          <a:bodyPr/>
          <a:lstStyle/>
          <a:p>
            <a:endParaRPr lang="en-US"/>
          </a:p>
        </p:txBody>
      </p:sp>
      <p:sp>
        <p:nvSpPr>
          <p:cNvPr id="14" name="Text 12"/>
          <p:cNvSpPr/>
          <p:nvPr/>
        </p:nvSpPr>
        <p:spPr>
          <a:xfrm>
            <a:off x="5202204" y="2276856"/>
            <a:ext cx="1787286" cy="1527048"/>
          </a:xfrm>
          <a:prstGeom prst="rect">
            <a:avLst/>
          </a:prstGeom>
          <a:noFill/>
          <a:ln/>
        </p:spPr>
        <p:txBody>
          <a:bodyPr wrap="square" rtlCol="0" anchor="ctr"/>
          <a:lstStyle/>
          <a:p>
            <a:pPr marL="0" indent="0" eaLnBrk="1" latinLnBrk="0" hangingPunct="1">
              <a:buNone/>
            </a:pPr>
            <a:r>
              <a:rPr lang="ja-JP" altLang="en-US" sz="950" b="1" kern="0" spc="100" dirty="0">
                <a:solidFill>
                  <a:srgbClr val="C7273B"/>
                </a:solidFill>
                <a:latin typeface="Yu Mincho" pitchFamily="34" charset="0"/>
                <a:ea typeface="Yu Mincho" pitchFamily="34" charset="-122"/>
                <a:cs typeface="Yu Mincho" pitchFamily="34" charset="-120"/>
              </a:rPr>
              <a:t>機能 ③</a:t>
            </a:r>
            <a:endParaRPr lang="en-US" sz="950" dirty="0"/>
          </a:p>
          <a:p>
            <a:pPr marL="0" indent="0" eaLnBrk="1" latinLnBrk="0" hangingPunct="1">
              <a:lnSpc>
                <a:spcPct val="115000"/>
              </a:lnSpc>
              <a:buNone/>
            </a:pPr>
            <a:r>
              <a:rPr lang="ja-JP" altLang="en-US" sz="1500" b="1" dirty="0">
                <a:solidFill>
                  <a:srgbClr val="331E0E"/>
                </a:solidFill>
                <a:latin typeface="Yu Mincho" pitchFamily="34" charset="0"/>
                <a:ea typeface="Yu Mincho" pitchFamily="34" charset="-122"/>
                <a:cs typeface="Yu Mincho" pitchFamily="34" charset="-120"/>
              </a:rPr>
              <a:t>AI音声読み上げ</a:t>
            </a:r>
            <a:endParaRPr lang="en-US" sz="950" dirty="0"/>
          </a:p>
          <a:p>
            <a:pPr marL="0" indent="0" eaLnBrk="1" latinLnBrk="0" hangingPunct="1">
              <a:lnSpc>
                <a:spcPct val="115000"/>
              </a:lnSpc>
              <a:buNone/>
            </a:pPr>
            <a:r>
              <a:rPr lang="en-US" sz="900" dirty="0">
                <a:solidFill>
                  <a:srgbClr val="877258"/>
                </a:solidFill>
                <a:latin typeface="Segoe UI" pitchFamily="34" charset="0"/>
                <a:ea typeface="Segoe UI" pitchFamily="34" charset="-122"/>
                <a:cs typeface="Segoe UI" pitchFamily="34" charset="-120"/>
              </a:rPr>
              <a:t>AI đọc công thức</a:t>
            </a:r>
            <a:endParaRPr lang="en-US" sz="950" dirty="0"/>
          </a:p>
        </p:txBody>
      </p:sp>
      <p:sp>
        <p:nvSpPr>
          <p:cNvPr id="15" name="Shape 13"/>
          <p:cNvSpPr/>
          <p:nvPr/>
        </p:nvSpPr>
        <p:spPr>
          <a:xfrm>
            <a:off x="7300387" y="2148840"/>
            <a:ext cx="2079894" cy="1783080"/>
          </a:xfrm>
          <a:prstGeom prst="rect">
            <a:avLst/>
          </a:prstGeom>
          <a:solidFill>
            <a:srgbClr val="FFFFFF"/>
          </a:solidFill>
          <a:ln w="9525">
            <a:solidFill>
              <a:srgbClr val="E4D9C6"/>
            </a:solidFill>
            <a:prstDash val="solid"/>
          </a:ln>
        </p:spPr>
        <p:txBody>
          <a:bodyPr/>
          <a:lstStyle/>
          <a:p>
            <a:endParaRPr lang="en-US"/>
          </a:p>
        </p:txBody>
      </p:sp>
      <p:sp>
        <p:nvSpPr>
          <p:cNvPr id="16" name="Shape 14"/>
          <p:cNvSpPr/>
          <p:nvPr/>
        </p:nvSpPr>
        <p:spPr>
          <a:xfrm>
            <a:off x="7300387" y="2148840"/>
            <a:ext cx="2079894" cy="45720"/>
          </a:xfrm>
          <a:prstGeom prst="rect">
            <a:avLst/>
          </a:prstGeom>
          <a:solidFill>
            <a:srgbClr val="C7273B"/>
          </a:solidFill>
          <a:ln w="12700">
            <a:solidFill>
              <a:srgbClr val="C7273B"/>
            </a:solidFill>
            <a:prstDash val="solid"/>
          </a:ln>
        </p:spPr>
        <p:txBody>
          <a:bodyPr/>
          <a:lstStyle/>
          <a:p>
            <a:endParaRPr lang="en-US"/>
          </a:p>
        </p:txBody>
      </p:sp>
      <p:sp>
        <p:nvSpPr>
          <p:cNvPr id="17" name="Text 15"/>
          <p:cNvSpPr/>
          <p:nvPr/>
        </p:nvSpPr>
        <p:spPr>
          <a:xfrm>
            <a:off x="7446691" y="2276856"/>
            <a:ext cx="1787286" cy="1527048"/>
          </a:xfrm>
          <a:prstGeom prst="rect">
            <a:avLst/>
          </a:prstGeom>
          <a:noFill/>
          <a:ln/>
        </p:spPr>
        <p:txBody>
          <a:bodyPr wrap="square" rtlCol="0" anchor="ctr"/>
          <a:lstStyle/>
          <a:p>
            <a:pPr marL="0" indent="0" eaLnBrk="1" latinLnBrk="0" hangingPunct="1">
              <a:buNone/>
            </a:pPr>
            <a:r>
              <a:rPr lang="ja-JP" altLang="en-US" sz="950" b="1" kern="0" spc="100" dirty="0">
                <a:solidFill>
                  <a:srgbClr val="C7273B"/>
                </a:solidFill>
                <a:latin typeface="Yu Mincho" pitchFamily="34" charset="0"/>
                <a:ea typeface="Yu Mincho" pitchFamily="34" charset="-122"/>
                <a:cs typeface="Yu Mincho" pitchFamily="34" charset="-120"/>
              </a:rPr>
              <a:t>機能 ④　お店で買う</a:t>
            </a:r>
            <a:endParaRPr lang="en-US" sz="950" dirty="0"/>
          </a:p>
          <a:p>
            <a:pPr marL="0" indent="0" eaLnBrk="1" latinLnBrk="0" hangingPunct="1">
              <a:lnSpc>
                <a:spcPct val="115000"/>
              </a:lnSpc>
              <a:buNone/>
            </a:pPr>
            <a:r>
              <a:rPr lang="ja-JP" altLang="en-US" sz="1500" b="1" dirty="0">
                <a:solidFill>
                  <a:srgbClr val="331E0E"/>
                </a:solidFill>
                <a:latin typeface="Yu Mincho" pitchFamily="34" charset="0"/>
                <a:ea typeface="Yu Mincho" pitchFamily="34" charset="-122"/>
                <a:cs typeface="Yu Mincho" pitchFamily="34" charset="-120"/>
              </a:rPr>
              <a:t>買い物リスト</a:t>
            </a:r>
            <a:endParaRPr lang="en-US" sz="950" dirty="0"/>
          </a:p>
          <a:p>
            <a:pPr marL="0" indent="0" eaLnBrk="1" latinLnBrk="0" hangingPunct="1">
              <a:lnSpc>
                <a:spcPct val="115000"/>
              </a:lnSpc>
              <a:buNone/>
            </a:pPr>
            <a:r>
              <a:rPr lang="ja-JP" altLang="en-US" sz="1500" b="1" dirty="0">
                <a:solidFill>
                  <a:srgbClr val="331E0E"/>
                </a:solidFill>
                <a:latin typeface="Yu Mincho" pitchFamily="34" charset="0"/>
                <a:ea typeface="Yu Mincho" pitchFamily="34" charset="-122"/>
                <a:cs typeface="Yu Mincho" pitchFamily="34" charset="-120"/>
              </a:rPr>
              <a:t>＋ 売場マップ</a:t>
            </a:r>
            <a:endParaRPr lang="en-US" sz="950" dirty="0"/>
          </a:p>
          <a:p>
            <a:pPr marL="0" indent="0" eaLnBrk="1" latinLnBrk="0" hangingPunct="1">
              <a:lnSpc>
                <a:spcPct val="115000"/>
              </a:lnSpc>
              <a:buNone/>
            </a:pPr>
            <a:r>
              <a:rPr lang="en-US" sz="900" dirty="0">
                <a:solidFill>
                  <a:srgbClr val="877258"/>
                </a:solidFill>
                <a:latin typeface="Segoe UI" pitchFamily="34" charset="0"/>
                <a:ea typeface="Segoe UI" pitchFamily="34" charset="-122"/>
                <a:cs typeface="Segoe UI" pitchFamily="34" charset="-120"/>
              </a:rPr>
              <a:t>Danh sách đi chợ theo quầy + sơ đồ</a:t>
            </a:r>
            <a:endParaRPr lang="en-US" sz="950" dirty="0"/>
          </a:p>
        </p:txBody>
      </p:sp>
      <p:sp>
        <p:nvSpPr>
          <p:cNvPr id="18" name="Shape 16"/>
          <p:cNvSpPr/>
          <p:nvPr/>
        </p:nvSpPr>
        <p:spPr>
          <a:xfrm>
            <a:off x="9544873" y="2148840"/>
            <a:ext cx="2079894" cy="1783080"/>
          </a:xfrm>
          <a:prstGeom prst="rect">
            <a:avLst/>
          </a:prstGeom>
          <a:solidFill>
            <a:srgbClr val="FFFFFF"/>
          </a:solidFill>
          <a:ln w="9525">
            <a:solidFill>
              <a:srgbClr val="E4D9C6"/>
            </a:solidFill>
            <a:prstDash val="solid"/>
          </a:ln>
        </p:spPr>
        <p:txBody>
          <a:bodyPr/>
          <a:lstStyle/>
          <a:p>
            <a:endParaRPr lang="en-US"/>
          </a:p>
        </p:txBody>
      </p:sp>
      <p:sp>
        <p:nvSpPr>
          <p:cNvPr id="19" name="Shape 17"/>
          <p:cNvSpPr/>
          <p:nvPr/>
        </p:nvSpPr>
        <p:spPr>
          <a:xfrm>
            <a:off x="9544873" y="2148840"/>
            <a:ext cx="2079894" cy="45720"/>
          </a:xfrm>
          <a:prstGeom prst="rect">
            <a:avLst/>
          </a:prstGeom>
          <a:solidFill>
            <a:srgbClr val="C7273B"/>
          </a:solidFill>
          <a:ln w="12700">
            <a:solidFill>
              <a:srgbClr val="C7273B"/>
            </a:solidFill>
            <a:prstDash val="solid"/>
          </a:ln>
        </p:spPr>
        <p:txBody>
          <a:bodyPr/>
          <a:lstStyle/>
          <a:p>
            <a:endParaRPr lang="en-US"/>
          </a:p>
        </p:txBody>
      </p:sp>
      <p:sp>
        <p:nvSpPr>
          <p:cNvPr id="20" name="Text 18"/>
          <p:cNvSpPr/>
          <p:nvPr/>
        </p:nvSpPr>
        <p:spPr>
          <a:xfrm>
            <a:off x="9691177" y="2276856"/>
            <a:ext cx="1787286" cy="1527048"/>
          </a:xfrm>
          <a:prstGeom prst="rect">
            <a:avLst/>
          </a:prstGeom>
          <a:noFill/>
          <a:ln/>
        </p:spPr>
        <p:txBody>
          <a:bodyPr wrap="square" rtlCol="0" anchor="ctr"/>
          <a:lstStyle/>
          <a:p>
            <a:pPr marL="0" indent="0" eaLnBrk="1" latinLnBrk="0" hangingPunct="1">
              <a:buNone/>
            </a:pPr>
            <a:r>
              <a:rPr lang="ja-JP" altLang="en-US" sz="950" b="1" kern="0" spc="100" dirty="0">
                <a:solidFill>
                  <a:srgbClr val="C7273B"/>
                </a:solidFill>
                <a:latin typeface="Yu Mincho" pitchFamily="34" charset="0"/>
                <a:ea typeface="Yu Mincho" pitchFamily="34" charset="-122"/>
                <a:cs typeface="Yu Mincho" pitchFamily="34" charset="-120"/>
              </a:rPr>
              <a:t>機能 ⑤　ネットで買う</a:t>
            </a:r>
            <a:endParaRPr lang="en-US" sz="950" dirty="0"/>
          </a:p>
          <a:p>
            <a:pPr marL="0" indent="0" eaLnBrk="1" latinLnBrk="0" hangingPunct="1">
              <a:lnSpc>
                <a:spcPct val="115000"/>
              </a:lnSpc>
              <a:buNone/>
            </a:pPr>
            <a:r>
              <a:rPr lang="ja-JP" altLang="en-US" sz="1500" b="1" dirty="0">
                <a:solidFill>
                  <a:srgbClr val="331E0E"/>
                </a:solidFill>
                <a:latin typeface="Yu Mincho" pitchFamily="34" charset="0"/>
                <a:ea typeface="Yu Mincho" pitchFamily="34" charset="-122"/>
                <a:cs typeface="Yu Mincho" pitchFamily="34" charset="-120"/>
              </a:rPr>
              <a:t>カート →</a:t>
            </a:r>
            <a:endParaRPr lang="en-US" sz="950" dirty="0"/>
          </a:p>
          <a:p>
            <a:pPr marL="0" indent="0" eaLnBrk="1" latinLnBrk="0" hangingPunct="1">
              <a:lnSpc>
                <a:spcPct val="115000"/>
              </a:lnSpc>
              <a:buNone/>
            </a:pPr>
            <a:r>
              <a:rPr lang="ja-JP" altLang="en-US" sz="1500" b="1" dirty="0">
                <a:solidFill>
                  <a:srgbClr val="331E0E"/>
                </a:solidFill>
                <a:latin typeface="Yu Mincho" pitchFamily="34" charset="0"/>
                <a:ea typeface="Yu Mincho" pitchFamily="34" charset="-122"/>
                <a:cs typeface="Yu Mincho" pitchFamily="34" charset="-120"/>
              </a:rPr>
              <a:t>既存のネット通販</a:t>
            </a:r>
            <a:endParaRPr lang="en-US" sz="950" dirty="0"/>
          </a:p>
          <a:p>
            <a:pPr marL="0" indent="0" eaLnBrk="1" latinLnBrk="0" hangingPunct="1">
              <a:lnSpc>
                <a:spcPct val="115000"/>
              </a:lnSpc>
              <a:buNone/>
            </a:pPr>
            <a:r>
              <a:rPr lang="en-US" sz="900" dirty="0">
                <a:solidFill>
                  <a:srgbClr val="877258"/>
                </a:solidFill>
                <a:latin typeface="Segoe UI" pitchFamily="34" charset="0"/>
                <a:ea typeface="Segoe UI" pitchFamily="34" charset="-122"/>
                <a:cs typeface="Segoe UI" pitchFamily="34" charset="-120"/>
              </a:rPr>
              <a:t>Giỏ hàng → trang EC sẵn có</a:t>
            </a:r>
            <a:endParaRPr lang="en-US" sz="950" dirty="0"/>
          </a:p>
        </p:txBody>
      </p:sp>
      <p:sp>
        <p:nvSpPr>
          <p:cNvPr id="21" name="Shape 19"/>
          <p:cNvSpPr/>
          <p:nvPr/>
        </p:nvSpPr>
        <p:spPr>
          <a:xfrm>
            <a:off x="566928" y="4224528"/>
            <a:ext cx="11057839" cy="914400"/>
          </a:xfrm>
          <a:prstGeom prst="rect">
            <a:avLst/>
          </a:prstGeom>
          <a:solidFill>
            <a:srgbClr val="F7F3EA"/>
          </a:solidFill>
          <a:ln w="12700">
            <a:solidFill>
              <a:srgbClr val="F7F3EA"/>
            </a:solidFill>
            <a:prstDash val="solid"/>
          </a:ln>
        </p:spPr>
        <p:txBody>
          <a:bodyPr/>
          <a:lstStyle/>
          <a:p>
            <a:endParaRPr lang="en-US"/>
          </a:p>
        </p:txBody>
      </p:sp>
      <p:sp>
        <p:nvSpPr>
          <p:cNvPr id="22" name="Shape 20"/>
          <p:cNvSpPr/>
          <p:nvPr/>
        </p:nvSpPr>
        <p:spPr>
          <a:xfrm>
            <a:off x="566928" y="4224528"/>
            <a:ext cx="45720" cy="914400"/>
          </a:xfrm>
          <a:prstGeom prst="rect">
            <a:avLst/>
          </a:prstGeom>
          <a:solidFill>
            <a:srgbClr val="C7273B"/>
          </a:solidFill>
          <a:ln w="12700">
            <a:solidFill>
              <a:srgbClr val="C7273B"/>
            </a:solidFill>
            <a:prstDash val="solid"/>
          </a:ln>
        </p:spPr>
        <p:txBody>
          <a:bodyPr/>
          <a:lstStyle/>
          <a:p>
            <a:endParaRPr lang="en-US"/>
          </a:p>
        </p:txBody>
      </p:sp>
      <p:sp>
        <p:nvSpPr>
          <p:cNvPr id="23" name="Text 21"/>
          <p:cNvSpPr/>
          <p:nvPr/>
        </p:nvSpPr>
        <p:spPr>
          <a:xfrm>
            <a:off x="786384" y="4334256"/>
            <a:ext cx="10618927" cy="694944"/>
          </a:xfrm>
          <a:prstGeom prst="rect">
            <a:avLst/>
          </a:prstGeom>
          <a:noFill/>
          <a:ln/>
        </p:spPr>
        <p:txBody>
          <a:bodyPr wrap="square" rtlCol="0" anchor="ctr"/>
          <a:lstStyle/>
          <a:p>
            <a:pPr marL="0" indent="0" eaLnBrk="1" latinLnBrk="0" hangingPunct="1">
              <a:buNone/>
            </a:pPr>
            <a:r>
              <a:rPr lang="ja-JP" altLang="en-US" sz="950" b="1" kern="0" spc="100" dirty="0">
                <a:solidFill>
                  <a:srgbClr val="C7273B"/>
                </a:solidFill>
                <a:latin typeface="Yu Mincho" pitchFamily="34" charset="0"/>
                <a:ea typeface="Yu Mincho" pitchFamily="34" charset="-122"/>
                <a:cs typeface="Yu Mincho" pitchFamily="34" charset="-120"/>
              </a:rPr>
              <a:t>土台</a:t>
            </a:r>
            <a:r>
              <a:rPr lang="ja-JP" altLang="en-US" sz="800" b="1" kern="0" spc="100" dirty="0">
                <a:solidFill>
                  <a:srgbClr val="C7273B"/>
                </a:solidFill>
                <a:latin typeface="Segoe UI" pitchFamily="34" charset="0"/>
                <a:ea typeface="Segoe UI" pitchFamily="34" charset="-122"/>
                <a:cs typeface="Segoe UI" pitchFamily="34" charset="-120"/>
              </a:rPr>
              <a:t>　／ NỀN TẢNG</a:t>
            </a:r>
            <a:endParaRPr lang="en-US" sz="950" dirty="0"/>
          </a:p>
          <a:p>
            <a:pPr marL="0" indent="0" eaLnBrk="1" latinLnBrk="0" hangingPunct="1">
              <a:lnSpc>
                <a:spcPct val="115000"/>
              </a:lnSpc>
              <a:buNone/>
            </a:pPr>
            <a:r>
              <a:rPr lang="ja-JP" altLang="en-US" sz="1700" b="1" dirty="0">
                <a:solidFill>
                  <a:srgbClr val="331E0E"/>
                </a:solidFill>
                <a:latin typeface="Yu Mincho" pitchFamily="34" charset="0"/>
                <a:ea typeface="Yu Mincho" pitchFamily="34" charset="-122"/>
                <a:cs typeface="Yu Mincho" pitchFamily="34" charset="-120"/>
              </a:rPr>
              <a:t>商品データをこのサイトに取り込み、検索・レシピ・特売・カートで共通に使う</a:t>
            </a:r>
          </a:p>
          <a:p>
            <a:pPr marL="0" indent="0" eaLnBrk="1" latinLnBrk="0" hangingPunct="1">
              <a:lnSpc>
                <a:spcPct val="115000"/>
              </a:lnSpc>
              <a:buNone/>
            </a:pPr>
            <a:r>
              <a:rPr lang="en-US" sz="1000" dirty="0">
                <a:solidFill>
                  <a:srgbClr val="877258"/>
                </a:solidFill>
                <a:latin typeface="Segoe UI" pitchFamily="34" charset="0"/>
                <a:ea typeface="Segoe UI" pitchFamily="34" charset="-122"/>
                <a:cs typeface="Segoe UI" pitchFamily="34" charset="-120"/>
              </a:rPr>
              <a:t>Đưa dữ liệu sản phẩm về web chính, dùng chung cho tìm kiếm · công thức · khuyến mãi · giỏ hàng</a:t>
            </a:r>
            <a:endParaRPr lang="en-US" sz="950" dirty="0"/>
          </a:p>
        </p:txBody>
      </p:sp>
      <p:sp>
        <p:nvSpPr>
          <p:cNvPr id="24" name="Text 22"/>
          <p:cNvSpPr/>
          <p:nvPr/>
        </p:nvSpPr>
        <p:spPr>
          <a:xfrm>
            <a:off x="8351215" y="6473952"/>
            <a:ext cx="3291840" cy="228600"/>
          </a:xfrm>
          <a:prstGeom prst="rect">
            <a:avLst/>
          </a:prstGeom>
          <a:noFill/>
          <a:ln/>
        </p:spPr>
        <p:txBody>
          <a:bodyPr wrap="square" rtlCol="0" anchor="ctr"/>
          <a:lstStyle/>
          <a:p>
            <a:pPr marL="0" indent="0" algn="r" eaLnBrk="1" latinLnBrk="0" hangingPunct="1">
              <a:buNone/>
            </a:pPr>
            <a:r>
              <a:rPr lang="ja-JP" alt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marL="0" indent="0">
              <a:buNone/>
            </a:pPr>
            <a:r>
              <a:rPr lang="en-US" sz="1050" b="1" kern="0" spc="100" dirty="0">
                <a:solidFill>
                  <a:srgbClr val="C7273B"/>
                </a:solidFill>
                <a:latin typeface="Yu Gothic" pitchFamily="34" charset="0"/>
                <a:ea typeface="Yu Gothic" pitchFamily="34" charset="-122"/>
                <a:cs typeface="Yu Gothic" pitchFamily="34" charset="-120"/>
              </a:rPr>
              <a:t>機能① なんでも検索</a:t>
            </a:r>
            <a:r>
              <a:rPr lang="en-US" sz="1000" b="1" kern="0" spc="100" dirty="0">
                <a:solidFill>
                  <a:srgbClr val="877258"/>
                </a:solidFill>
                <a:latin typeface="Segoe UI" pitchFamily="34" charset="0"/>
                <a:ea typeface="Segoe UI" pitchFamily="34" charset="-122"/>
                <a:cs typeface="Segoe UI" pitchFamily="34" charset="-120"/>
              </a:rPr>
              <a:t>　／ TÍNH NĂNG ① · THANH TÌM KIẾM</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txBody>
          <a:bodyPr/>
          <a:lstStyle/>
          <a:p>
            <a:endParaRPr lang="en-US"/>
          </a:p>
        </p:txBody>
      </p:sp>
      <p:sp>
        <p:nvSpPr>
          <p:cNvPr id="4" name="Text 2"/>
          <p:cNvSpPr/>
          <p:nvPr/>
        </p:nvSpPr>
        <p:spPr>
          <a:xfrm>
            <a:off x="566928" y="713232"/>
            <a:ext cx="11057839" cy="502920"/>
          </a:xfrm>
          <a:prstGeom prst="rect">
            <a:avLst/>
          </a:prstGeom>
          <a:noFill/>
          <a:ln/>
        </p:spPr>
        <p:txBody>
          <a:bodyPr wrap="square" rtlCol="0" anchor="ctr"/>
          <a:lstStyle/>
          <a:p>
            <a:pPr marL="0" indent="0">
              <a:buNone/>
            </a:pPr>
            <a:r>
              <a:rPr lang="en-US" sz="2700" b="1" dirty="0">
                <a:solidFill>
                  <a:srgbClr val="331E0E"/>
                </a:solidFill>
                <a:latin typeface="Yu Mincho" pitchFamily="34" charset="0"/>
                <a:ea typeface="Yu Mincho" pitchFamily="34" charset="-122"/>
                <a:cs typeface="Yu Mincho" pitchFamily="34" charset="-120"/>
              </a:rPr>
              <a:t>サイト内のすべての情報から、もれなく結果を出す</a:t>
            </a:r>
          </a:p>
        </p:txBody>
      </p:sp>
      <p:sp>
        <p:nvSpPr>
          <p:cNvPr id="5" name="Text 3"/>
          <p:cNvSpPr/>
          <p:nvPr/>
        </p:nvSpPr>
        <p:spPr>
          <a:xfrm>
            <a:off x="566928" y="1225296"/>
            <a:ext cx="11057839" cy="274320"/>
          </a:xfrm>
          <a:prstGeom prst="rect">
            <a:avLst/>
          </a:prstGeom>
          <a:noFill/>
          <a:ln/>
        </p:spPr>
        <p:txBody>
          <a:bodyPr wrap="square" rtlCol="0" anchor="ctr"/>
          <a:lstStyle/>
          <a:p>
            <a:pPr marL="0" indent="0">
              <a:buNone/>
            </a:pPr>
            <a:r>
              <a:rPr lang="en-US" sz="1250" dirty="0" err="1">
                <a:solidFill>
                  <a:srgbClr val="877258"/>
                </a:solidFill>
                <a:latin typeface="Segoe UI" pitchFamily="34" charset="0"/>
                <a:ea typeface="Segoe UI" pitchFamily="34" charset="-122"/>
                <a:cs typeface="Segoe UI" pitchFamily="34" charset="-120"/>
              </a:rPr>
              <a:t>Trả</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ra</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kết</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quả</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đầy</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đủ</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theo</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toàn</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bộ</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thông</a:t>
            </a:r>
            <a:r>
              <a:rPr lang="en-US" sz="1250" dirty="0">
                <a:solidFill>
                  <a:srgbClr val="877258"/>
                </a:solidFill>
                <a:latin typeface="Segoe UI" pitchFamily="34" charset="0"/>
                <a:ea typeface="Segoe UI" pitchFamily="34" charset="-122"/>
                <a:cs typeface="Segoe UI" pitchFamily="34" charset="-120"/>
              </a:rPr>
              <a:t> tin website</a:t>
            </a:r>
          </a:p>
        </p:txBody>
      </p:sp>
      <p:sp>
        <p:nvSpPr>
          <p:cNvPr id="6" name="Text 4"/>
          <p:cNvSpPr/>
          <p:nvPr/>
        </p:nvSpPr>
        <p:spPr>
          <a:xfrm>
            <a:off x="566928" y="1627632"/>
            <a:ext cx="5806440" cy="2980944"/>
          </a:xfrm>
          <a:prstGeom prst="rect">
            <a:avLst/>
          </a:prstGeom>
          <a:noFill/>
          <a:ln/>
        </p:spPr>
        <p:txBody>
          <a:bodyPr wrap="square" rtlCol="0" anchor="t"/>
          <a:lstStyle/>
          <a:p>
            <a:pPr marL="209550" indent="-209550">
              <a:lnSpc>
                <a:spcPct val="120000"/>
              </a:lnSpc>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商品・レシピ・特売・記事・ブログ・店舗まで、2,159件を1つの索引に</a:t>
            </a:r>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Gom 2.159 mục: sản phẩm, công thức, khuyến mãi, bài viết, blog, cửa hàng.</a:t>
            </a:r>
          </a:p>
          <a:p>
            <a:pPr marL="209550" indent="-209550">
              <a:lnSpc>
                <a:spcPct val="120000"/>
              </a:lnSpc>
              <a:spcBef>
                <a:spcPts val="900"/>
              </a:spcBef>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結果は レシピ → 特売 → 商品 → 記事 → 店舗 の順に、件数つきでグループ表示</a:t>
            </a:r>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Kết quả chia nhóm theo thứ tự trên, mỗi nhóm có số lượng.</a:t>
            </a:r>
          </a:p>
          <a:p>
            <a:pPr marL="209550" indent="-209550">
              <a:lnSpc>
                <a:spcPct val="120000"/>
              </a:lnSpc>
              <a:spcBef>
                <a:spcPts val="900"/>
              </a:spcBef>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打っている途中から候補を出し、人気ワードや季節のおすすめも並べます</a:t>
            </a:r>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Vừa gõ đã gợi ý; có cả từ khoá phổ biến và gợi ý theo mùa.</a:t>
            </a:r>
          </a:p>
        </p:txBody>
      </p:sp>
      <p:sp>
        <p:nvSpPr>
          <p:cNvPr id="7" name="Shape 5"/>
          <p:cNvSpPr/>
          <p:nvPr/>
        </p:nvSpPr>
        <p:spPr>
          <a:xfrm>
            <a:off x="566928" y="4681728"/>
            <a:ext cx="5806440" cy="1143000"/>
          </a:xfrm>
          <a:prstGeom prst="rect">
            <a:avLst/>
          </a:prstGeom>
          <a:solidFill>
            <a:srgbClr val="FBF0F1"/>
          </a:solidFill>
          <a:ln w="12700">
            <a:solidFill>
              <a:srgbClr val="FBF0F1"/>
            </a:solidFill>
            <a:prstDash val="solid"/>
          </a:ln>
        </p:spPr>
        <p:txBody>
          <a:bodyPr/>
          <a:lstStyle/>
          <a:p>
            <a:endParaRPr lang="en-US"/>
          </a:p>
        </p:txBody>
      </p:sp>
      <p:sp>
        <p:nvSpPr>
          <p:cNvPr id="8" name="Shape 6"/>
          <p:cNvSpPr/>
          <p:nvPr/>
        </p:nvSpPr>
        <p:spPr>
          <a:xfrm>
            <a:off x="566928" y="4681728"/>
            <a:ext cx="41148" cy="1143000"/>
          </a:xfrm>
          <a:prstGeom prst="rect">
            <a:avLst/>
          </a:prstGeom>
          <a:solidFill>
            <a:srgbClr val="C7273B"/>
          </a:solidFill>
          <a:ln w="12700">
            <a:solidFill>
              <a:srgbClr val="C7273B"/>
            </a:solidFill>
            <a:prstDash val="solid"/>
          </a:ln>
        </p:spPr>
        <p:txBody>
          <a:bodyPr/>
          <a:lstStyle/>
          <a:p>
            <a:endParaRPr lang="en-US"/>
          </a:p>
        </p:txBody>
      </p:sp>
      <p:sp>
        <p:nvSpPr>
          <p:cNvPr id="9" name="Text 7"/>
          <p:cNvSpPr/>
          <p:nvPr/>
        </p:nvSpPr>
        <p:spPr>
          <a:xfrm>
            <a:off x="694944" y="4782312"/>
            <a:ext cx="658368" cy="457200"/>
          </a:xfrm>
          <a:prstGeom prst="rect">
            <a:avLst/>
          </a:prstGeom>
          <a:noFill/>
          <a:ln/>
        </p:spPr>
        <p:txBody>
          <a:bodyPr wrap="square" rtlCol="0" anchor="t"/>
          <a:lstStyle/>
          <a:p>
            <a:pPr marL="0" indent="0">
              <a:buNone/>
            </a:pPr>
            <a:r>
              <a:rPr lang="en-US" sz="950" b="1" dirty="0">
                <a:solidFill>
                  <a:srgbClr val="C7273B"/>
                </a:solidFill>
                <a:latin typeface="Yu Gothic" pitchFamily="34" charset="0"/>
                <a:ea typeface="Yu Gothic" pitchFamily="34" charset="-122"/>
                <a:cs typeface="Yu Gothic" pitchFamily="34" charset="-120"/>
              </a:rPr>
              <a:t>効果</a:t>
            </a:r>
            <a:endParaRPr lang="en-US" sz="950" dirty="0"/>
          </a:p>
          <a:p>
            <a:pPr marL="0" indent="0">
              <a:buNone/>
            </a:pPr>
            <a:r>
              <a:rPr lang="en-US" sz="800" b="1" dirty="0">
                <a:solidFill>
                  <a:srgbClr val="C7273B"/>
                </a:solidFill>
                <a:latin typeface="Segoe UI" pitchFamily="34" charset="0"/>
                <a:ea typeface="Segoe UI" pitchFamily="34" charset="-122"/>
                <a:cs typeface="Segoe UI" pitchFamily="34" charset="-120"/>
              </a:rPr>
              <a:t>LỢI ÍCH</a:t>
            </a:r>
            <a:endParaRPr lang="en-US" sz="950" dirty="0"/>
          </a:p>
        </p:txBody>
      </p:sp>
      <p:sp>
        <p:nvSpPr>
          <p:cNvPr id="10" name="Text 8"/>
          <p:cNvSpPr/>
          <p:nvPr/>
        </p:nvSpPr>
        <p:spPr>
          <a:xfrm>
            <a:off x="1408176" y="4773168"/>
            <a:ext cx="4837176" cy="960120"/>
          </a:xfrm>
          <a:prstGeom prst="rect">
            <a:avLst/>
          </a:prstGeom>
          <a:noFill/>
          <a:ln/>
        </p:spPr>
        <p:txBody>
          <a:bodyPr wrap="square" rtlCol="0" anchor="t"/>
          <a:lstStyle/>
          <a:p>
            <a:pPr marL="0" indent="0">
              <a:lnSpc>
                <a:spcPct val="120000"/>
              </a:lnSpc>
              <a:buNone/>
            </a:pPr>
            <a:r>
              <a:rPr lang="en-US" sz="1050" dirty="0">
                <a:solidFill>
                  <a:srgbClr val="2A1A0E"/>
                </a:solidFill>
                <a:latin typeface="Yu Gothic" pitchFamily="34" charset="0"/>
                <a:ea typeface="Yu Gothic" pitchFamily="34" charset="-122"/>
                <a:cs typeface="Yu Gothic" pitchFamily="34" charset="-120"/>
              </a:rPr>
              <a:t>ほしい情報がどこにあるか、ひと目で分かります。ページを行ったり来たりしなくて済みます。</a:t>
            </a:r>
          </a:p>
          <a:p>
            <a:pPr marL="0" indent="0">
              <a:lnSpc>
                <a:spcPct val="115000"/>
              </a:lnSpc>
              <a:buNone/>
            </a:pPr>
            <a:r>
              <a:rPr lang="en-US" sz="950" dirty="0">
                <a:solidFill>
                  <a:srgbClr val="877258"/>
                </a:solidFill>
                <a:latin typeface="Segoe UI" pitchFamily="34" charset="0"/>
                <a:ea typeface="Segoe UI" pitchFamily="34" charset="-122"/>
                <a:cs typeface="Segoe UI" pitchFamily="34" charset="-120"/>
              </a:rPr>
              <a:t>Khách nhìn một lần là biết thông tin nằm ở đâu, khỏi phải nhấp qua lại nhiều trang.</a:t>
            </a:r>
          </a:p>
        </p:txBody>
      </p:sp>
      <p:pic>
        <p:nvPicPr>
          <p:cNvPr id="11" name="Image 0" descr="C:\Users\minhh\AppData\Local\Temp\claude\c--Users-minhh-Documents-challenge\0b7be4ed-3567-4081-a022-ada0920f3982\scratchpad\slide-shots\01-home.png"/>
          <p:cNvPicPr>
            <a:picLocks noChangeAspect="1"/>
          </p:cNvPicPr>
          <p:nvPr/>
        </p:nvPicPr>
        <p:blipFill>
          <a:blip r:embed="rId3"/>
          <a:srcRect/>
          <a:stretch/>
        </p:blipFill>
        <p:spPr>
          <a:xfrm>
            <a:off x="6693407" y="1627632"/>
            <a:ext cx="4931359" cy="3691128"/>
          </a:xfrm>
          <a:prstGeom prst="rect">
            <a:avLst/>
          </a:prstGeom>
        </p:spPr>
      </p:pic>
      <p:sp>
        <p:nvSpPr>
          <p:cNvPr id="12" name="Text 9"/>
          <p:cNvSpPr/>
          <p:nvPr/>
        </p:nvSpPr>
        <p:spPr>
          <a:xfrm>
            <a:off x="6693406" y="5567172"/>
            <a:ext cx="4931359" cy="219456"/>
          </a:xfrm>
          <a:prstGeom prst="rect">
            <a:avLst/>
          </a:prstGeom>
          <a:noFill/>
          <a:ln/>
        </p:spPr>
        <p:txBody>
          <a:bodyPr wrap="square" rtlCol="0" anchor="ctr"/>
          <a:lstStyle/>
          <a:p>
            <a:pPr marL="0" indent="0" algn="ctr">
              <a:buNone/>
            </a:pPr>
            <a:r>
              <a:rPr lang="en-US" sz="850" dirty="0">
                <a:solidFill>
                  <a:srgbClr val="877258"/>
                </a:solidFill>
                <a:latin typeface="Segoe UI" pitchFamily="34" charset="0"/>
                <a:ea typeface="Segoe UI" pitchFamily="34" charset="-122"/>
                <a:cs typeface="Segoe UI" pitchFamily="34" charset="-120"/>
              </a:rPr>
              <a:t>トップページの検索窓 ／ Ô tìm kiếm trên trang chủ</a:t>
            </a:r>
            <a:endParaRPr lang="en-US" sz="850" dirty="0"/>
          </a:p>
        </p:txBody>
      </p:sp>
      <p:sp>
        <p:nvSpPr>
          <p:cNvPr id="13" name="Text 10"/>
          <p:cNvSpPr/>
          <p:nvPr/>
        </p:nvSpPr>
        <p:spPr>
          <a:xfrm>
            <a:off x="8351215" y="6473952"/>
            <a:ext cx="3291840" cy="228600"/>
          </a:xfrm>
          <a:prstGeom prst="rect">
            <a:avLst/>
          </a:prstGeom>
          <a:noFill/>
          <a:ln/>
        </p:spPr>
        <p:txBody>
          <a:bodyPr wrap="square" rtlCol="0" anchor="ctr"/>
          <a:lstStyle/>
          <a:p>
            <a:pPr marL="0" indent="0" algn="r">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marL="0" indent="0">
              <a:buNone/>
            </a:pPr>
            <a:r>
              <a:rPr lang="en-US" sz="1050" b="1" kern="0" spc="100" dirty="0">
                <a:solidFill>
                  <a:srgbClr val="C7273B"/>
                </a:solidFill>
                <a:latin typeface="Yu Gothic" pitchFamily="34" charset="0"/>
                <a:ea typeface="Yu Gothic" pitchFamily="34" charset="-122"/>
                <a:cs typeface="Yu Gothic" pitchFamily="34" charset="-120"/>
              </a:rPr>
              <a:t>機能① 検索：多言語</a:t>
            </a:r>
            <a:r>
              <a:rPr lang="en-US" sz="1000" b="1" kern="0" spc="100" dirty="0">
                <a:solidFill>
                  <a:srgbClr val="877258"/>
                </a:solidFill>
                <a:latin typeface="Segoe UI" pitchFamily="34" charset="0"/>
                <a:ea typeface="Segoe UI" pitchFamily="34" charset="-122"/>
                <a:cs typeface="Segoe UI" pitchFamily="34" charset="-120"/>
              </a:rPr>
              <a:t>　／ ① TÌM KIẾM · ĐA NGÔN NGỮ</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txBody>
          <a:bodyPr/>
          <a:lstStyle/>
          <a:p>
            <a:endParaRPr lang="en-US"/>
          </a:p>
        </p:txBody>
      </p:sp>
      <p:sp>
        <p:nvSpPr>
          <p:cNvPr id="4" name="Text 2"/>
          <p:cNvSpPr/>
          <p:nvPr/>
        </p:nvSpPr>
        <p:spPr>
          <a:xfrm>
            <a:off x="566928" y="713232"/>
            <a:ext cx="11057839" cy="502920"/>
          </a:xfrm>
          <a:prstGeom prst="rect">
            <a:avLst/>
          </a:prstGeom>
          <a:noFill/>
          <a:ln/>
        </p:spPr>
        <p:txBody>
          <a:bodyPr wrap="square" rtlCol="0" anchor="ctr"/>
          <a:lstStyle/>
          <a:p>
            <a:pPr marL="0" indent="0">
              <a:buNone/>
            </a:pPr>
            <a:r>
              <a:rPr lang="en-US" sz="2700" b="1" dirty="0">
                <a:solidFill>
                  <a:srgbClr val="331E0E"/>
                </a:solidFill>
                <a:latin typeface="Yu Mincho" pitchFamily="34" charset="0"/>
                <a:ea typeface="Yu Mincho" pitchFamily="34" charset="-122"/>
                <a:cs typeface="Yu Mincho" pitchFamily="34" charset="-120"/>
              </a:rPr>
              <a:t>多言語での検索に対応</a:t>
            </a:r>
          </a:p>
        </p:txBody>
      </p:sp>
      <p:sp>
        <p:nvSpPr>
          <p:cNvPr id="5" name="Text 3"/>
          <p:cNvSpPr/>
          <p:nvPr/>
        </p:nvSpPr>
        <p:spPr>
          <a:xfrm>
            <a:off x="566928" y="1225296"/>
            <a:ext cx="11057839" cy="274320"/>
          </a:xfrm>
          <a:prstGeom prst="rect">
            <a:avLst/>
          </a:prstGeom>
          <a:noFill/>
          <a:ln/>
        </p:spPr>
        <p:txBody>
          <a:bodyPr wrap="square" rtlCol="0" anchor="ctr"/>
          <a:lstStyle/>
          <a:p>
            <a:pPr marL="0" indent="0">
              <a:buNone/>
            </a:pPr>
            <a:r>
              <a:rPr lang="en-US" sz="1250" dirty="0" err="1">
                <a:solidFill>
                  <a:srgbClr val="877258"/>
                </a:solidFill>
                <a:latin typeface="Segoe UI" pitchFamily="34" charset="0"/>
                <a:ea typeface="Segoe UI" pitchFamily="34" charset="-122"/>
                <a:cs typeface="Segoe UI" pitchFamily="34" charset="-120"/>
              </a:rPr>
              <a:t>Hỗ</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trợ</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tìm</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kiếm</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đa</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ngôn</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ngữ</a:t>
            </a:r>
            <a:endParaRPr lang="en-US" sz="1250" dirty="0">
              <a:solidFill>
                <a:srgbClr val="877258"/>
              </a:solidFill>
              <a:latin typeface="Segoe UI" pitchFamily="34" charset="0"/>
              <a:ea typeface="Segoe UI" pitchFamily="34" charset="-122"/>
              <a:cs typeface="Segoe UI" pitchFamily="34" charset="-120"/>
            </a:endParaRPr>
          </a:p>
        </p:txBody>
      </p:sp>
      <p:sp>
        <p:nvSpPr>
          <p:cNvPr id="6" name="Text 4"/>
          <p:cNvSpPr/>
          <p:nvPr/>
        </p:nvSpPr>
        <p:spPr>
          <a:xfrm>
            <a:off x="566928" y="1627632"/>
            <a:ext cx="5806440" cy="2980944"/>
          </a:xfrm>
          <a:prstGeom prst="rect">
            <a:avLst/>
          </a:prstGeom>
          <a:noFill/>
          <a:ln/>
        </p:spPr>
        <p:txBody>
          <a:bodyPr wrap="square" rtlCol="0" anchor="t"/>
          <a:lstStyle/>
          <a:p>
            <a:pPr marL="209550" indent="-209550">
              <a:lnSpc>
                <a:spcPct val="120000"/>
              </a:lnSpc>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ベトナム語・英語・中国語・韓国語・タイ語で打っても結果が出ます（cà ri ／ curry ／ 咖喱 ／ 카레 → すべて「カレー」）</a:t>
            </a:r>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Gõ tiếng Việt, Anh, Trung, Hàn, Thái đều ra đúng kết quả.</a:t>
            </a:r>
          </a:p>
          <a:p>
            <a:pPr marL="209550" indent="-209550">
              <a:lnSpc>
                <a:spcPct val="120000"/>
              </a:lnSpc>
              <a:spcBef>
                <a:spcPts val="900"/>
              </a:spcBef>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ベトナム語は声調記号なしでも、大文字小文字が違っても当たります</a:t>
            </a:r>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“cari”, “ca ri”, “CÀ RI” — gõ kiểu nào cũng ra đúng thứ khách cần.</a:t>
            </a:r>
          </a:p>
          <a:p>
            <a:pPr marL="209550" indent="-209550">
              <a:lnSpc>
                <a:spcPct val="120000"/>
              </a:lnSpc>
              <a:spcBef>
                <a:spcPts val="900"/>
              </a:spcBef>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どう読み替えたかを、画面に必ず出します</a:t>
            </a:r>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Hiện dòng「「cari」を「カレー」として検索しました」— không tự ý đổi câu của khách.</a:t>
            </a:r>
          </a:p>
        </p:txBody>
      </p:sp>
      <p:sp>
        <p:nvSpPr>
          <p:cNvPr id="7" name="Shape 5"/>
          <p:cNvSpPr/>
          <p:nvPr/>
        </p:nvSpPr>
        <p:spPr>
          <a:xfrm>
            <a:off x="566928" y="4681728"/>
            <a:ext cx="5806440" cy="960120"/>
          </a:xfrm>
          <a:prstGeom prst="rect">
            <a:avLst/>
          </a:prstGeom>
          <a:solidFill>
            <a:srgbClr val="FBF0F1"/>
          </a:solidFill>
          <a:ln w="12700">
            <a:solidFill>
              <a:srgbClr val="FBF0F1"/>
            </a:solidFill>
            <a:prstDash val="solid"/>
          </a:ln>
        </p:spPr>
        <p:txBody>
          <a:bodyPr/>
          <a:lstStyle/>
          <a:p>
            <a:endParaRPr lang="en-US"/>
          </a:p>
        </p:txBody>
      </p:sp>
      <p:sp>
        <p:nvSpPr>
          <p:cNvPr id="8" name="Shape 6"/>
          <p:cNvSpPr/>
          <p:nvPr/>
        </p:nvSpPr>
        <p:spPr>
          <a:xfrm>
            <a:off x="566928" y="4681728"/>
            <a:ext cx="41148" cy="960120"/>
          </a:xfrm>
          <a:prstGeom prst="rect">
            <a:avLst/>
          </a:prstGeom>
          <a:solidFill>
            <a:srgbClr val="C7273B"/>
          </a:solidFill>
          <a:ln w="12700">
            <a:solidFill>
              <a:srgbClr val="C7273B"/>
            </a:solidFill>
            <a:prstDash val="solid"/>
          </a:ln>
        </p:spPr>
        <p:txBody>
          <a:bodyPr/>
          <a:lstStyle/>
          <a:p>
            <a:endParaRPr lang="en-US"/>
          </a:p>
        </p:txBody>
      </p:sp>
      <p:sp>
        <p:nvSpPr>
          <p:cNvPr id="9" name="Text 7"/>
          <p:cNvSpPr/>
          <p:nvPr/>
        </p:nvSpPr>
        <p:spPr>
          <a:xfrm>
            <a:off x="694944" y="4782312"/>
            <a:ext cx="658368" cy="457200"/>
          </a:xfrm>
          <a:prstGeom prst="rect">
            <a:avLst/>
          </a:prstGeom>
          <a:noFill/>
          <a:ln/>
        </p:spPr>
        <p:txBody>
          <a:bodyPr wrap="square" rtlCol="0" anchor="t"/>
          <a:lstStyle/>
          <a:p>
            <a:pPr marL="0" indent="0">
              <a:buNone/>
            </a:pPr>
            <a:r>
              <a:rPr lang="en-US" sz="950" b="1" dirty="0">
                <a:solidFill>
                  <a:srgbClr val="C7273B"/>
                </a:solidFill>
                <a:latin typeface="Yu Gothic" pitchFamily="34" charset="0"/>
                <a:ea typeface="Yu Gothic" pitchFamily="34" charset="-122"/>
                <a:cs typeface="Yu Gothic" pitchFamily="34" charset="-120"/>
              </a:rPr>
              <a:t>効果</a:t>
            </a:r>
            <a:endParaRPr lang="en-US" sz="950" dirty="0"/>
          </a:p>
          <a:p>
            <a:pPr marL="0" indent="0">
              <a:buNone/>
            </a:pPr>
            <a:r>
              <a:rPr lang="en-US" sz="800" b="1" dirty="0">
                <a:solidFill>
                  <a:srgbClr val="C7273B"/>
                </a:solidFill>
                <a:latin typeface="Segoe UI" pitchFamily="34" charset="0"/>
                <a:ea typeface="Segoe UI" pitchFamily="34" charset="-122"/>
                <a:cs typeface="Segoe UI" pitchFamily="34" charset="-120"/>
              </a:rPr>
              <a:t>LỢI ÍCH</a:t>
            </a:r>
            <a:endParaRPr lang="en-US" sz="950" dirty="0"/>
          </a:p>
        </p:txBody>
      </p:sp>
      <p:sp>
        <p:nvSpPr>
          <p:cNvPr id="10" name="Text 8"/>
          <p:cNvSpPr/>
          <p:nvPr/>
        </p:nvSpPr>
        <p:spPr>
          <a:xfrm>
            <a:off x="1408176" y="4773168"/>
            <a:ext cx="4837176" cy="777240"/>
          </a:xfrm>
          <a:prstGeom prst="rect">
            <a:avLst/>
          </a:prstGeom>
          <a:noFill/>
          <a:ln/>
        </p:spPr>
        <p:txBody>
          <a:bodyPr wrap="square" rtlCol="0" anchor="t"/>
          <a:lstStyle/>
          <a:p>
            <a:pPr marL="0" indent="0">
              <a:lnSpc>
                <a:spcPct val="120000"/>
              </a:lnSpc>
              <a:buNone/>
            </a:pPr>
            <a:r>
              <a:rPr lang="en-US" sz="1050" dirty="0">
                <a:solidFill>
                  <a:srgbClr val="2A1A0E"/>
                </a:solidFill>
                <a:latin typeface="Yu Gothic" pitchFamily="34" charset="0"/>
                <a:ea typeface="Yu Gothic" pitchFamily="34" charset="-122"/>
                <a:cs typeface="Yu Gothic" pitchFamily="34" charset="-120"/>
              </a:rPr>
              <a:t>日本語が苦手なお客様も、訪日のお客様も、母語のまま使えます。</a:t>
            </a:r>
          </a:p>
          <a:p>
            <a:pPr marL="0" indent="0">
              <a:lnSpc>
                <a:spcPct val="115000"/>
              </a:lnSpc>
              <a:buNone/>
            </a:pPr>
            <a:r>
              <a:rPr lang="en-US" sz="950" dirty="0">
                <a:solidFill>
                  <a:srgbClr val="877258"/>
                </a:solidFill>
                <a:latin typeface="Segoe UI" pitchFamily="34" charset="0"/>
                <a:ea typeface="Segoe UI" pitchFamily="34" charset="-122"/>
                <a:cs typeface="Segoe UI" pitchFamily="34" charset="-120"/>
              </a:rPr>
              <a:t>Người nước ngoài sống ở Nhật hay khách du lịch đều dùng được bằng tiếng của mình.</a:t>
            </a:r>
          </a:p>
        </p:txBody>
      </p:sp>
      <p:sp>
        <p:nvSpPr>
          <p:cNvPr id="12" name="Text 9"/>
          <p:cNvSpPr/>
          <p:nvPr/>
        </p:nvSpPr>
        <p:spPr>
          <a:xfrm>
            <a:off x="6693408" y="5737860"/>
            <a:ext cx="4931359" cy="219456"/>
          </a:xfrm>
          <a:prstGeom prst="rect">
            <a:avLst/>
          </a:prstGeom>
          <a:noFill/>
          <a:ln/>
        </p:spPr>
        <p:txBody>
          <a:bodyPr wrap="square" rtlCol="0" anchor="ctr"/>
          <a:lstStyle/>
          <a:p>
            <a:pPr marL="0" indent="0" algn="ctr">
              <a:buNone/>
            </a:pPr>
            <a:r>
              <a:rPr lang="en-US" sz="850" dirty="0">
                <a:solidFill>
                  <a:srgbClr val="877258"/>
                </a:solidFill>
                <a:latin typeface="Segoe UI" pitchFamily="34" charset="0"/>
                <a:ea typeface="Segoe UI" pitchFamily="34" charset="-122"/>
                <a:cs typeface="Segoe UI" pitchFamily="34" charset="-120"/>
              </a:rPr>
              <a:t>「cari」で検索した画面 ／ Kết quả khi gõ “cari”</a:t>
            </a:r>
            <a:endParaRPr lang="en-US" sz="850" dirty="0"/>
          </a:p>
        </p:txBody>
      </p:sp>
      <p:sp>
        <p:nvSpPr>
          <p:cNvPr id="13" name="Text 10"/>
          <p:cNvSpPr/>
          <p:nvPr/>
        </p:nvSpPr>
        <p:spPr>
          <a:xfrm>
            <a:off x="8351215" y="6473952"/>
            <a:ext cx="3291840" cy="228600"/>
          </a:xfrm>
          <a:prstGeom prst="rect">
            <a:avLst/>
          </a:prstGeom>
          <a:noFill/>
          <a:ln/>
        </p:spPr>
        <p:txBody>
          <a:bodyPr wrap="square" rtlCol="0" anchor="ctr"/>
          <a:lstStyle/>
          <a:p>
            <a:pPr marL="0" indent="0" algn="r">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pic>
        <p:nvPicPr>
          <p:cNvPr id="17" name="Picture 16">
            <a:extLst>
              <a:ext uri="{FF2B5EF4-FFF2-40B4-BE49-F238E27FC236}">
                <a16:creationId xmlns:a16="http://schemas.microsoft.com/office/drawing/2014/main" id="{CC46D8A2-1564-286C-28C2-83216B903A55}"/>
              </a:ext>
            </a:extLst>
          </p:cNvPr>
          <p:cNvPicPr>
            <a:picLocks noChangeAspect="1"/>
          </p:cNvPicPr>
          <p:nvPr/>
        </p:nvPicPr>
        <p:blipFill>
          <a:blip r:embed="rId3"/>
          <a:stretch>
            <a:fillRect/>
          </a:stretch>
        </p:blipFill>
        <p:spPr>
          <a:xfrm>
            <a:off x="6439625" y="1327598"/>
            <a:ext cx="5185142" cy="401535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marL="0" indent="0">
              <a:buNone/>
            </a:pPr>
            <a:r>
              <a:rPr lang="en-US" sz="1050" b="1" kern="0" spc="100" dirty="0">
                <a:solidFill>
                  <a:srgbClr val="C7273B"/>
                </a:solidFill>
                <a:latin typeface="Yu Gothic" pitchFamily="34" charset="0"/>
                <a:ea typeface="Yu Gothic" pitchFamily="34" charset="-122"/>
                <a:cs typeface="Yu Gothic" pitchFamily="34" charset="-120"/>
              </a:rPr>
              <a:t>機能① 検索：予算</a:t>
            </a:r>
            <a:r>
              <a:rPr lang="en-US" sz="1000" b="1" kern="0" spc="100" dirty="0">
                <a:solidFill>
                  <a:srgbClr val="877258"/>
                </a:solidFill>
                <a:latin typeface="Segoe UI" pitchFamily="34" charset="0"/>
                <a:ea typeface="Segoe UI" pitchFamily="34" charset="-122"/>
                <a:cs typeface="Segoe UI" pitchFamily="34" charset="-120"/>
              </a:rPr>
              <a:t>　／ ① TÌM KIẾM · THEO NGÂN SÁCH</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txBody>
          <a:bodyPr/>
          <a:lstStyle/>
          <a:p>
            <a:endParaRPr lang="en-US"/>
          </a:p>
        </p:txBody>
      </p:sp>
      <p:sp>
        <p:nvSpPr>
          <p:cNvPr id="4" name="Text 2"/>
          <p:cNvSpPr/>
          <p:nvPr/>
        </p:nvSpPr>
        <p:spPr>
          <a:xfrm>
            <a:off x="566928" y="713232"/>
            <a:ext cx="11057839" cy="502920"/>
          </a:xfrm>
          <a:prstGeom prst="rect">
            <a:avLst/>
          </a:prstGeom>
          <a:noFill/>
          <a:ln/>
        </p:spPr>
        <p:txBody>
          <a:bodyPr wrap="square" rtlCol="0" anchor="ctr"/>
          <a:lstStyle/>
          <a:p>
            <a:pPr marL="0" indent="0">
              <a:buNone/>
            </a:pPr>
            <a:r>
              <a:rPr lang="en-US" sz="2700" b="1" dirty="0">
                <a:solidFill>
                  <a:srgbClr val="331E0E"/>
                </a:solidFill>
                <a:latin typeface="Yu Mincho" pitchFamily="34" charset="0"/>
                <a:ea typeface="Yu Mincho" pitchFamily="34" charset="-122"/>
                <a:cs typeface="Yu Mincho" pitchFamily="34" charset="-120"/>
              </a:rPr>
              <a:t>ご要望と予算から料理を探す</a:t>
            </a:r>
          </a:p>
        </p:txBody>
      </p:sp>
      <p:sp>
        <p:nvSpPr>
          <p:cNvPr id="5" name="Text 3"/>
          <p:cNvSpPr/>
          <p:nvPr/>
        </p:nvSpPr>
        <p:spPr>
          <a:xfrm>
            <a:off x="566928" y="1225296"/>
            <a:ext cx="11057839" cy="274320"/>
          </a:xfrm>
          <a:prstGeom prst="rect">
            <a:avLst/>
          </a:prstGeom>
          <a:noFill/>
          <a:ln/>
        </p:spPr>
        <p:txBody>
          <a:bodyPr wrap="square" rtlCol="0" anchor="ctr"/>
          <a:lstStyle/>
          <a:p>
            <a:pPr marL="0" indent="0">
              <a:buNone/>
            </a:pPr>
            <a:r>
              <a:rPr lang="en-US" sz="1250" dirty="0">
                <a:solidFill>
                  <a:srgbClr val="877258"/>
                </a:solidFill>
                <a:latin typeface="Segoe UI" pitchFamily="34" charset="0"/>
                <a:ea typeface="Segoe UI" pitchFamily="34" charset="-122"/>
                <a:cs typeface="Segoe UI" pitchFamily="34" charset="-120"/>
              </a:rPr>
              <a:t>Tìm </a:t>
            </a:r>
            <a:r>
              <a:rPr lang="en-US" sz="1250" dirty="0" err="1">
                <a:solidFill>
                  <a:srgbClr val="877258"/>
                </a:solidFill>
                <a:latin typeface="Segoe UI" pitchFamily="34" charset="0"/>
                <a:ea typeface="Segoe UI" pitchFamily="34" charset="-122"/>
                <a:cs typeface="Segoe UI" pitchFamily="34" charset="-120"/>
              </a:rPr>
              <a:t>món</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theo</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yêu</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cầu</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ngân</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sách</a:t>
            </a:r>
            <a:endParaRPr lang="en-US" sz="1250" dirty="0">
              <a:solidFill>
                <a:srgbClr val="877258"/>
              </a:solidFill>
              <a:latin typeface="Segoe UI" pitchFamily="34" charset="0"/>
              <a:ea typeface="Segoe UI" pitchFamily="34" charset="-122"/>
              <a:cs typeface="Segoe UI" pitchFamily="34" charset="-120"/>
            </a:endParaRPr>
          </a:p>
        </p:txBody>
      </p:sp>
      <p:sp>
        <p:nvSpPr>
          <p:cNvPr id="6" name="Text 4"/>
          <p:cNvSpPr/>
          <p:nvPr/>
        </p:nvSpPr>
        <p:spPr>
          <a:xfrm>
            <a:off x="566928" y="1627632"/>
            <a:ext cx="5806440" cy="2980944"/>
          </a:xfrm>
          <a:prstGeom prst="rect">
            <a:avLst/>
          </a:prstGeom>
          <a:noFill/>
          <a:ln/>
        </p:spPr>
        <p:txBody>
          <a:bodyPr wrap="square" rtlCol="0" anchor="t"/>
          <a:lstStyle/>
          <a:p>
            <a:pPr marL="209550" indent="-209550">
              <a:lnSpc>
                <a:spcPct val="120000"/>
              </a:lnSpc>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「2000円で何が作れる？」と、ふつうの文で聞けます</a:t>
            </a:r>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Hỏi bằng câu bình thường, không cần gõ đúng cú pháp.</a:t>
            </a:r>
          </a:p>
          <a:p>
            <a:pPr marL="209550" indent="-209550">
              <a:lnSpc>
                <a:spcPct val="120000"/>
              </a:lnSpc>
              <a:spcBef>
                <a:spcPts val="900"/>
              </a:spcBef>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「以内 ／ 前後 ／ 以上」を読み分けて、材料費の概算で絞ります</a:t>
            </a:r>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Phân biệt “trong khoảng / khoảng chừng / từ trở lên”, lọc theo tiền nguyên liệu ước tính.</a:t>
            </a:r>
            <a:endParaRPr lang="en-US" sz="1150" dirty="0"/>
          </a:p>
          <a:p>
            <a:pPr marL="209550" indent="-209550">
              <a:lnSpc>
                <a:spcPct val="120000"/>
              </a:lnSpc>
              <a:spcBef>
                <a:spcPts val="900"/>
              </a:spcBef>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無いときは無いと言います：1,000円以内は0件、いちばん安くて1,001円</a:t>
            </a:r>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Không có món nào thì nói thẳng, kèm mức rẻ nhất thực tế.</a:t>
            </a:r>
            <a:endParaRPr lang="en-US" sz="1150" dirty="0"/>
          </a:p>
          <a:p>
            <a:pPr marL="209550" indent="-209550">
              <a:lnSpc>
                <a:spcPct val="120000"/>
              </a:lnSpc>
              <a:spcBef>
                <a:spcPts val="900"/>
              </a:spcBef>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2,000円以内なら64件、1,500円以内なら20件が出ます</a:t>
            </a:r>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Trong 2.000 yên có 64 món; trong 1.500 yên có 20 món.</a:t>
            </a:r>
            <a:endParaRPr lang="en-US" sz="1150" dirty="0"/>
          </a:p>
        </p:txBody>
      </p:sp>
      <p:sp>
        <p:nvSpPr>
          <p:cNvPr id="7" name="Shape 5"/>
          <p:cNvSpPr/>
          <p:nvPr/>
        </p:nvSpPr>
        <p:spPr>
          <a:xfrm>
            <a:off x="566928" y="4681728"/>
            <a:ext cx="5367772" cy="960120"/>
          </a:xfrm>
          <a:prstGeom prst="rect">
            <a:avLst/>
          </a:prstGeom>
          <a:solidFill>
            <a:srgbClr val="FBF0F1"/>
          </a:solidFill>
          <a:ln w="12700">
            <a:solidFill>
              <a:srgbClr val="FBF0F1"/>
            </a:solidFill>
            <a:prstDash val="solid"/>
          </a:ln>
        </p:spPr>
        <p:txBody>
          <a:bodyPr/>
          <a:lstStyle/>
          <a:p>
            <a:endParaRPr lang="en-US"/>
          </a:p>
        </p:txBody>
      </p:sp>
      <p:sp>
        <p:nvSpPr>
          <p:cNvPr id="8" name="Shape 6"/>
          <p:cNvSpPr/>
          <p:nvPr/>
        </p:nvSpPr>
        <p:spPr>
          <a:xfrm>
            <a:off x="566928" y="4681728"/>
            <a:ext cx="41148" cy="960120"/>
          </a:xfrm>
          <a:prstGeom prst="rect">
            <a:avLst/>
          </a:prstGeom>
          <a:solidFill>
            <a:srgbClr val="C7273B"/>
          </a:solidFill>
          <a:ln w="12700">
            <a:solidFill>
              <a:srgbClr val="C7273B"/>
            </a:solidFill>
            <a:prstDash val="solid"/>
          </a:ln>
        </p:spPr>
        <p:txBody>
          <a:bodyPr/>
          <a:lstStyle/>
          <a:p>
            <a:endParaRPr lang="en-US"/>
          </a:p>
        </p:txBody>
      </p:sp>
      <p:sp>
        <p:nvSpPr>
          <p:cNvPr id="9" name="Text 7"/>
          <p:cNvSpPr/>
          <p:nvPr/>
        </p:nvSpPr>
        <p:spPr>
          <a:xfrm>
            <a:off x="694944" y="4782312"/>
            <a:ext cx="658368" cy="457200"/>
          </a:xfrm>
          <a:prstGeom prst="rect">
            <a:avLst/>
          </a:prstGeom>
          <a:noFill/>
          <a:ln/>
        </p:spPr>
        <p:txBody>
          <a:bodyPr wrap="square" rtlCol="0" anchor="t"/>
          <a:lstStyle/>
          <a:p>
            <a:pPr marL="0" indent="0">
              <a:buNone/>
            </a:pPr>
            <a:r>
              <a:rPr lang="en-US" sz="950" b="1" dirty="0">
                <a:solidFill>
                  <a:srgbClr val="C7273B"/>
                </a:solidFill>
                <a:latin typeface="Yu Gothic" pitchFamily="34" charset="0"/>
                <a:ea typeface="Yu Gothic" pitchFamily="34" charset="-122"/>
                <a:cs typeface="Yu Gothic" pitchFamily="34" charset="-120"/>
              </a:rPr>
              <a:t>効果</a:t>
            </a:r>
            <a:endParaRPr lang="en-US" sz="950" dirty="0"/>
          </a:p>
          <a:p>
            <a:pPr marL="0" indent="0">
              <a:buNone/>
            </a:pPr>
            <a:r>
              <a:rPr lang="en-US" sz="800" b="1" dirty="0">
                <a:solidFill>
                  <a:srgbClr val="C7273B"/>
                </a:solidFill>
                <a:latin typeface="Segoe UI" pitchFamily="34" charset="0"/>
                <a:ea typeface="Segoe UI" pitchFamily="34" charset="-122"/>
                <a:cs typeface="Segoe UI" pitchFamily="34" charset="-120"/>
              </a:rPr>
              <a:t>LỢI ÍCH</a:t>
            </a:r>
            <a:endParaRPr lang="en-US" sz="950" dirty="0"/>
          </a:p>
        </p:txBody>
      </p:sp>
      <p:sp>
        <p:nvSpPr>
          <p:cNvPr id="10" name="Text 8"/>
          <p:cNvSpPr/>
          <p:nvPr/>
        </p:nvSpPr>
        <p:spPr>
          <a:xfrm>
            <a:off x="1408176" y="4773168"/>
            <a:ext cx="4564380" cy="777240"/>
          </a:xfrm>
          <a:prstGeom prst="rect">
            <a:avLst/>
          </a:prstGeom>
          <a:noFill/>
          <a:ln/>
        </p:spPr>
        <p:txBody>
          <a:bodyPr wrap="square" rtlCol="0" anchor="t"/>
          <a:lstStyle/>
          <a:p>
            <a:pPr marL="0" indent="0">
              <a:lnSpc>
                <a:spcPct val="120000"/>
              </a:lnSpc>
              <a:buNone/>
            </a:pPr>
            <a:r>
              <a:rPr lang="en-US" sz="1050" dirty="0">
                <a:solidFill>
                  <a:srgbClr val="2A1A0E"/>
                </a:solidFill>
                <a:latin typeface="Yu Gothic" pitchFamily="34" charset="0"/>
                <a:ea typeface="Yu Gothic" pitchFamily="34" charset="-122"/>
                <a:cs typeface="Yu Gothic" pitchFamily="34" charset="-120"/>
              </a:rPr>
              <a:t>「今日は何を作ろう」と迷っているお客様に、予算に合う献立をその場で出せます。</a:t>
            </a:r>
          </a:p>
          <a:p>
            <a:pPr marL="0" indent="0">
              <a:lnSpc>
                <a:spcPct val="115000"/>
              </a:lnSpc>
              <a:buNone/>
            </a:pPr>
            <a:r>
              <a:rPr lang="en-US" sz="950" dirty="0">
                <a:solidFill>
                  <a:srgbClr val="877258"/>
                </a:solidFill>
                <a:latin typeface="Segoe UI" pitchFamily="34" charset="0"/>
                <a:ea typeface="Segoe UI" pitchFamily="34" charset="-122"/>
                <a:cs typeface="Segoe UI" pitchFamily="34" charset="-120"/>
              </a:rPr>
              <a:t>Khách đang phân vân hôm nay ăn gì, nấu gì thì có ngay gợi ý — đúng tầm tiền định chi.</a:t>
            </a:r>
          </a:p>
        </p:txBody>
      </p:sp>
      <p:sp>
        <p:nvSpPr>
          <p:cNvPr id="12" name="Text 9"/>
          <p:cNvSpPr/>
          <p:nvPr/>
        </p:nvSpPr>
        <p:spPr>
          <a:xfrm>
            <a:off x="6693408" y="5907024"/>
            <a:ext cx="4931359" cy="219456"/>
          </a:xfrm>
          <a:prstGeom prst="rect">
            <a:avLst/>
          </a:prstGeom>
          <a:noFill/>
          <a:ln/>
        </p:spPr>
        <p:txBody>
          <a:bodyPr wrap="square" rtlCol="0" anchor="ctr"/>
          <a:lstStyle/>
          <a:p>
            <a:pPr marL="0" indent="0" algn="ctr">
              <a:buNone/>
            </a:pPr>
            <a:r>
              <a:rPr lang="en-US" sz="850" dirty="0">
                <a:solidFill>
                  <a:srgbClr val="877258"/>
                </a:solidFill>
                <a:latin typeface="Segoe UI" pitchFamily="34" charset="0"/>
                <a:ea typeface="Segoe UI" pitchFamily="34" charset="-122"/>
                <a:cs typeface="Segoe UI" pitchFamily="34" charset="-120"/>
              </a:rPr>
              <a:t>「2000円で何が作れる？」で検索した画面 ／ Kết quả khi hỏi “2000 yên nấu được gì?”</a:t>
            </a:r>
            <a:endParaRPr lang="en-US" sz="850" dirty="0"/>
          </a:p>
        </p:txBody>
      </p:sp>
      <p:sp>
        <p:nvSpPr>
          <p:cNvPr id="13" name="Text 10"/>
          <p:cNvSpPr/>
          <p:nvPr/>
        </p:nvSpPr>
        <p:spPr>
          <a:xfrm>
            <a:off x="8351215" y="6473952"/>
            <a:ext cx="3291840" cy="228600"/>
          </a:xfrm>
          <a:prstGeom prst="rect">
            <a:avLst/>
          </a:prstGeom>
          <a:noFill/>
          <a:ln/>
        </p:spPr>
        <p:txBody>
          <a:bodyPr wrap="square" rtlCol="0" anchor="ctr"/>
          <a:lstStyle/>
          <a:p>
            <a:pPr marL="0" indent="0" algn="r">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pic>
        <p:nvPicPr>
          <p:cNvPr id="15" name="Picture 14">
            <a:extLst>
              <a:ext uri="{FF2B5EF4-FFF2-40B4-BE49-F238E27FC236}">
                <a16:creationId xmlns:a16="http://schemas.microsoft.com/office/drawing/2014/main" id="{58038E83-25AA-A195-35BB-31A420396E72}"/>
              </a:ext>
            </a:extLst>
          </p:cNvPr>
          <p:cNvPicPr>
            <a:picLocks noChangeAspect="1"/>
          </p:cNvPicPr>
          <p:nvPr/>
        </p:nvPicPr>
        <p:blipFill>
          <a:blip r:embed="rId3"/>
          <a:stretch>
            <a:fillRect/>
          </a:stretch>
        </p:blipFill>
        <p:spPr>
          <a:xfrm>
            <a:off x="6298590" y="1508760"/>
            <a:ext cx="5367772" cy="405993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marL="0" indent="0">
              <a:buNone/>
            </a:pPr>
            <a:r>
              <a:rPr lang="en-US" sz="1050" b="1" kern="0" spc="100" dirty="0">
                <a:solidFill>
                  <a:srgbClr val="C7273B"/>
                </a:solidFill>
                <a:latin typeface="Yu Gothic" pitchFamily="34" charset="0"/>
                <a:ea typeface="Yu Gothic" pitchFamily="34" charset="-122"/>
                <a:cs typeface="Yu Gothic" pitchFamily="34" charset="-120"/>
              </a:rPr>
              <a:t>機能① 検索：取扱店舗</a:t>
            </a:r>
            <a:r>
              <a:rPr lang="en-US" sz="1000" b="1" kern="0" spc="100" dirty="0">
                <a:solidFill>
                  <a:srgbClr val="877258"/>
                </a:solidFill>
                <a:latin typeface="Segoe UI" pitchFamily="34" charset="0"/>
                <a:ea typeface="Segoe UI" pitchFamily="34" charset="-122"/>
                <a:cs typeface="Segoe UI" pitchFamily="34" charset="-120"/>
              </a:rPr>
              <a:t>　／ ① TÌM KIẾM · CỬA HÀNG CÓ BÁN</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txBody>
          <a:bodyPr/>
          <a:lstStyle/>
          <a:p>
            <a:endParaRPr lang="en-US"/>
          </a:p>
        </p:txBody>
      </p:sp>
      <p:sp>
        <p:nvSpPr>
          <p:cNvPr id="4" name="Text 2"/>
          <p:cNvSpPr/>
          <p:nvPr/>
        </p:nvSpPr>
        <p:spPr>
          <a:xfrm>
            <a:off x="566928" y="713232"/>
            <a:ext cx="11057839" cy="502920"/>
          </a:xfrm>
          <a:prstGeom prst="rect">
            <a:avLst/>
          </a:prstGeom>
          <a:noFill/>
          <a:ln/>
        </p:spPr>
        <p:txBody>
          <a:bodyPr wrap="square" rtlCol="0" anchor="ctr"/>
          <a:lstStyle/>
          <a:p>
            <a:pPr marL="0" indent="0">
              <a:buNone/>
            </a:pPr>
            <a:r>
              <a:rPr lang="en-US" sz="2700" b="1" dirty="0">
                <a:solidFill>
                  <a:srgbClr val="331E0E"/>
                </a:solidFill>
                <a:latin typeface="Yu Mincho" pitchFamily="34" charset="0"/>
                <a:ea typeface="Yu Mincho" pitchFamily="34" charset="-122"/>
                <a:cs typeface="Yu Mincho" pitchFamily="34" charset="-120"/>
              </a:rPr>
              <a:t>近くの取扱店舗を一覧で表示</a:t>
            </a:r>
          </a:p>
        </p:txBody>
      </p:sp>
      <p:sp>
        <p:nvSpPr>
          <p:cNvPr id="5" name="Text 3"/>
          <p:cNvSpPr/>
          <p:nvPr/>
        </p:nvSpPr>
        <p:spPr>
          <a:xfrm>
            <a:off x="566927" y="1289304"/>
            <a:ext cx="11057839" cy="274320"/>
          </a:xfrm>
          <a:prstGeom prst="rect">
            <a:avLst/>
          </a:prstGeom>
          <a:noFill/>
          <a:ln/>
        </p:spPr>
        <p:txBody>
          <a:bodyPr wrap="square" rtlCol="0" anchor="ctr"/>
          <a:lstStyle/>
          <a:p>
            <a:pPr marL="0" indent="0">
              <a:buNone/>
            </a:pPr>
            <a:r>
              <a:rPr lang="en-US" sz="1250" dirty="0">
                <a:solidFill>
                  <a:srgbClr val="877258"/>
                </a:solidFill>
                <a:latin typeface="Segoe UI" pitchFamily="34" charset="0"/>
                <a:ea typeface="Segoe UI" pitchFamily="34" charset="-122"/>
                <a:cs typeface="Segoe UI" pitchFamily="34" charset="-120"/>
              </a:rPr>
              <a:t>Hiển </a:t>
            </a:r>
            <a:r>
              <a:rPr lang="en-US" sz="1250" dirty="0" err="1">
                <a:solidFill>
                  <a:srgbClr val="877258"/>
                </a:solidFill>
                <a:latin typeface="Segoe UI" pitchFamily="34" charset="0"/>
                <a:ea typeface="Segoe UI" pitchFamily="34" charset="-122"/>
                <a:cs typeface="Segoe UI" pitchFamily="34" charset="-120"/>
              </a:rPr>
              <a:t>thị</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danh</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sách</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cửa</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hàng</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có</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bán</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gần</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bạn</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nhất</a:t>
            </a:r>
            <a:endParaRPr lang="en-US" sz="1250" dirty="0">
              <a:solidFill>
                <a:srgbClr val="877258"/>
              </a:solidFill>
              <a:latin typeface="Segoe UI" pitchFamily="34" charset="0"/>
              <a:ea typeface="Segoe UI" pitchFamily="34" charset="-122"/>
              <a:cs typeface="Segoe UI" pitchFamily="34" charset="-120"/>
            </a:endParaRPr>
          </a:p>
        </p:txBody>
      </p:sp>
      <p:sp>
        <p:nvSpPr>
          <p:cNvPr id="6" name="Text 4"/>
          <p:cNvSpPr/>
          <p:nvPr/>
        </p:nvSpPr>
        <p:spPr>
          <a:xfrm>
            <a:off x="566927" y="1840634"/>
            <a:ext cx="5806440" cy="2564623"/>
          </a:xfrm>
          <a:prstGeom prst="rect">
            <a:avLst/>
          </a:prstGeom>
          <a:noFill/>
          <a:ln/>
        </p:spPr>
        <p:txBody>
          <a:bodyPr wrap="square" rtlCol="0" anchor="t"/>
          <a:lstStyle/>
          <a:p>
            <a:pPr marL="209550" indent="-209550">
              <a:lnSpc>
                <a:spcPct val="120000"/>
              </a:lnSpc>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検索結果の下に「近くの取扱店舗」を、在庫と営業時間つきで並べます</a:t>
            </a:r>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Ngay dưới kết quả tìm kiếm có mục cửa hàng gần, kèm tình trạng hàng và giờ mở cửa.</a:t>
            </a:r>
          </a:p>
          <a:p>
            <a:pPr marL="209550" indent="-209550">
              <a:lnSpc>
                <a:spcPct val="120000"/>
              </a:lnSpc>
              <a:spcBef>
                <a:spcPts val="900"/>
              </a:spcBef>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位置情報を許可すると、店舗までの距離も出ます</a:t>
            </a:r>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Nếu khách cho phép lấy vị trí thì hiện thêm khoảng cách tới từng cửa hàng.</a:t>
            </a:r>
          </a:p>
        </p:txBody>
      </p:sp>
      <p:sp>
        <p:nvSpPr>
          <p:cNvPr id="7" name="Shape 5"/>
          <p:cNvSpPr/>
          <p:nvPr/>
        </p:nvSpPr>
        <p:spPr>
          <a:xfrm>
            <a:off x="566928" y="4681728"/>
            <a:ext cx="5806440" cy="960120"/>
          </a:xfrm>
          <a:prstGeom prst="rect">
            <a:avLst/>
          </a:prstGeom>
          <a:solidFill>
            <a:srgbClr val="FBF0F1"/>
          </a:solidFill>
          <a:ln w="12700">
            <a:solidFill>
              <a:srgbClr val="FBF0F1"/>
            </a:solidFill>
            <a:prstDash val="solid"/>
          </a:ln>
        </p:spPr>
        <p:txBody>
          <a:bodyPr/>
          <a:lstStyle/>
          <a:p>
            <a:endParaRPr lang="en-US"/>
          </a:p>
        </p:txBody>
      </p:sp>
      <p:sp>
        <p:nvSpPr>
          <p:cNvPr id="8" name="Shape 6"/>
          <p:cNvSpPr/>
          <p:nvPr/>
        </p:nvSpPr>
        <p:spPr>
          <a:xfrm>
            <a:off x="566928" y="4681728"/>
            <a:ext cx="41148" cy="960120"/>
          </a:xfrm>
          <a:prstGeom prst="rect">
            <a:avLst/>
          </a:prstGeom>
          <a:solidFill>
            <a:srgbClr val="C7273B"/>
          </a:solidFill>
          <a:ln w="12700">
            <a:solidFill>
              <a:srgbClr val="C7273B"/>
            </a:solidFill>
            <a:prstDash val="solid"/>
          </a:ln>
        </p:spPr>
        <p:txBody>
          <a:bodyPr/>
          <a:lstStyle/>
          <a:p>
            <a:endParaRPr lang="en-US"/>
          </a:p>
        </p:txBody>
      </p:sp>
      <p:sp>
        <p:nvSpPr>
          <p:cNvPr id="9" name="Text 7"/>
          <p:cNvSpPr/>
          <p:nvPr/>
        </p:nvSpPr>
        <p:spPr>
          <a:xfrm>
            <a:off x="694944" y="4782312"/>
            <a:ext cx="658368" cy="457200"/>
          </a:xfrm>
          <a:prstGeom prst="rect">
            <a:avLst/>
          </a:prstGeom>
          <a:noFill/>
          <a:ln/>
        </p:spPr>
        <p:txBody>
          <a:bodyPr wrap="square" rtlCol="0" anchor="t"/>
          <a:lstStyle/>
          <a:p>
            <a:pPr marL="0" indent="0">
              <a:buNone/>
            </a:pPr>
            <a:r>
              <a:rPr lang="en-US" sz="950" b="1" dirty="0">
                <a:solidFill>
                  <a:srgbClr val="C7273B"/>
                </a:solidFill>
                <a:latin typeface="Yu Gothic" pitchFamily="34" charset="0"/>
                <a:ea typeface="Yu Gothic" pitchFamily="34" charset="-122"/>
                <a:cs typeface="Yu Gothic" pitchFamily="34" charset="-120"/>
              </a:rPr>
              <a:t>効果</a:t>
            </a:r>
            <a:endParaRPr lang="en-US" sz="950" dirty="0"/>
          </a:p>
          <a:p>
            <a:pPr marL="0" indent="0">
              <a:buNone/>
            </a:pPr>
            <a:r>
              <a:rPr lang="en-US" sz="800" b="1" dirty="0">
                <a:solidFill>
                  <a:srgbClr val="C7273B"/>
                </a:solidFill>
                <a:latin typeface="Segoe UI" pitchFamily="34" charset="0"/>
                <a:ea typeface="Segoe UI" pitchFamily="34" charset="-122"/>
                <a:cs typeface="Segoe UI" pitchFamily="34" charset="-120"/>
              </a:rPr>
              <a:t>LỢI ÍCH</a:t>
            </a:r>
            <a:endParaRPr lang="en-US" sz="950" dirty="0"/>
          </a:p>
        </p:txBody>
      </p:sp>
      <p:sp>
        <p:nvSpPr>
          <p:cNvPr id="10" name="Text 8"/>
          <p:cNvSpPr/>
          <p:nvPr/>
        </p:nvSpPr>
        <p:spPr>
          <a:xfrm>
            <a:off x="1408176" y="4773168"/>
            <a:ext cx="4837176" cy="777240"/>
          </a:xfrm>
          <a:prstGeom prst="rect">
            <a:avLst/>
          </a:prstGeom>
          <a:noFill/>
          <a:ln/>
        </p:spPr>
        <p:txBody>
          <a:bodyPr wrap="square" rtlCol="0" anchor="t"/>
          <a:lstStyle/>
          <a:p>
            <a:pPr marL="0" indent="0">
              <a:lnSpc>
                <a:spcPct val="120000"/>
              </a:lnSpc>
              <a:buNone/>
            </a:pPr>
            <a:r>
              <a:rPr lang="en-US" sz="1050" dirty="0">
                <a:solidFill>
                  <a:srgbClr val="2A1A0E"/>
                </a:solidFill>
                <a:latin typeface="Yu Gothic" pitchFamily="34" charset="0"/>
                <a:ea typeface="Yu Gothic" pitchFamily="34" charset="-122"/>
                <a:cs typeface="Yu Gothic" pitchFamily="34" charset="-120"/>
              </a:rPr>
              <a:t>行く前に分かるので、「行ったのに無かった」が減ります。</a:t>
            </a:r>
          </a:p>
          <a:p>
            <a:pPr marL="0" indent="0">
              <a:lnSpc>
                <a:spcPct val="115000"/>
              </a:lnSpc>
              <a:buNone/>
            </a:pPr>
            <a:r>
              <a:rPr lang="en-US" sz="950" dirty="0">
                <a:solidFill>
                  <a:srgbClr val="877258"/>
                </a:solidFill>
                <a:latin typeface="Segoe UI" pitchFamily="34" charset="0"/>
                <a:ea typeface="Segoe UI" pitchFamily="34" charset="-122"/>
                <a:cs typeface="Segoe UI" pitchFamily="34" charset="-120"/>
              </a:rPr>
              <a:t>Biết trước cửa hàng nào có bán và còn hàng, khách đỡ đi uổng công.</a:t>
            </a:r>
            <a:endParaRPr lang="en-US" sz="1050" dirty="0"/>
          </a:p>
        </p:txBody>
      </p:sp>
      <p:pic>
        <p:nvPicPr>
          <p:cNvPr id="11" name="Image 0" descr="C:\Users\minhh\AppData\Local\Temp\claude\c--Users-minhh-Documents-challenge\0b7be4ed-3567-4081-a022-ada0920f3982\scratchpad\slide-shots\04-search-shops.png"/>
          <p:cNvPicPr>
            <a:picLocks noChangeAspect="1"/>
          </p:cNvPicPr>
          <p:nvPr/>
        </p:nvPicPr>
        <p:blipFill>
          <a:blip r:embed="rId3"/>
          <a:srcRect/>
          <a:stretch/>
        </p:blipFill>
        <p:spPr>
          <a:xfrm>
            <a:off x="6711696" y="1971446"/>
            <a:ext cx="4928616" cy="2695651"/>
          </a:xfrm>
          <a:prstGeom prst="rect">
            <a:avLst/>
          </a:prstGeom>
        </p:spPr>
      </p:pic>
      <p:sp>
        <p:nvSpPr>
          <p:cNvPr id="12" name="Text 9"/>
          <p:cNvSpPr/>
          <p:nvPr/>
        </p:nvSpPr>
        <p:spPr>
          <a:xfrm>
            <a:off x="6693408" y="4795114"/>
            <a:ext cx="4931359" cy="219456"/>
          </a:xfrm>
          <a:prstGeom prst="rect">
            <a:avLst/>
          </a:prstGeom>
          <a:noFill/>
          <a:ln/>
        </p:spPr>
        <p:txBody>
          <a:bodyPr wrap="square" rtlCol="0" anchor="ctr"/>
          <a:lstStyle/>
          <a:p>
            <a:pPr marL="0" indent="0" algn="ctr">
              <a:buNone/>
            </a:pPr>
            <a:r>
              <a:rPr lang="en-US" sz="850" dirty="0">
                <a:solidFill>
                  <a:srgbClr val="877258"/>
                </a:solidFill>
                <a:latin typeface="Segoe UI" pitchFamily="34" charset="0"/>
                <a:ea typeface="Segoe UI" pitchFamily="34" charset="-122"/>
                <a:cs typeface="Segoe UI" pitchFamily="34" charset="-120"/>
              </a:rPr>
              <a:t>在庫つきの取扱店舗一覧 ／ Danh sách cửa hàng có bán kèm tồn kho</a:t>
            </a:r>
            <a:endParaRPr lang="en-US" sz="850" dirty="0"/>
          </a:p>
        </p:txBody>
      </p:sp>
      <p:sp>
        <p:nvSpPr>
          <p:cNvPr id="13" name="Text 10"/>
          <p:cNvSpPr/>
          <p:nvPr/>
        </p:nvSpPr>
        <p:spPr>
          <a:xfrm>
            <a:off x="8351215" y="6473952"/>
            <a:ext cx="3291840" cy="228600"/>
          </a:xfrm>
          <a:prstGeom prst="rect">
            <a:avLst/>
          </a:prstGeom>
          <a:noFill/>
          <a:ln/>
        </p:spPr>
        <p:txBody>
          <a:bodyPr wrap="square" rtlCol="0" anchor="ctr"/>
          <a:lstStyle/>
          <a:p>
            <a:pPr marL="0" indent="0" algn="r">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marL="0" indent="0">
              <a:buNone/>
            </a:pPr>
            <a:r>
              <a:rPr lang="en-US" sz="1050" b="1" kern="0" spc="100" dirty="0">
                <a:solidFill>
                  <a:srgbClr val="C7273B"/>
                </a:solidFill>
                <a:latin typeface="Yu Gothic" pitchFamily="34" charset="0"/>
                <a:ea typeface="Yu Gothic" pitchFamily="34" charset="-122"/>
                <a:cs typeface="Yu Gothic" pitchFamily="34" charset="-120"/>
              </a:rPr>
              <a:t>機能② AIチャットボット</a:t>
            </a:r>
            <a:r>
              <a:rPr lang="en-US" sz="1000" b="1" kern="0" spc="100" dirty="0">
                <a:solidFill>
                  <a:srgbClr val="877258"/>
                </a:solidFill>
                <a:latin typeface="Segoe UI" pitchFamily="34" charset="0"/>
                <a:ea typeface="Segoe UI" pitchFamily="34" charset="-122"/>
                <a:cs typeface="Segoe UI" pitchFamily="34" charset="-120"/>
              </a:rPr>
              <a:t>　／ TÍNH NĂNG ② · TRỢ LÝ AI</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txBody>
          <a:bodyPr/>
          <a:lstStyle/>
          <a:p>
            <a:endParaRPr lang="en-US"/>
          </a:p>
        </p:txBody>
      </p:sp>
      <p:sp>
        <p:nvSpPr>
          <p:cNvPr id="4" name="Text 2"/>
          <p:cNvSpPr/>
          <p:nvPr/>
        </p:nvSpPr>
        <p:spPr>
          <a:xfrm>
            <a:off x="566928" y="713232"/>
            <a:ext cx="11057839" cy="502920"/>
          </a:xfrm>
          <a:prstGeom prst="rect">
            <a:avLst/>
          </a:prstGeom>
          <a:noFill/>
          <a:ln/>
        </p:spPr>
        <p:txBody>
          <a:bodyPr wrap="square" rtlCol="0" anchor="ctr"/>
          <a:lstStyle/>
          <a:p>
            <a:pPr marL="0" indent="0">
              <a:buNone/>
            </a:pPr>
            <a:r>
              <a:rPr lang="en-US" sz="2700" b="1" dirty="0">
                <a:solidFill>
                  <a:srgbClr val="331E0E"/>
                </a:solidFill>
                <a:latin typeface="Yu Mincho" pitchFamily="34" charset="0"/>
                <a:ea typeface="Yu Mincho" pitchFamily="34" charset="-122"/>
                <a:cs typeface="Yu Mincho" pitchFamily="34" charset="-120"/>
              </a:rPr>
              <a:t>サイトについての疑問に、AIが素早くお答えします</a:t>
            </a:r>
          </a:p>
        </p:txBody>
      </p:sp>
      <p:sp>
        <p:nvSpPr>
          <p:cNvPr id="5" name="Text 3"/>
          <p:cNvSpPr/>
          <p:nvPr/>
        </p:nvSpPr>
        <p:spPr>
          <a:xfrm>
            <a:off x="566928" y="1225296"/>
            <a:ext cx="11057839" cy="274320"/>
          </a:xfrm>
          <a:prstGeom prst="rect">
            <a:avLst/>
          </a:prstGeom>
          <a:noFill/>
          <a:ln/>
        </p:spPr>
        <p:txBody>
          <a:bodyPr wrap="square" rtlCol="0" anchor="ctr"/>
          <a:lstStyle/>
          <a:p>
            <a:pPr marL="0" indent="0">
              <a:buNone/>
            </a:pPr>
            <a:r>
              <a:rPr lang="en-US" sz="1250" dirty="0">
                <a:solidFill>
                  <a:srgbClr val="877258"/>
                </a:solidFill>
                <a:latin typeface="Segoe UI" pitchFamily="34" charset="0"/>
                <a:ea typeface="Segoe UI" pitchFamily="34" charset="-122"/>
                <a:cs typeface="Segoe UI" pitchFamily="34" charset="-120"/>
              </a:rPr>
              <a:t>AI </a:t>
            </a:r>
            <a:r>
              <a:rPr lang="en-US" sz="1250" dirty="0" err="1">
                <a:solidFill>
                  <a:srgbClr val="877258"/>
                </a:solidFill>
                <a:latin typeface="Segoe UI" pitchFamily="34" charset="0"/>
                <a:ea typeface="Segoe UI" pitchFamily="34" charset="-122"/>
                <a:cs typeface="Segoe UI" pitchFamily="34" charset="-120"/>
              </a:rPr>
              <a:t>hỗ</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trợ</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trả</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lời</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nhanh</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các</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thắc</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mắc</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của</a:t>
            </a:r>
            <a:r>
              <a:rPr lang="en-US" sz="1250" dirty="0">
                <a:solidFill>
                  <a:srgbClr val="877258"/>
                </a:solidFill>
                <a:latin typeface="Segoe UI" pitchFamily="34" charset="0"/>
                <a:ea typeface="Segoe UI" pitchFamily="34" charset="-122"/>
                <a:cs typeface="Segoe UI" pitchFamily="34" charset="-120"/>
              </a:rPr>
              <a:t> KH </a:t>
            </a:r>
            <a:r>
              <a:rPr lang="en-US" sz="1250" dirty="0" err="1">
                <a:solidFill>
                  <a:srgbClr val="877258"/>
                </a:solidFill>
                <a:latin typeface="Segoe UI" pitchFamily="34" charset="0"/>
                <a:ea typeface="Segoe UI" pitchFamily="34" charset="-122"/>
                <a:cs typeface="Segoe UI" pitchFamily="34" charset="-120"/>
              </a:rPr>
              <a:t>với</a:t>
            </a:r>
            <a:r>
              <a:rPr lang="en-US" sz="1250" dirty="0">
                <a:solidFill>
                  <a:srgbClr val="877258"/>
                </a:solidFill>
                <a:latin typeface="Segoe UI" pitchFamily="34" charset="0"/>
                <a:ea typeface="Segoe UI" pitchFamily="34" charset="-122"/>
                <a:cs typeface="Segoe UI" pitchFamily="34" charset="-120"/>
              </a:rPr>
              <a:t> website</a:t>
            </a:r>
          </a:p>
        </p:txBody>
      </p:sp>
      <p:sp>
        <p:nvSpPr>
          <p:cNvPr id="6" name="Text 4"/>
          <p:cNvSpPr/>
          <p:nvPr/>
        </p:nvSpPr>
        <p:spPr>
          <a:xfrm>
            <a:off x="566928" y="1627632"/>
            <a:ext cx="5806440" cy="2980944"/>
          </a:xfrm>
          <a:prstGeom prst="rect">
            <a:avLst/>
          </a:prstGeom>
          <a:noFill/>
          <a:ln/>
        </p:spPr>
        <p:txBody>
          <a:bodyPr wrap="square" rtlCol="0" anchor="t"/>
          <a:lstStyle/>
          <a:p>
            <a:pPr marL="209550" indent="-209550">
              <a:lnSpc>
                <a:spcPct val="120000"/>
              </a:lnSpc>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質問の候補をあらかじめ用意しています</a:t>
            </a:r>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Có sẵn gợi ý câu </a:t>
            </a:r>
            <a:r>
              <a:rPr lang="en-US" sz="950" dirty="0" err="1">
                <a:solidFill>
                  <a:srgbClr val="877258"/>
                </a:solidFill>
                <a:latin typeface="Segoe UI" pitchFamily="34" charset="0"/>
                <a:ea typeface="Segoe UI" pitchFamily="34" charset="-122"/>
                <a:cs typeface="Segoe UI" pitchFamily="34" charset="-120"/>
              </a:rPr>
              <a:t>hỏi</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cho</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khách</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hàng</a:t>
            </a:r>
            <a:r>
              <a:rPr lang="en-US" sz="950" dirty="0">
                <a:solidFill>
                  <a:srgbClr val="877258"/>
                </a:solidFill>
                <a:latin typeface="Segoe UI" pitchFamily="34" charset="0"/>
                <a:ea typeface="Segoe UI" pitchFamily="34" charset="-122"/>
                <a:cs typeface="Segoe UI" pitchFamily="34" charset="-120"/>
              </a:rPr>
              <a:t>.</a:t>
            </a:r>
          </a:p>
          <a:p>
            <a:pPr marL="209550" indent="-209550">
              <a:lnSpc>
                <a:spcPct val="120000"/>
              </a:lnSpc>
              <a:spcBef>
                <a:spcPts val="900"/>
              </a:spcBef>
              <a:buFont typeface="Yu Gothic" pitchFamily="49" charset="-128"/>
              <a:buChar char="■"/>
            </a:pPr>
            <a:r>
              <a:rPr lang="en-US" sz="1150" b="1" dirty="0" err="1">
                <a:solidFill>
                  <a:srgbClr val="2A1A0E"/>
                </a:solidFill>
                <a:latin typeface="Yu Gothic" pitchFamily="34" charset="0"/>
                <a:ea typeface="Yu Gothic" pitchFamily="34" charset="-122"/>
                <a:cs typeface="Yu Gothic" pitchFamily="34" charset="-120"/>
              </a:rPr>
              <a:t>要点だけを短くまとめ、出典もあわせて答えます</a:t>
            </a:r>
          </a:p>
          <a:p>
            <a:pPr marL="209550" indent="0">
              <a:lnSpc>
                <a:spcPct val="115000"/>
              </a:lnSpc>
              <a:buNone/>
            </a:pPr>
            <a:r>
              <a:rPr lang="en-US" sz="950" dirty="0" err="1">
                <a:solidFill>
                  <a:srgbClr val="877258"/>
                </a:solidFill>
                <a:latin typeface="Segoe UI" pitchFamily="34" charset="0"/>
                <a:ea typeface="Segoe UI" pitchFamily="34" charset="-122"/>
                <a:cs typeface="Segoe UI" pitchFamily="34" charset="-120"/>
              </a:rPr>
              <a:t>Trả lời ngắn gọn đủ ý, đúng trọng tâm, kèm nguồn trích dẫn.</a:t>
            </a:r>
          </a:p>
          <a:p>
            <a:pPr marL="209550" indent="-209550">
              <a:lnSpc>
                <a:spcPct val="120000"/>
              </a:lnSpc>
              <a:spcBef>
                <a:spcPts val="900"/>
              </a:spcBef>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多言語に対応し、お客様が使った言語のまま答えます</a:t>
            </a:r>
          </a:p>
          <a:p>
            <a:pPr marL="209550" indent="0">
              <a:lnSpc>
                <a:spcPct val="115000"/>
              </a:lnSpc>
              <a:buNone/>
            </a:pPr>
            <a:r>
              <a:rPr lang="en-US" sz="950" dirty="0" err="1">
                <a:solidFill>
                  <a:srgbClr val="877258"/>
                </a:solidFill>
                <a:latin typeface="Segoe UI" pitchFamily="34" charset="0"/>
                <a:ea typeface="Segoe UI" pitchFamily="34" charset="-122"/>
                <a:cs typeface="Segoe UI" pitchFamily="34" charset="-120"/>
              </a:rPr>
              <a:t>Hỗ trợ trả lời đa ngôn ngữ theo ngôn ngữ khách hàng hỏi.</a:t>
            </a:r>
          </a:p>
        </p:txBody>
      </p:sp>
      <p:sp>
        <p:nvSpPr>
          <p:cNvPr id="7" name="Shape 5"/>
          <p:cNvSpPr/>
          <p:nvPr/>
        </p:nvSpPr>
        <p:spPr>
          <a:xfrm>
            <a:off x="566928" y="4681728"/>
            <a:ext cx="5806440" cy="960120"/>
          </a:xfrm>
          <a:prstGeom prst="rect">
            <a:avLst/>
          </a:prstGeom>
          <a:solidFill>
            <a:srgbClr val="FBF0F1"/>
          </a:solidFill>
          <a:ln w="12700">
            <a:solidFill>
              <a:srgbClr val="FBF0F1"/>
            </a:solidFill>
            <a:prstDash val="solid"/>
          </a:ln>
        </p:spPr>
        <p:txBody>
          <a:bodyPr/>
          <a:lstStyle/>
          <a:p>
            <a:endParaRPr lang="en-US"/>
          </a:p>
        </p:txBody>
      </p:sp>
      <p:sp>
        <p:nvSpPr>
          <p:cNvPr id="8" name="Shape 6"/>
          <p:cNvSpPr/>
          <p:nvPr/>
        </p:nvSpPr>
        <p:spPr>
          <a:xfrm>
            <a:off x="566928" y="4681728"/>
            <a:ext cx="41148" cy="960120"/>
          </a:xfrm>
          <a:prstGeom prst="rect">
            <a:avLst/>
          </a:prstGeom>
          <a:solidFill>
            <a:srgbClr val="C7273B"/>
          </a:solidFill>
          <a:ln w="12700">
            <a:solidFill>
              <a:srgbClr val="C7273B"/>
            </a:solidFill>
            <a:prstDash val="solid"/>
          </a:ln>
        </p:spPr>
        <p:txBody>
          <a:bodyPr/>
          <a:lstStyle/>
          <a:p>
            <a:endParaRPr lang="en-US"/>
          </a:p>
        </p:txBody>
      </p:sp>
      <p:sp>
        <p:nvSpPr>
          <p:cNvPr id="9" name="Text 7"/>
          <p:cNvSpPr/>
          <p:nvPr/>
        </p:nvSpPr>
        <p:spPr>
          <a:xfrm>
            <a:off x="694944" y="4782312"/>
            <a:ext cx="658368" cy="457200"/>
          </a:xfrm>
          <a:prstGeom prst="rect">
            <a:avLst/>
          </a:prstGeom>
          <a:noFill/>
          <a:ln/>
        </p:spPr>
        <p:txBody>
          <a:bodyPr wrap="square" rtlCol="0" anchor="t"/>
          <a:lstStyle/>
          <a:p>
            <a:pPr marL="0" indent="0">
              <a:buNone/>
            </a:pPr>
            <a:r>
              <a:rPr lang="en-US" sz="950" b="1" dirty="0">
                <a:solidFill>
                  <a:srgbClr val="C7273B"/>
                </a:solidFill>
                <a:latin typeface="Yu Gothic" pitchFamily="34" charset="0"/>
                <a:ea typeface="Yu Gothic" pitchFamily="34" charset="-122"/>
                <a:cs typeface="Yu Gothic" pitchFamily="34" charset="-120"/>
              </a:rPr>
              <a:t>効果</a:t>
            </a:r>
            <a:endParaRPr lang="en-US" sz="950" dirty="0"/>
          </a:p>
          <a:p>
            <a:pPr marL="0" indent="0">
              <a:buNone/>
            </a:pPr>
            <a:r>
              <a:rPr lang="en-US" sz="800" b="1" dirty="0">
                <a:solidFill>
                  <a:srgbClr val="C7273B"/>
                </a:solidFill>
                <a:latin typeface="Segoe UI" pitchFamily="34" charset="0"/>
                <a:ea typeface="Segoe UI" pitchFamily="34" charset="-122"/>
                <a:cs typeface="Segoe UI" pitchFamily="34" charset="-120"/>
              </a:rPr>
              <a:t>LỢI ÍCH</a:t>
            </a:r>
            <a:endParaRPr lang="en-US" sz="950" dirty="0"/>
          </a:p>
        </p:txBody>
      </p:sp>
      <p:sp>
        <p:nvSpPr>
          <p:cNvPr id="10" name="Text 8"/>
          <p:cNvSpPr/>
          <p:nvPr/>
        </p:nvSpPr>
        <p:spPr>
          <a:xfrm>
            <a:off x="1408176" y="4773168"/>
            <a:ext cx="4837176" cy="777240"/>
          </a:xfrm>
          <a:prstGeom prst="rect">
            <a:avLst/>
          </a:prstGeom>
          <a:noFill/>
          <a:ln/>
        </p:spPr>
        <p:txBody>
          <a:bodyPr wrap="square" rtlCol="0" anchor="t"/>
          <a:lstStyle/>
          <a:p>
            <a:pPr marL="0" indent="0">
              <a:lnSpc>
                <a:spcPct val="120000"/>
              </a:lnSpc>
              <a:buNone/>
            </a:pPr>
            <a:r>
              <a:rPr lang="en-US" sz="1050" dirty="0">
                <a:solidFill>
                  <a:srgbClr val="2A1A0E"/>
                </a:solidFill>
                <a:latin typeface="Yu Gothic" pitchFamily="34" charset="0"/>
                <a:ea typeface="Yu Gothic" pitchFamily="34" charset="-122"/>
                <a:cs typeface="Yu Gothic" pitchFamily="34" charset="-120"/>
              </a:rPr>
              <a:t>サイト上でのお客様対応を、ここで充実させられます。</a:t>
            </a:r>
          </a:p>
          <a:p>
            <a:pPr marL="0" indent="0">
              <a:lnSpc>
                <a:spcPct val="115000"/>
              </a:lnSpc>
              <a:buNone/>
            </a:pPr>
            <a:r>
              <a:rPr lang="en-US" sz="950" dirty="0">
                <a:solidFill>
                  <a:srgbClr val="877258"/>
                </a:solidFill>
                <a:latin typeface="Segoe UI" pitchFamily="34" charset="0"/>
                <a:ea typeface="Segoe UI" pitchFamily="34" charset="-122"/>
                <a:cs typeface="Segoe UI" pitchFamily="34" charset="-120"/>
              </a:rPr>
              <a:t>Hoàn </a:t>
            </a:r>
            <a:r>
              <a:rPr lang="en-US" sz="950" dirty="0" err="1">
                <a:solidFill>
                  <a:srgbClr val="877258"/>
                </a:solidFill>
                <a:latin typeface="Segoe UI" pitchFamily="34" charset="0"/>
                <a:ea typeface="Segoe UI" pitchFamily="34" charset="-122"/>
                <a:cs typeface="Segoe UI" pitchFamily="34" charset="-120"/>
              </a:rPr>
              <a:t>thiện</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việc</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chăm</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sóc</a:t>
            </a:r>
            <a:r>
              <a:rPr lang="en-US" sz="950" dirty="0">
                <a:solidFill>
                  <a:srgbClr val="877258"/>
                </a:solidFill>
                <a:latin typeface="Segoe UI" pitchFamily="34" charset="0"/>
                <a:ea typeface="Segoe UI" pitchFamily="34" charset="-122"/>
                <a:cs typeface="Segoe UI" pitchFamily="34" charset="-120"/>
              </a:rPr>
              <a:t> KH ở website</a:t>
            </a:r>
          </a:p>
        </p:txBody>
      </p:sp>
      <p:pic>
        <p:nvPicPr>
          <p:cNvPr id="11" name="Image 0" descr="C:\Users\minhh\AppData\Local\Temp\claude\c--Users-minhh-Documents-challenge\0b7be4ed-3567-4081-a022-ada0920f3982\scratchpad\slide-shots\16-chatbot-ja.png"/>
          <p:cNvPicPr>
            <a:picLocks noChangeAspect="1"/>
          </p:cNvPicPr>
          <p:nvPr/>
        </p:nvPicPr>
        <p:blipFill>
          <a:blip r:embed="rId3"/>
          <a:srcRect/>
          <a:stretch/>
        </p:blipFill>
        <p:spPr>
          <a:xfrm>
            <a:off x="6693408" y="1664208"/>
            <a:ext cx="2374240" cy="4023360"/>
          </a:xfrm>
          <a:prstGeom prst="rect">
            <a:avLst/>
          </a:prstGeom>
        </p:spPr>
      </p:pic>
      <p:sp>
        <p:nvSpPr>
          <p:cNvPr id="12" name="Text 9"/>
          <p:cNvSpPr/>
          <p:nvPr/>
        </p:nvSpPr>
        <p:spPr>
          <a:xfrm>
            <a:off x="6693408" y="5724144"/>
            <a:ext cx="2374240" cy="219456"/>
          </a:xfrm>
          <a:prstGeom prst="rect">
            <a:avLst/>
          </a:prstGeom>
          <a:noFill/>
          <a:ln/>
        </p:spPr>
        <p:txBody>
          <a:bodyPr wrap="square" rtlCol="0" anchor="ctr"/>
          <a:lstStyle/>
          <a:p>
            <a:pPr marL="0" indent="0" algn="ctr">
              <a:buNone/>
            </a:pPr>
            <a:r>
              <a:rPr lang="en-US" sz="850" dirty="0">
                <a:solidFill>
                  <a:srgbClr val="877258"/>
                </a:solidFill>
                <a:latin typeface="Segoe UI" pitchFamily="34" charset="0"/>
                <a:ea typeface="Segoe UI" pitchFamily="34" charset="-122"/>
                <a:cs typeface="Segoe UI" pitchFamily="34" charset="-120"/>
              </a:rPr>
              <a:t>特売の期限を尋ねる ／ Hỏi hạn KM</a:t>
            </a:r>
            <a:endParaRPr lang="en-US" sz="850" dirty="0"/>
          </a:p>
        </p:txBody>
      </p:sp>
      <p:pic>
        <p:nvPicPr>
          <p:cNvPr id="13" name="Image 1" descr="C:\Users\minhh\AppData\Local\Temp\claude\c--Users-minhh-Documents-challenge\0b7be4ed-3567-4081-a022-ada0920f3982\scratchpad\slide-shots\13-chatbot-vi.png"/>
          <p:cNvPicPr>
            <a:picLocks noChangeAspect="1"/>
          </p:cNvPicPr>
          <p:nvPr/>
        </p:nvPicPr>
        <p:blipFill>
          <a:blip r:embed="rId4"/>
          <a:srcRect/>
          <a:stretch/>
        </p:blipFill>
        <p:spPr>
          <a:xfrm>
            <a:off x="9250528" y="1664208"/>
            <a:ext cx="2374240" cy="4023360"/>
          </a:xfrm>
          <a:prstGeom prst="rect">
            <a:avLst/>
          </a:prstGeom>
        </p:spPr>
      </p:pic>
      <p:sp>
        <p:nvSpPr>
          <p:cNvPr id="14" name="Text 10"/>
          <p:cNvSpPr/>
          <p:nvPr/>
        </p:nvSpPr>
        <p:spPr>
          <a:xfrm>
            <a:off x="9250528" y="5724144"/>
            <a:ext cx="2374240" cy="219456"/>
          </a:xfrm>
          <a:prstGeom prst="rect">
            <a:avLst/>
          </a:prstGeom>
          <a:noFill/>
          <a:ln/>
        </p:spPr>
        <p:txBody>
          <a:bodyPr wrap="square" rtlCol="0" anchor="ctr"/>
          <a:lstStyle/>
          <a:p>
            <a:pPr marL="0" indent="0" algn="ctr">
              <a:buNone/>
            </a:pPr>
            <a:r>
              <a:rPr lang="en-US" sz="850" dirty="0">
                <a:solidFill>
                  <a:srgbClr val="877258"/>
                </a:solidFill>
                <a:latin typeface="Segoe UI" pitchFamily="34" charset="0"/>
                <a:ea typeface="Segoe UI" pitchFamily="34" charset="-122"/>
                <a:cs typeface="Segoe UI" pitchFamily="34" charset="-120"/>
              </a:rPr>
              <a:t>“sua mua o dau?” ／ Không dấu vẫn hiểu</a:t>
            </a:r>
            <a:endParaRPr lang="en-US" sz="850" dirty="0"/>
          </a:p>
        </p:txBody>
      </p:sp>
      <p:sp>
        <p:nvSpPr>
          <p:cNvPr id="15" name="Text 11"/>
          <p:cNvSpPr/>
          <p:nvPr/>
        </p:nvSpPr>
        <p:spPr>
          <a:xfrm>
            <a:off x="8351215" y="6473952"/>
            <a:ext cx="3291840" cy="228600"/>
          </a:xfrm>
          <a:prstGeom prst="rect">
            <a:avLst/>
          </a:prstGeom>
          <a:noFill/>
          <a:ln/>
        </p:spPr>
        <p:txBody>
          <a:bodyPr wrap="square" rtlCol="0" anchor="ctr"/>
          <a:lstStyle/>
          <a:p>
            <a:pPr marL="0" indent="0" algn="r">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marL="0" indent="0">
              <a:buNone/>
            </a:pPr>
            <a:r>
              <a:rPr lang="en-US" sz="1050" b="1" kern="0" spc="100" dirty="0">
                <a:solidFill>
                  <a:srgbClr val="C7273B"/>
                </a:solidFill>
                <a:latin typeface="Yu Gothic" pitchFamily="34" charset="0"/>
                <a:ea typeface="Yu Gothic" pitchFamily="34" charset="-122"/>
                <a:cs typeface="Yu Gothic" pitchFamily="34" charset="-120"/>
              </a:rPr>
              <a:t>機能③ AI音声読み上げ</a:t>
            </a:r>
            <a:r>
              <a:rPr lang="en-US" sz="1000" b="1" kern="0" spc="100" dirty="0">
                <a:solidFill>
                  <a:srgbClr val="877258"/>
                </a:solidFill>
                <a:latin typeface="Segoe UI" pitchFamily="34" charset="0"/>
                <a:ea typeface="Segoe UI" pitchFamily="34" charset="-122"/>
                <a:cs typeface="Segoe UI" pitchFamily="34" charset="-120"/>
              </a:rPr>
              <a:t>　／ TÍNH NĂNG ③ · AI ĐỌC CÔNG THỨC</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txBody>
          <a:bodyPr/>
          <a:lstStyle/>
          <a:p>
            <a:endParaRPr lang="en-US"/>
          </a:p>
        </p:txBody>
      </p:sp>
      <p:sp>
        <p:nvSpPr>
          <p:cNvPr id="4" name="Text 2"/>
          <p:cNvSpPr/>
          <p:nvPr/>
        </p:nvSpPr>
        <p:spPr>
          <a:xfrm>
            <a:off x="566928" y="713232"/>
            <a:ext cx="11057839" cy="502920"/>
          </a:xfrm>
          <a:prstGeom prst="rect">
            <a:avLst/>
          </a:prstGeom>
          <a:noFill/>
          <a:ln/>
        </p:spPr>
        <p:txBody>
          <a:bodyPr wrap="square" rtlCol="0" anchor="ctr"/>
          <a:lstStyle/>
          <a:p>
            <a:pPr marL="0" indent="0">
              <a:buNone/>
            </a:pPr>
            <a:r>
              <a:rPr lang="en-US" sz="2700" b="1" dirty="0">
                <a:solidFill>
                  <a:srgbClr val="331E0E"/>
                </a:solidFill>
                <a:latin typeface="Yu Mincho" pitchFamily="34" charset="0"/>
                <a:ea typeface="Yu Mincho" pitchFamily="34" charset="-122"/>
                <a:cs typeface="Yu Mincho" pitchFamily="34" charset="-120"/>
              </a:rPr>
              <a:t>レシピを声で読み上げます</a:t>
            </a:r>
          </a:p>
        </p:txBody>
      </p:sp>
      <p:sp>
        <p:nvSpPr>
          <p:cNvPr id="5" name="Text 3"/>
          <p:cNvSpPr/>
          <p:nvPr/>
        </p:nvSpPr>
        <p:spPr>
          <a:xfrm>
            <a:off x="566928" y="1225296"/>
            <a:ext cx="11057839" cy="274320"/>
          </a:xfrm>
          <a:prstGeom prst="rect">
            <a:avLst/>
          </a:prstGeom>
          <a:noFill/>
          <a:ln/>
        </p:spPr>
        <p:txBody>
          <a:bodyPr wrap="square" rtlCol="0" anchor="ctr"/>
          <a:lstStyle/>
          <a:p>
            <a:pPr marL="0" indent="0">
              <a:buNone/>
            </a:pPr>
            <a:r>
              <a:rPr lang="en-US" sz="1250" dirty="0">
                <a:solidFill>
                  <a:srgbClr val="877258"/>
                </a:solidFill>
                <a:latin typeface="Segoe UI" pitchFamily="34" charset="0"/>
                <a:ea typeface="Segoe UI" pitchFamily="34" charset="-122"/>
                <a:cs typeface="Segoe UI" pitchFamily="34" charset="-120"/>
              </a:rPr>
              <a:t>AI đọc công thức thành tiếng</a:t>
            </a:r>
          </a:p>
        </p:txBody>
      </p:sp>
      <p:sp>
        <p:nvSpPr>
          <p:cNvPr id="6" name="Text 4"/>
          <p:cNvSpPr/>
          <p:nvPr/>
        </p:nvSpPr>
        <p:spPr>
          <a:xfrm>
            <a:off x="566928" y="1627632"/>
            <a:ext cx="5806440" cy="2980944"/>
          </a:xfrm>
          <a:prstGeom prst="rect">
            <a:avLst/>
          </a:prstGeom>
          <a:noFill/>
          <a:ln/>
        </p:spPr>
        <p:txBody>
          <a:bodyPr wrap="square" rtlCol="0" anchor="t"/>
          <a:lstStyle/>
          <a:p>
            <a:pPr marL="209550" indent="-209550">
              <a:lnSpc>
                <a:spcPct val="120000"/>
              </a:lnSpc>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ボタン1つで、材料 → 手順 の順に読み上げます</a:t>
            </a:r>
            <a:endParaRPr lang="en-US" sz="1150" dirty="0"/>
          </a:p>
          <a:p>
            <a:pPr marL="209550" indent="0">
              <a:lnSpc>
                <a:spcPct val="115000"/>
              </a:lnSpc>
              <a:buNone/>
            </a:pPr>
            <a:r>
              <a:rPr lang="en-US" sz="950" dirty="0" err="1">
                <a:solidFill>
                  <a:srgbClr val="877258"/>
                </a:solidFill>
                <a:latin typeface="Segoe UI" pitchFamily="34" charset="0"/>
                <a:ea typeface="Segoe UI" pitchFamily="34" charset="-122"/>
                <a:cs typeface="Segoe UI" pitchFamily="34" charset="-120"/>
              </a:rPr>
              <a:t>Nút bấm đọc nguyên liệu và các bước nấu ăn theo công thức.</a:t>
            </a:r>
          </a:p>
          <a:p>
            <a:pPr marL="209550" indent="-209550">
              <a:lnSpc>
                <a:spcPct val="120000"/>
              </a:lnSpc>
              <a:spcBef>
                <a:spcPts val="900"/>
              </a:spcBef>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いま読んでいる手順は、画面でも色が変わります</a:t>
            </a:r>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Bước đang đọc được tô sáng — nhìn là biết đang tới đâu.</a:t>
            </a:r>
            <a:endParaRPr lang="en-US" sz="1150" dirty="0"/>
          </a:p>
          <a:p>
            <a:pPr marL="0" indent="0">
              <a:lnSpc>
                <a:spcPct val="120000"/>
              </a:lnSpc>
              <a:spcBef>
                <a:spcPts val="900"/>
              </a:spcBef>
              <a:buNone/>
            </a:pPr>
            <a:endParaRPr lang="en-US" sz="1150" dirty="0"/>
          </a:p>
        </p:txBody>
      </p:sp>
      <p:sp>
        <p:nvSpPr>
          <p:cNvPr id="7" name="Shape 5"/>
          <p:cNvSpPr/>
          <p:nvPr/>
        </p:nvSpPr>
        <p:spPr>
          <a:xfrm>
            <a:off x="566928" y="4681728"/>
            <a:ext cx="5806440" cy="1143000"/>
          </a:xfrm>
          <a:prstGeom prst="rect">
            <a:avLst/>
          </a:prstGeom>
          <a:solidFill>
            <a:srgbClr val="FBF0F1"/>
          </a:solidFill>
          <a:ln w="12700">
            <a:solidFill>
              <a:srgbClr val="FBF0F1"/>
            </a:solidFill>
            <a:prstDash val="solid"/>
          </a:ln>
        </p:spPr>
        <p:txBody>
          <a:bodyPr/>
          <a:lstStyle/>
          <a:p>
            <a:endParaRPr lang="en-US"/>
          </a:p>
        </p:txBody>
      </p:sp>
      <p:sp>
        <p:nvSpPr>
          <p:cNvPr id="8" name="Shape 6"/>
          <p:cNvSpPr/>
          <p:nvPr/>
        </p:nvSpPr>
        <p:spPr>
          <a:xfrm>
            <a:off x="566928" y="4681728"/>
            <a:ext cx="41148" cy="1143000"/>
          </a:xfrm>
          <a:prstGeom prst="rect">
            <a:avLst/>
          </a:prstGeom>
          <a:solidFill>
            <a:srgbClr val="C7273B"/>
          </a:solidFill>
          <a:ln w="12700">
            <a:solidFill>
              <a:srgbClr val="C7273B"/>
            </a:solidFill>
            <a:prstDash val="solid"/>
          </a:ln>
        </p:spPr>
        <p:txBody>
          <a:bodyPr/>
          <a:lstStyle/>
          <a:p>
            <a:endParaRPr lang="en-US"/>
          </a:p>
        </p:txBody>
      </p:sp>
      <p:sp>
        <p:nvSpPr>
          <p:cNvPr id="9" name="Text 7"/>
          <p:cNvSpPr/>
          <p:nvPr/>
        </p:nvSpPr>
        <p:spPr>
          <a:xfrm>
            <a:off x="694944" y="4782312"/>
            <a:ext cx="658368" cy="457200"/>
          </a:xfrm>
          <a:prstGeom prst="rect">
            <a:avLst/>
          </a:prstGeom>
          <a:noFill/>
          <a:ln/>
        </p:spPr>
        <p:txBody>
          <a:bodyPr wrap="square" rtlCol="0" anchor="t"/>
          <a:lstStyle/>
          <a:p>
            <a:pPr marL="0" indent="0">
              <a:buNone/>
            </a:pPr>
            <a:r>
              <a:rPr lang="en-US" sz="950" b="1" dirty="0">
                <a:solidFill>
                  <a:srgbClr val="C7273B"/>
                </a:solidFill>
                <a:latin typeface="Yu Gothic" pitchFamily="34" charset="0"/>
                <a:ea typeface="Yu Gothic" pitchFamily="34" charset="-122"/>
                <a:cs typeface="Yu Gothic" pitchFamily="34" charset="-120"/>
              </a:rPr>
              <a:t>効果</a:t>
            </a:r>
            <a:endParaRPr lang="en-US" sz="950" dirty="0"/>
          </a:p>
          <a:p>
            <a:pPr marL="0" indent="0">
              <a:buNone/>
            </a:pPr>
            <a:r>
              <a:rPr lang="en-US" sz="800" b="1" dirty="0">
                <a:solidFill>
                  <a:srgbClr val="C7273B"/>
                </a:solidFill>
                <a:latin typeface="Segoe UI" pitchFamily="34" charset="0"/>
                <a:ea typeface="Segoe UI" pitchFamily="34" charset="-122"/>
                <a:cs typeface="Segoe UI" pitchFamily="34" charset="-120"/>
              </a:rPr>
              <a:t>LỢI ÍCH</a:t>
            </a:r>
            <a:endParaRPr lang="en-US" sz="950" dirty="0"/>
          </a:p>
        </p:txBody>
      </p:sp>
      <p:sp>
        <p:nvSpPr>
          <p:cNvPr id="10" name="Text 8"/>
          <p:cNvSpPr/>
          <p:nvPr/>
        </p:nvSpPr>
        <p:spPr>
          <a:xfrm>
            <a:off x="1408176" y="4773168"/>
            <a:ext cx="4837176" cy="960120"/>
          </a:xfrm>
          <a:prstGeom prst="rect">
            <a:avLst/>
          </a:prstGeom>
          <a:noFill/>
          <a:ln/>
        </p:spPr>
        <p:txBody>
          <a:bodyPr wrap="square" rtlCol="0" anchor="t"/>
          <a:lstStyle/>
          <a:p>
            <a:pPr marL="0" indent="0">
              <a:lnSpc>
                <a:spcPct val="120000"/>
              </a:lnSpc>
              <a:buNone/>
            </a:pPr>
            <a:r>
              <a:rPr lang="en-US" sz="1050" dirty="0">
                <a:solidFill>
                  <a:srgbClr val="2A1A0E"/>
                </a:solidFill>
                <a:latin typeface="Yu Gothic" pitchFamily="34" charset="0"/>
                <a:ea typeface="Yu Gothic" pitchFamily="34" charset="-122"/>
                <a:cs typeface="Yu Gothic" pitchFamily="34" charset="-120"/>
              </a:rPr>
              <a:t>手がふさがっていても、画面に触らず進められます。小さい字が読みにくいお客様にも役立ちます。</a:t>
            </a:r>
          </a:p>
          <a:p>
            <a:pPr marL="0" indent="0">
              <a:lnSpc>
                <a:spcPct val="115000"/>
              </a:lnSpc>
              <a:buNone/>
            </a:pPr>
            <a:r>
              <a:rPr lang="en-US" sz="950" dirty="0">
                <a:solidFill>
                  <a:srgbClr val="877258"/>
                </a:solidFill>
                <a:latin typeface="Segoe UI" pitchFamily="34" charset="0"/>
                <a:ea typeface="Segoe UI" pitchFamily="34" charset="-122"/>
                <a:cs typeface="Segoe UI" pitchFamily="34" charset="-120"/>
              </a:rPr>
              <a:t>Đang nấu bận tay vẫn theo được; khách lớn tuổi hay khó đọc chữ nhỏ cũng dùng được.</a:t>
            </a:r>
          </a:p>
        </p:txBody>
      </p:sp>
      <p:pic>
        <p:nvPicPr>
          <p:cNvPr id="11" name="Image 0" descr="C:\Users\minhh\AppData\Local\Temp\claude\c--Users-minhh-Documents-challenge\0b7be4ed-3567-4081-a022-ada0920f3982\scratchpad\slide-shots\10-recipe.png"/>
          <p:cNvPicPr>
            <a:picLocks noChangeAspect="1"/>
          </p:cNvPicPr>
          <p:nvPr/>
        </p:nvPicPr>
        <p:blipFill>
          <a:blip r:embed="rId3"/>
          <a:srcRect/>
          <a:stretch/>
        </p:blipFill>
        <p:spPr>
          <a:xfrm>
            <a:off x="6693408" y="1664208"/>
            <a:ext cx="4931359" cy="4206240"/>
          </a:xfrm>
          <a:prstGeom prst="rect">
            <a:avLst/>
          </a:prstGeom>
        </p:spPr>
      </p:pic>
      <p:sp>
        <p:nvSpPr>
          <p:cNvPr id="12" name="Text 9"/>
          <p:cNvSpPr/>
          <p:nvPr/>
        </p:nvSpPr>
        <p:spPr>
          <a:xfrm>
            <a:off x="6693408" y="5907024"/>
            <a:ext cx="4931359" cy="219456"/>
          </a:xfrm>
          <a:prstGeom prst="rect">
            <a:avLst/>
          </a:prstGeom>
          <a:noFill/>
          <a:ln/>
        </p:spPr>
        <p:txBody>
          <a:bodyPr wrap="square" rtlCol="0" anchor="ctr"/>
          <a:lstStyle/>
          <a:p>
            <a:pPr marL="0" indent="0" algn="ctr">
              <a:buNone/>
            </a:pPr>
            <a:r>
              <a:rPr lang="en-US" sz="850" dirty="0">
                <a:solidFill>
                  <a:srgbClr val="877258"/>
                </a:solidFill>
                <a:latin typeface="Segoe UI" pitchFamily="34" charset="0"/>
                <a:ea typeface="Segoe UI" pitchFamily="34" charset="-122"/>
                <a:cs typeface="Segoe UI" pitchFamily="34" charset="-120"/>
              </a:rPr>
              <a:t>レシピ詳細ページ ／ Trang chi tiết công thức</a:t>
            </a:r>
            <a:endParaRPr lang="en-US" sz="850" dirty="0"/>
          </a:p>
        </p:txBody>
      </p:sp>
      <p:sp>
        <p:nvSpPr>
          <p:cNvPr id="13" name="Text 10"/>
          <p:cNvSpPr/>
          <p:nvPr/>
        </p:nvSpPr>
        <p:spPr>
          <a:xfrm>
            <a:off x="8351215" y="6473952"/>
            <a:ext cx="3291840" cy="228600"/>
          </a:xfrm>
          <a:prstGeom prst="rect">
            <a:avLst/>
          </a:prstGeom>
          <a:noFill/>
          <a:ln/>
        </p:spPr>
        <p:txBody>
          <a:bodyPr wrap="square" rtlCol="0" anchor="ctr"/>
          <a:lstStyle/>
          <a:p>
            <a:pPr marL="0" indent="0" algn="r">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marL="0" indent="0">
              <a:buNone/>
            </a:pPr>
            <a:r>
              <a:rPr lang="en-US" sz="1050" b="1" kern="0" spc="100" dirty="0">
                <a:solidFill>
                  <a:srgbClr val="C7273B"/>
                </a:solidFill>
                <a:latin typeface="Yu Gothic" pitchFamily="34" charset="0"/>
                <a:ea typeface="Yu Gothic" pitchFamily="34" charset="-122"/>
                <a:cs typeface="Yu Gothic" pitchFamily="34" charset="-120"/>
              </a:rPr>
              <a:t>機能④ お店で買う</a:t>
            </a:r>
            <a:r>
              <a:rPr lang="en-US" sz="1000" b="1" kern="0" spc="100" dirty="0">
                <a:solidFill>
                  <a:srgbClr val="877258"/>
                </a:solidFill>
                <a:latin typeface="Segoe UI" pitchFamily="34" charset="0"/>
                <a:ea typeface="Segoe UI" pitchFamily="34" charset="-122"/>
                <a:cs typeface="Segoe UI" pitchFamily="34" charset="-120"/>
              </a:rPr>
              <a:t>　／ TÍNH NĂNG ④ · MUA TẠI SIÊU THỊ</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txBody>
          <a:bodyPr/>
          <a:lstStyle/>
          <a:p>
            <a:endParaRPr lang="en-US"/>
          </a:p>
        </p:txBody>
      </p:sp>
      <p:sp>
        <p:nvSpPr>
          <p:cNvPr id="4" name="Text 2"/>
          <p:cNvSpPr/>
          <p:nvPr/>
        </p:nvSpPr>
        <p:spPr>
          <a:xfrm>
            <a:off x="566928" y="713232"/>
            <a:ext cx="11057839" cy="502920"/>
          </a:xfrm>
          <a:prstGeom prst="rect">
            <a:avLst/>
          </a:prstGeom>
          <a:noFill/>
          <a:ln/>
        </p:spPr>
        <p:txBody>
          <a:bodyPr wrap="square" rtlCol="0" anchor="ctr"/>
          <a:lstStyle/>
          <a:p>
            <a:pPr marL="0" indent="0">
              <a:buNone/>
            </a:pPr>
            <a:r>
              <a:rPr lang="en-US" sz="2700" b="1" dirty="0">
                <a:solidFill>
                  <a:srgbClr val="331E0E"/>
                </a:solidFill>
                <a:latin typeface="Yu Mincho" pitchFamily="34" charset="0"/>
                <a:ea typeface="Yu Mincho" pitchFamily="34" charset="-122"/>
                <a:cs typeface="Yu Mincho" pitchFamily="34" charset="-120"/>
              </a:rPr>
              <a:t>売場順の買い物リストと売場マップ</a:t>
            </a:r>
            <a:endParaRPr lang="en-US" sz="2700" dirty="0"/>
          </a:p>
        </p:txBody>
      </p:sp>
      <p:sp>
        <p:nvSpPr>
          <p:cNvPr id="5" name="Text 3"/>
          <p:cNvSpPr/>
          <p:nvPr/>
        </p:nvSpPr>
        <p:spPr>
          <a:xfrm>
            <a:off x="566928" y="1225296"/>
            <a:ext cx="11057839" cy="274320"/>
          </a:xfrm>
          <a:prstGeom prst="rect">
            <a:avLst/>
          </a:prstGeom>
          <a:noFill/>
          <a:ln/>
        </p:spPr>
        <p:txBody>
          <a:bodyPr wrap="square" rtlCol="0" anchor="ctr"/>
          <a:lstStyle/>
          <a:p>
            <a:pPr marL="0" indent="0">
              <a:buNone/>
            </a:pPr>
            <a:r>
              <a:rPr lang="en-US" sz="1250" dirty="0">
                <a:solidFill>
                  <a:srgbClr val="877258"/>
                </a:solidFill>
                <a:latin typeface="Segoe UI" pitchFamily="34" charset="0"/>
                <a:ea typeface="Segoe UI" pitchFamily="34" charset="-122"/>
                <a:cs typeface="Segoe UI" pitchFamily="34" charset="-120"/>
              </a:rPr>
              <a:t>Danh sách đi chợ theo quầy và sơ đồ siêu thị</a:t>
            </a:r>
            <a:endParaRPr lang="en-US" sz="1250" dirty="0"/>
          </a:p>
        </p:txBody>
      </p:sp>
      <p:sp>
        <p:nvSpPr>
          <p:cNvPr id="6" name="Text 4"/>
          <p:cNvSpPr/>
          <p:nvPr/>
        </p:nvSpPr>
        <p:spPr>
          <a:xfrm>
            <a:off x="566928" y="1627632"/>
            <a:ext cx="4498131" cy="2980944"/>
          </a:xfrm>
          <a:prstGeom prst="rect">
            <a:avLst/>
          </a:prstGeom>
          <a:noFill/>
          <a:ln/>
        </p:spPr>
        <p:txBody>
          <a:bodyPr wrap="square" rtlCol="0" anchor="t"/>
          <a:lstStyle/>
          <a:p>
            <a:pPr marL="209550" indent="-209550">
              <a:lnSpc>
                <a:spcPct val="120000"/>
              </a:lnSpc>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レシピの「お店で買う」から、材料をまとめて買い物リストへ</a:t>
            </a:r>
            <a:endParaRPr lang="en-US" sz="1150" dirty="0"/>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Ở trang công thức có thể thêm toàn bộ nguyên liệu vào danh sách đi chợ.</a:t>
            </a:r>
          </a:p>
          <a:p>
            <a:pPr marL="209550" indent="-209550">
              <a:lnSpc>
                <a:spcPct val="120000"/>
              </a:lnSpc>
              <a:spcBef>
                <a:spcPts val="900"/>
              </a:spcBef>
              <a:buFont typeface="Yu Gothic" pitchFamily="49" charset="-128"/>
              <a:buChar char="■"/>
            </a:pPr>
            <a:r>
              <a:rPr lang="en-US" sz="1150" b="1" dirty="0" err="1">
                <a:solidFill>
                  <a:srgbClr val="2A1A0E"/>
                </a:solidFill>
                <a:latin typeface="Yu Gothic" pitchFamily="34" charset="0"/>
                <a:ea typeface="Yu Gothic" pitchFamily="34" charset="-122"/>
                <a:cs typeface="Yu Gothic" pitchFamily="34" charset="-120"/>
              </a:rPr>
              <a:t>売場マップが該当の売場だけを光らせ、リストと同じ色で示します</a:t>
            </a:r>
          </a:p>
          <a:p>
            <a:pPr marL="209550" indent="0">
              <a:lnSpc>
                <a:spcPct val="115000"/>
              </a:lnSpc>
              <a:buNone/>
            </a:pPr>
            <a:r>
              <a:rPr lang="en-US" sz="950" dirty="0" err="1">
                <a:solidFill>
                  <a:srgbClr val="877258"/>
                </a:solidFill>
                <a:latin typeface="Segoe UI" pitchFamily="34" charset="0"/>
                <a:ea typeface="Segoe UI" pitchFamily="34" charset="-122"/>
                <a:cs typeface="Segoe UI" pitchFamily="34" charset="-120"/>
              </a:rPr>
              <a:t>Sơ đồ tô sáng những quầy cần ghé và đánh dấu màu tương ứng với danh sách đã thêm.</a:t>
            </a:r>
          </a:p>
          <a:p>
            <a:pPr marL="209550" indent="-209550">
              <a:lnSpc>
                <a:spcPct val="120000"/>
              </a:lnSpc>
              <a:spcBef>
                <a:spcPts val="900"/>
              </a:spcBef>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並び順は売場の動線どおり（青果 → 鮮魚 → 精肉 → 日配 …）</a:t>
            </a:r>
          </a:p>
          <a:p>
            <a:pPr marL="209550" indent="0">
              <a:lnSpc>
                <a:spcPct val="115000"/>
              </a:lnSpc>
              <a:buNone/>
            </a:pPr>
            <a:r>
              <a:rPr lang="en-US" sz="950" dirty="0" err="1">
                <a:solidFill>
                  <a:srgbClr val="877258"/>
                </a:solidFill>
                <a:latin typeface="Segoe UI" pitchFamily="34" charset="0"/>
                <a:ea typeface="Segoe UI" pitchFamily="34" charset="-122"/>
                <a:cs typeface="Segoe UI" pitchFamily="34" charset="-120"/>
              </a:rPr>
              <a:t>Thứ</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tự</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bám</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theo</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lối</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đi</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thật</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trong</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siêu</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thị</a:t>
            </a:r>
            <a:r>
              <a:rPr lang="en-US" sz="950" dirty="0">
                <a:solidFill>
                  <a:srgbClr val="877258"/>
                </a:solidFill>
                <a:latin typeface="Segoe UI" pitchFamily="34" charset="0"/>
                <a:ea typeface="Segoe UI" pitchFamily="34" charset="-122"/>
                <a:cs typeface="Segoe UI" pitchFamily="34" charset="-120"/>
              </a:rPr>
              <a:t>.</a:t>
            </a:r>
            <a:endParaRPr lang="en-US" sz="1150" dirty="0"/>
          </a:p>
          <a:p>
            <a:pPr marL="209550" indent="-209550">
              <a:lnSpc>
                <a:spcPct val="120000"/>
              </a:lnSpc>
              <a:spcBef>
                <a:spcPts val="900"/>
              </a:spcBef>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どのレシピの材料か併記。買った物はその場でチェックでき、概算の合計金額も表示</a:t>
            </a:r>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Ghi rõ nguyên liệu thuộc món nào; mua xong </a:t>
            </a:r>
            <a:r>
              <a:rPr lang="en-US" sz="950" dirty="0" err="1">
                <a:solidFill>
                  <a:srgbClr val="877258"/>
                </a:solidFill>
                <a:latin typeface="Segoe UI" pitchFamily="34" charset="0"/>
                <a:ea typeface="Segoe UI" pitchFamily="34" charset="-122"/>
                <a:cs typeface="Segoe UI" pitchFamily="34" charset="-120"/>
              </a:rPr>
              <a:t>tích</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đánh</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dấu</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đã</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mua</a:t>
            </a:r>
            <a:r>
              <a:rPr lang="en-US" sz="950" dirty="0">
                <a:solidFill>
                  <a:srgbClr val="877258"/>
                </a:solidFill>
                <a:latin typeface="Segoe UI" pitchFamily="34" charset="0"/>
                <a:ea typeface="Segoe UI" pitchFamily="34" charset="-122"/>
                <a:cs typeface="Segoe UI" pitchFamily="34" charset="-120"/>
              </a:rPr>
              <a:t>, cuối danh sách có tổng tiền tạm tính.</a:t>
            </a:r>
          </a:p>
        </p:txBody>
      </p:sp>
      <p:sp>
        <p:nvSpPr>
          <p:cNvPr id="7" name="Shape 5"/>
          <p:cNvSpPr/>
          <p:nvPr/>
        </p:nvSpPr>
        <p:spPr>
          <a:xfrm>
            <a:off x="566928" y="4681728"/>
            <a:ext cx="4498131" cy="960120"/>
          </a:xfrm>
          <a:prstGeom prst="rect">
            <a:avLst/>
          </a:prstGeom>
          <a:solidFill>
            <a:srgbClr val="FBF0F1"/>
          </a:solidFill>
          <a:ln w="12700">
            <a:solidFill>
              <a:srgbClr val="FBF0F1"/>
            </a:solidFill>
            <a:prstDash val="solid"/>
          </a:ln>
        </p:spPr>
        <p:txBody>
          <a:bodyPr/>
          <a:lstStyle/>
          <a:p>
            <a:endParaRPr lang="en-US"/>
          </a:p>
        </p:txBody>
      </p:sp>
      <p:sp>
        <p:nvSpPr>
          <p:cNvPr id="8" name="Shape 6"/>
          <p:cNvSpPr/>
          <p:nvPr/>
        </p:nvSpPr>
        <p:spPr>
          <a:xfrm>
            <a:off x="566928" y="4681728"/>
            <a:ext cx="41148" cy="960120"/>
          </a:xfrm>
          <a:prstGeom prst="rect">
            <a:avLst/>
          </a:prstGeom>
          <a:solidFill>
            <a:srgbClr val="C7273B"/>
          </a:solidFill>
          <a:ln w="12700">
            <a:solidFill>
              <a:srgbClr val="C7273B"/>
            </a:solidFill>
            <a:prstDash val="solid"/>
          </a:ln>
        </p:spPr>
        <p:txBody>
          <a:bodyPr/>
          <a:lstStyle/>
          <a:p>
            <a:endParaRPr lang="en-US"/>
          </a:p>
        </p:txBody>
      </p:sp>
      <p:sp>
        <p:nvSpPr>
          <p:cNvPr id="9" name="Text 7"/>
          <p:cNvSpPr/>
          <p:nvPr/>
        </p:nvSpPr>
        <p:spPr>
          <a:xfrm>
            <a:off x="694944" y="4782312"/>
            <a:ext cx="658368" cy="457200"/>
          </a:xfrm>
          <a:prstGeom prst="rect">
            <a:avLst/>
          </a:prstGeom>
          <a:noFill/>
          <a:ln/>
        </p:spPr>
        <p:txBody>
          <a:bodyPr wrap="square" rtlCol="0" anchor="t"/>
          <a:lstStyle/>
          <a:p>
            <a:pPr marL="0" indent="0">
              <a:buNone/>
            </a:pPr>
            <a:r>
              <a:rPr lang="en-US" sz="950" b="1" dirty="0">
                <a:solidFill>
                  <a:srgbClr val="C7273B"/>
                </a:solidFill>
                <a:latin typeface="Yu Gothic" pitchFamily="34" charset="0"/>
                <a:ea typeface="Yu Gothic" pitchFamily="34" charset="-122"/>
                <a:cs typeface="Yu Gothic" pitchFamily="34" charset="-120"/>
              </a:rPr>
              <a:t>効果</a:t>
            </a:r>
            <a:endParaRPr lang="en-US" sz="950" dirty="0"/>
          </a:p>
          <a:p>
            <a:pPr marL="0" indent="0">
              <a:buNone/>
            </a:pPr>
            <a:r>
              <a:rPr lang="en-US" sz="800" b="1" dirty="0">
                <a:solidFill>
                  <a:srgbClr val="C7273B"/>
                </a:solidFill>
                <a:latin typeface="Segoe UI" pitchFamily="34" charset="0"/>
                <a:ea typeface="Segoe UI" pitchFamily="34" charset="-122"/>
                <a:cs typeface="Segoe UI" pitchFamily="34" charset="-120"/>
              </a:rPr>
              <a:t>LỢI ÍCH</a:t>
            </a:r>
            <a:endParaRPr lang="en-US" sz="950" dirty="0"/>
          </a:p>
        </p:txBody>
      </p:sp>
      <p:sp>
        <p:nvSpPr>
          <p:cNvPr id="10" name="Text 8"/>
          <p:cNvSpPr/>
          <p:nvPr/>
        </p:nvSpPr>
        <p:spPr>
          <a:xfrm>
            <a:off x="1408176" y="4773168"/>
            <a:ext cx="3656883" cy="777240"/>
          </a:xfrm>
          <a:prstGeom prst="rect">
            <a:avLst/>
          </a:prstGeom>
          <a:noFill/>
          <a:ln/>
        </p:spPr>
        <p:txBody>
          <a:bodyPr wrap="square" rtlCol="0" anchor="t"/>
          <a:lstStyle/>
          <a:p>
            <a:pPr marL="0" indent="0">
              <a:lnSpc>
                <a:spcPct val="120000"/>
              </a:lnSpc>
              <a:buNone/>
            </a:pPr>
            <a:r>
              <a:rPr lang="en-US" sz="1050" dirty="0">
                <a:solidFill>
                  <a:srgbClr val="2A1A0E"/>
                </a:solidFill>
                <a:latin typeface="Yu Gothic" pitchFamily="34" charset="0"/>
                <a:ea typeface="Yu Gothic" pitchFamily="34" charset="-122"/>
                <a:cs typeface="Yu Gothic" pitchFamily="34" charset="-120"/>
              </a:rPr>
              <a:t>売場を探し回らずに済み、買い忘れも減ります。</a:t>
            </a:r>
          </a:p>
          <a:p>
            <a:pPr marL="0" indent="0">
              <a:lnSpc>
                <a:spcPct val="115000"/>
              </a:lnSpc>
              <a:buNone/>
            </a:pPr>
            <a:r>
              <a:rPr lang="en-US" sz="950" dirty="0">
                <a:solidFill>
                  <a:srgbClr val="877258"/>
                </a:solidFill>
                <a:latin typeface="Segoe UI" pitchFamily="34" charset="0"/>
                <a:ea typeface="Segoe UI" pitchFamily="34" charset="-122"/>
                <a:cs typeface="Segoe UI" pitchFamily="34" charset="-120"/>
              </a:rPr>
              <a:t>Giảm thời gian đi tìm quầy trong siêu thị và tránh mua thiếu nguyên liệu.</a:t>
            </a:r>
            <a:endParaRPr lang="en-US" sz="1050" dirty="0"/>
          </a:p>
        </p:txBody>
      </p:sp>
      <p:sp>
        <p:nvSpPr>
          <p:cNvPr id="12" name="Text 9"/>
          <p:cNvSpPr/>
          <p:nvPr/>
        </p:nvSpPr>
        <p:spPr>
          <a:xfrm>
            <a:off x="5831260" y="5724144"/>
            <a:ext cx="2374240" cy="219456"/>
          </a:xfrm>
          <a:prstGeom prst="rect">
            <a:avLst/>
          </a:prstGeom>
          <a:noFill/>
          <a:ln/>
        </p:spPr>
        <p:txBody>
          <a:bodyPr wrap="square" rtlCol="0" anchor="ctr"/>
          <a:lstStyle/>
          <a:p>
            <a:pPr marL="0" indent="0" algn="ctr">
              <a:buNone/>
            </a:pPr>
            <a:r>
              <a:rPr lang="en-US" sz="850" dirty="0">
                <a:solidFill>
                  <a:srgbClr val="877258"/>
                </a:solidFill>
                <a:latin typeface="Segoe UI" pitchFamily="34" charset="0"/>
                <a:ea typeface="Segoe UI" pitchFamily="34" charset="-122"/>
                <a:cs typeface="Segoe UI" pitchFamily="34" charset="-120"/>
              </a:rPr>
              <a:t>買い物リスト ／ Danh sách theo quầy</a:t>
            </a:r>
            <a:endParaRPr lang="en-US" sz="850" dirty="0"/>
          </a:p>
        </p:txBody>
      </p:sp>
      <p:sp>
        <p:nvSpPr>
          <p:cNvPr id="14" name="Text 10"/>
          <p:cNvSpPr/>
          <p:nvPr/>
        </p:nvSpPr>
        <p:spPr>
          <a:xfrm>
            <a:off x="9250528" y="5724144"/>
            <a:ext cx="2374240" cy="219456"/>
          </a:xfrm>
          <a:prstGeom prst="rect">
            <a:avLst/>
          </a:prstGeom>
          <a:noFill/>
          <a:ln/>
        </p:spPr>
        <p:txBody>
          <a:bodyPr wrap="square" rtlCol="0" anchor="ctr"/>
          <a:lstStyle/>
          <a:p>
            <a:pPr marL="0" indent="0" algn="ctr">
              <a:buNone/>
            </a:pPr>
            <a:r>
              <a:rPr lang="en-US" sz="850" dirty="0">
                <a:solidFill>
                  <a:srgbClr val="877258"/>
                </a:solidFill>
                <a:latin typeface="Segoe UI" pitchFamily="34" charset="0"/>
                <a:ea typeface="Segoe UI" pitchFamily="34" charset="-122"/>
                <a:cs typeface="Segoe UI" pitchFamily="34" charset="-120"/>
              </a:rPr>
              <a:t>売場マップ ／ Sơ đồ quầy hàng</a:t>
            </a:r>
            <a:endParaRPr lang="en-US" sz="850" dirty="0"/>
          </a:p>
        </p:txBody>
      </p:sp>
      <p:sp>
        <p:nvSpPr>
          <p:cNvPr id="15" name="Text 11"/>
          <p:cNvSpPr/>
          <p:nvPr/>
        </p:nvSpPr>
        <p:spPr>
          <a:xfrm>
            <a:off x="8351215" y="6473952"/>
            <a:ext cx="3291840" cy="228600"/>
          </a:xfrm>
          <a:prstGeom prst="rect">
            <a:avLst/>
          </a:prstGeom>
          <a:noFill/>
          <a:ln/>
        </p:spPr>
        <p:txBody>
          <a:bodyPr wrap="square" rtlCol="0" anchor="ctr"/>
          <a:lstStyle/>
          <a:p>
            <a:pPr marL="0" indent="0" algn="r">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pic>
        <p:nvPicPr>
          <p:cNvPr id="17" name="Image 0" descr="C:\Users\minhh\AppData\Local\Temp\claude\c--Users-minhh-Documents-challenge\0b7be4ed-3567-4081-a022-ada0920f3982\scratchpad\slide-shots\19-list-full.png">
            <a:extLst>
              <a:ext uri="{FF2B5EF4-FFF2-40B4-BE49-F238E27FC236}">
                <a16:creationId xmlns:a16="http://schemas.microsoft.com/office/drawing/2014/main" id="{F666E5DD-51D5-4198-7A8C-97D70AFD4DE2}"/>
              </a:ext>
            </a:extLst>
          </p:cNvPr>
          <p:cNvPicPr>
            <a:picLocks noChangeAspect="1"/>
          </p:cNvPicPr>
          <p:nvPr/>
        </p:nvPicPr>
        <p:blipFill>
          <a:blip r:embed="rId3"/>
          <a:srcRect/>
          <a:stretch/>
        </p:blipFill>
        <p:spPr>
          <a:xfrm>
            <a:off x="5287942" y="2060883"/>
            <a:ext cx="3331650" cy="3398085"/>
          </a:xfrm>
          <a:prstGeom prst="rect">
            <a:avLst/>
          </a:prstGeom>
        </p:spPr>
      </p:pic>
      <p:pic>
        <p:nvPicPr>
          <p:cNvPr id="19" name="Picture 18">
            <a:extLst>
              <a:ext uri="{FF2B5EF4-FFF2-40B4-BE49-F238E27FC236}">
                <a16:creationId xmlns:a16="http://schemas.microsoft.com/office/drawing/2014/main" id="{93F56F59-D67B-C523-BD56-620A02C661DA}"/>
              </a:ext>
            </a:extLst>
          </p:cNvPr>
          <p:cNvPicPr>
            <a:picLocks noChangeAspect="1"/>
          </p:cNvPicPr>
          <p:nvPr/>
        </p:nvPicPr>
        <p:blipFill>
          <a:blip r:embed="rId4"/>
          <a:stretch>
            <a:fillRect/>
          </a:stretch>
        </p:blipFill>
        <p:spPr>
          <a:xfrm>
            <a:off x="8619592" y="2168434"/>
            <a:ext cx="3188672" cy="324307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marL="0" indent="0">
              <a:buNone/>
            </a:pPr>
            <a:r>
              <a:rPr lang="en-US" sz="1050" b="1" kern="0" spc="100" dirty="0">
                <a:solidFill>
                  <a:srgbClr val="C7273B"/>
                </a:solidFill>
                <a:latin typeface="Yu Gothic" pitchFamily="34" charset="0"/>
                <a:ea typeface="Yu Gothic" pitchFamily="34" charset="-122"/>
                <a:cs typeface="Yu Gothic" pitchFamily="34" charset="-120"/>
              </a:rPr>
              <a:t>機能⑤ ネットで買う</a:t>
            </a:r>
            <a:r>
              <a:rPr lang="en-US" sz="1000" b="1" kern="0" spc="100" dirty="0">
                <a:solidFill>
                  <a:srgbClr val="877258"/>
                </a:solidFill>
                <a:latin typeface="Segoe UI" pitchFamily="34" charset="0"/>
                <a:ea typeface="Segoe UI" pitchFamily="34" charset="-122"/>
                <a:cs typeface="Segoe UI" pitchFamily="34" charset="-120"/>
              </a:rPr>
              <a:t>　／ TÍNH NĂNG ⑤ · MUA ONLINE</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txBody>
          <a:bodyPr/>
          <a:lstStyle/>
          <a:p>
            <a:endParaRPr lang="en-US"/>
          </a:p>
        </p:txBody>
      </p:sp>
      <p:sp>
        <p:nvSpPr>
          <p:cNvPr id="4" name="Text 2"/>
          <p:cNvSpPr/>
          <p:nvPr/>
        </p:nvSpPr>
        <p:spPr>
          <a:xfrm>
            <a:off x="566928" y="713232"/>
            <a:ext cx="11057839" cy="502920"/>
          </a:xfrm>
          <a:prstGeom prst="rect">
            <a:avLst/>
          </a:prstGeom>
          <a:noFill/>
          <a:ln/>
        </p:spPr>
        <p:txBody>
          <a:bodyPr wrap="square" rtlCol="0" anchor="ctr"/>
          <a:lstStyle/>
          <a:p>
            <a:pPr marL="0" indent="0">
              <a:buNone/>
            </a:pPr>
            <a:r>
              <a:rPr lang="en-US" sz="2700" b="1" dirty="0">
                <a:solidFill>
                  <a:srgbClr val="331E0E"/>
                </a:solidFill>
                <a:latin typeface="Yu Mincho" pitchFamily="34" charset="0"/>
                <a:ea typeface="Yu Mincho" pitchFamily="34" charset="-122"/>
                <a:cs typeface="Yu Mincho" pitchFamily="34" charset="-120"/>
              </a:rPr>
              <a:t>カートに入れて、既存の通販で注文を完了</a:t>
            </a:r>
          </a:p>
        </p:txBody>
      </p:sp>
      <p:sp>
        <p:nvSpPr>
          <p:cNvPr id="5" name="Text 3"/>
          <p:cNvSpPr/>
          <p:nvPr/>
        </p:nvSpPr>
        <p:spPr>
          <a:xfrm>
            <a:off x="566928" y="1225296"/>
            <a:ext cx="11057839" cy="274320"/>
          </a:xfrm>
          <a:prstGeom prst="rect">
            <a:avLst/>
          </a:prstGeom>
          <a:noFill/>
          <a:ln/>
        </p:spPr>
        <p:txBody>
          <a:bodyPr wrap="square" rtlCol="0" anchor="ctr"/>
          <a:lstStyle/>
          <a:p>
            <a:pPr marL="0" indent="0">
              <a:buNone/>
            </a:pPr>
            <a:r>
              <a:rPr lang="en-US" sz="1250" dirty="0">
                <a:solidFill>
                  <a:srgbClr val="877258"/>
                </a:solidFill>
                <a:latin typeface="Segoe UI" pitchFamily="34" charset="0"/>
                <a:ea typeface="Segoe UI" pitchFamily="34" charset="-122"/>
                <a:cs typeface="Segoe UI" pitchFamily="34" charset="-120"/>
              </a:rPr>
              <a:t>Thêm vào giỏ rồi chuyển sang trang bán online </a:t>
            </a:r>
            <a:r>
              <a:rPr lang="en-US" sz="1250" dirty="0" err="1">
                <a:solidFill>
                  <a:srgbClr val="877258"/>
                </a:solidFill>
                <a:latin typeface="Segoe UI" pitchFamily="34" charset="0"/>
                <a:ea typeface="Segoe UI" pitchFamily="34" charset="-122"/>
                <a:cs typeface="Segoe UI" pitchFamily="34" charset="-120"/>
              </a:rPr>
              <a:t>sẵn</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có</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để</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hoàn</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thiện</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đơn</a:t>
            </a:r>
            <a:endParaRPr lang="en-US" sz="1250" dirty="0">
              <a:solidFill>
                <a:srgbClr val="877258"/>
              </a:solidFill>
              <a:latin typeface="Segoe UI" pitchFamily="34" charset="0"/>
              <a:ea typeface="Segoe UI" pitchFamily="34" charset="-122"/>
              <a:cs typeface="Segoe UI" pitchFamily="34" charset="-120"/>
            </a:endParaRPr>
          </a:p>
        </p:txBody>
      </p:sp>
      <p:sp>
        <p:nvSpPr>
          <p:cNvPr id="6" name="Text 4"/>
          <p:cNvSpPr/>
          <p:nvPr/>
        </p:nvSpPr>
        <p:spPr>
          <a:xfrm>
            <a:off x="566928" y="1627632"/>
            <a:ext cx="5806440" cy="2340864"/>
          </a:xfrm>
          <a:prstGeom prst="rect">
            <a:avLst/>
          </a:prstGeom>
          <a:noFill/>
          <a:ln/>
        </p:spPr>
        <p:txBody>
          <a:bodyPr wrap="square" rtlCol="0" anchor="t"/>
          <a:lstStyle/>
          <a:p>
            <a:pPr marL="209550" indent="-209550">
              <a:lnSpc>
                <a:spcPct val="120000"/>
              </a:lnSpc>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商品一覧でも検索結果でもレシピの材料でも、どこからでもカートに入れられます</a:t>
            </a:r>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Thêm vào giỏ từ bất cứ đâu: danh sách sản phẩm, kết quả tìm kiếm, nguyên liệu công thức.</a:t>
            </a:r>
            <a:endParaRPr lang="en-US" sz="1150" dirty="0"/>
          </a:p>
          <a:p>
            <a:pPr marL="209550" indent="-209550">
              <a:lnSpc>
                <a:spcPct val="120000"/>
              </a:lnSpc>
              <a:spcBef>
                <a:spcPts val="900"/>
              </a:spcBef>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特売中の商品は割引価格を自動で当て、概算の合計金額を出します</a:t>
            </a:r>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Tự áp giá </a:t>
            </a:r>
            <a:r>
              <a:rPr lang="en-US" sz="950" dirty="0" err="1">
                <a:solidFill>
                  <a:srgbClr val="877258"/>
                </a:solidFill>
                <a:latin typeface="Segoe UI" pitchFamily="34" charset="0"/>
                <a:ea typeface="Segoe UI" pitchFamily="34" charset="-122"/>
                <a:cs typeface="Segoe UI" pitchFamily="34" charset="-120"/>
              </a:rPr>
              <a:t>khuyến</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mãi</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của</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sản</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phẩm</a:t>
            </a:r>
            <a:r>
              <a:rPr lang="en-US" sz="950" dirty="0">
                <a:solidFill>
                  <a:srgbClr val="877258"/>
                </a:solidFill>
                <a:latin typeface="Segoe UI" pitchFamily="34" charset="0"/>
                <a:ea typeface="Segoe UI" pitchFamily="34" charset="-122"/>
                <a:cs typeface="Segoe UI" pitchFamily="34" charset="-120"/>
              </a:rPr>
              <a:t> KM và hiện </a:t>
            </a:r>
            <a:r>
              <a:rPr lang="en-US" sz="950" dirty="0" err="1">
                <a:solidFill>
                  <a:srgbClr val="877258"/>
                </a:solidFill>
                <a:latin typeface="Segoe UI" pitchFamily="34" charset="0"/>
                <a:ea typeface="Segoe UI" pitchFamily="34" charset="-122"/>
                <a:cs typeface="Segoe UI" pitchFamily="34" charset="-120"/>
              </a:rPr>
              <a:t>số</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tiền</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tạm</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tính</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của</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đơn</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hàng</a:t>
            </a:r>
            <a:r>
              <a:rPr lang="en-US" sz="950" dirty="0">
                <a:solidFill>
                  <a:srgbClr val="877258"/>
                </a:solidFill>
                <a:latin typeface="Segoe UI" pitchFamily="34" charset="0"/>
                <a:ea typeface="Segoe UI" pitchFamily="34" charset="-122"/>
                <a:cs typeface="Segoe UI" pitchFamily="34" charset="-120"/>
              </a:rPr>
              <a:t>.</a:t>
            </a:r>
            <a:endParaRPr lang="en-US" sz="1150" dirty="0"/>
          </a:p>
          <a:p>
            <a:pPr marL="209550" indent="-209550">
              <a:lnSpc>
                <a:spcPct val="120000"/>
              </a:lnSpc>
              <a:spcBef>
                <a:spcPts val="900"/>
              </a:spcBef>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カートの内容を確認したあと、ボタン1つで shop.entstore.co.jp へつなぎます</a:t>
            </a:r>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Xem lại giỏ hàng </a:t>
            </a:r>
            <a:r>
              <a:rPr lang="en-US" sz="950" dirty="0" err="1">
                <a:solidFill>
                  <a:srgbClr val="877258"/>
                </a:solidFill>
                <a:latin typeface="Segoe UI" pitchFamily="34" charset="0"/>
                <a:ea typeface="Segoe UI" pitchFamily="34" charset="-122"/>
                <a:cs typeface="Segoe UI" pitchFamily="34" charset="-120"/>
              </a:rPr>
              <a:t>rồi</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bấm</a:t>
            </a:r>
            <a:r>
              <a:rPr lang="en-US" sz="950" dirty="0">
                <a:solidFill>
                  <a:srgbClr val="877258"/>
                </a:solidFill>
                <a:latin typeface="Segoe UI" pitchFamily="34" charset="0"/>
                <a:ea typeface="Segoe UI" pitchFamily="34" charset="-122"/>
                <a:cs typeface="Segoe UI" pitchFamily="34" charset="-120"/>
              </a:rPr>
              <a:t> là sang trang EC sẵn có để đặt mua.</a:t>
            </a:r>
          </a:p>
        </p:txBody>
      </p:sp>
      <p:sp>
        <p:nvSpPr>
          <p:cNvPr id="7" name="Shape 5"/>
          <p:cNvSpPr/>
          <p:nvPr/>
        </p:nvSpPr>
        <p:spPr>
          <a:xfrm>
            <a:off x="566928" y="4724781"/>
            <a:ext cx="5806440" cy="960120"/>
          </a:xfrm>
          <a:prstGeom prst="rect">
            <a:avLst/>
          </a:prstGeom>
          <a:solidFill>
            <a:srgbClr val="FBF0F1"/>
          </a:solidFill>
          <a:ln w="12700">
            <a:solidFill>
              <a:srgbClr val="FBF0F1"/>
            </a:solidFill>
            <a:prstDash val="solid"/>
          </a:ln>
        </p:spPr>
        <p:txBody>
          <a:bodyPr/>
          <a:lstStyle/>
          <a:p>
            <a:endParaRPr lang="en-US"/>
          </a:p>
        </p:txBody>
      </p:sp>
      <p:sp>
        <p:nvSpPr>
          <p:cNvPr id="8" name="Shape 6"/>
          <p:cNvSpPr/>
          <p:nvPr/>
        </p:nvSpPr>
        <p:spPr>
          <a:xfrm>
            <a:off x="566928" y="4724781"/>
            <a:ext cx="41148" cy="960120"/>
          </a:xfrm>
          <a:prstGeom prst="rect">
            <a:avLst/>
          </a:prstGeom>
          <a:solidFill>
            <a:srgbClr val="C7273B"/>
          </a:solidFill>
          <a:ln w="12700">
            <a:solidFill>
              <a:srgbClr val="C7273B"/>
            </a:solidFill>
            <a:prstDash val="solid"/>
          </a:ln>
        </p:spPr>
        <p:txBody>
          <a:bodyPr/>
          <a:lstStyle/>
          <a:p>
            <a:endParaRPr lang="en-US"/>
          </a:p>
        </p:txBody>
      </p:sp>
      <p:sp>
        <p:nvSpPr>
          <p:cNvPr id="9" name="Text 7"/>
          <p:cNvSpPr/>
          <p:nvPr/>
        </p:nvSpPr>
        <p:spPr>
          <a:xfrm>
            <a:off x="694944" y="4825365"/>
            <a:ext cx="658368" cy="457200"/>
          </a:xfrm>
          <a:prstGeom prst="rect">
            <a:avLst/>
          </a:prstGeom>
          <a:noFill/>
          <a:ln/>
        </p:spPr>
        <p:txBody>
          <a:bodyPr wrap="square" rtlCol="0" anchor="t"/>
          <a:lstStyle/>
          <a:p>
            <a:pPr marL="0" indent="0">
              <a:buNone/>
            </a:pPr>
            <a:r>
              <a:rPr lang="en-US" sz="950" b="1" dirty="0">
                <a:solidFill>
                  <a:srgbClr val="C7273B"/>
                </a:solidFill>
                <a:latin typeface="Yu Gothic" pitchFamily="34" charset="0"/>
                <a:ea typeface="Yu Gothic" pitchFamily="34" charset="-122"/>
                <a:cs typeface="Yu Gothic" pitchFamily="34" charset="-120"/>
              </a:rPr>
              <a:t>効果</a:t>
            </a:r>
            <a:endParaRPr lang="en-US" sz="950" dirty="0"/>
          </a:p>
          <a:p>
            <a:pPr marL="0" indent="0">
              <a:buNone/>
            </a:pPr>
            <a:r>
              <a:rPr lang="en-US" sz="800" b="1" dirty="0">
                <a:solidFill>
                  <a:srgbClr val="C7273B"/>
                </a:solidFill>
                <a:latin typeface="Segoe UI" pitchFamily="34" charset="0"/>
                <a:ea typeface="Segoe UI" pitchFamily="34" charset="-122"/>
                <a:cs typeface="Segoe UI" pitchFamily="34" charset="-120"/>
              </a:rPr>
              <a:t>LỢI ÍCH</a:t>
            </a:r>
            <a:endParaRPr lang="en-US" sz="950" dirty="0"/>
          </a:p>
        </p:txBody>
      </p:sp>
      <p:sp>
        <p:nvSpPr>
          <p:cNvPr id="10" name="Text 8"/>
          <p:cNvSpPr/>
          <p:nvPr/>
        </p:nvSpPr>
        <p:spPr>
          <a:xfrm>
            <a:off x="1408176" y="4816221"/>
            <a:ext cx="4837176" cy="777240"/>
          </a:xfrm>
          <a:prstGeom prst="rect">
            <a:avLst/>
          </a:prstGeom>
          <a:noFill/>
          <a:ln/>
        </p:spPr>
        <p:txBody>
          <a:bodyPr wrap="square" rtlCol="0" anchor="t"/>
          <a:lstStyle/>
          <a:p>
            <a:pPr marL="0" indent="0">
              <a:lnSpc>
                <a:spcPct val="120000"/>
              </a:lnSpc>
              <a:buNone/>
            </a:pPr>
            <a:r>
              <a:rPr lang="en-US" sz="1050" dirty="0">
                <a:solidFill>
                  <a:srgbClr val="2A1A0E"/>
                </a:solidFill>
                <a:latin typeface="Yu Gothic" pitchFamily="34" charset="0"/>
                <a:ea typeface="Yu Gothic" pitchFamily="34" charset="-122"/>
                <a:cs typeface="Yu Gothic" pitchFamily="34" charset="-120"/>
              </a:rPr>
              <a:t>気になった商品をその場で押さえられ、そのまま通販へお送りできます。</a:t>
            </a:r>
          </a:p>
          <a:p>
            <a:pPr marL="0" indent="0">
              <a:lnSpc>
                <a:spcPct val="115000"/>
              </a:lnSpc>
              <a:buNone/>
            </a:pPr>
            <a:r>
              <a:rPr lang="en-US" sz="950" dirty="0">
                <a:solidFill>
                  <a:srgbClr val="877258"/>
                </a:solidFill>
                <a:latin typeface="Segoe UI" pitchFamily="34" charset="0"/>
                <a:ea typeface="Segoe UI" pitchFamily="34" charset="-122"/>
                <a:cs typeface="Segoe UI" pitchFamily="34" charset="-120"/>
              </a:rPr>
              <a:t>Khách giữ được món vừa xem, rồi đi thẳng sang trang bán online.</a:t>
            </a:r>
          </a:p>
        </p:txBody>
      </p:sp>
      <p:sp>
        <p:nvSpPr>
          <p:cNvPr id="15" name="Text 12"/>
          <p:cNvSpPr/>
          <p:nvPr/>
        </p:nvSpPr>
        <p:spPr>
          <a:xfrm>
            <a:off x="6693408" y="5724144"/>
            <a:ext cx="2374240" cy="219456"/>
          </a:xfrm>
          <a:prstGeom prst="rect">
            <a:avLst/>
          </a:prstGeom>
          <a:noFill/>
          <a:ln/>
        </p:spPr>
        <p:txBody>
          <a:bodyPr wrap="square" rtlCol="0" anchor="ctr"/>
          <a:lstStyle/>
          <a:p>
            <a:pPr marL="0" indent="0" algn="ctr">
              <a:buNone/>
            </a:pPr>
            <a:endParaRPr lang="en-US" sz="850" dirty="0"/>
          </a:p>
        </p:txBody>
      </p:sp>
      <p:sp>
        <p:nvSpPr>
          <p:cNvPr id="17" name="Text 13"/>
          <p:cNvSpPr/>
          <p:nvPr/>
        </p:nvSpPr>
        <p:spPr>
          <a:xfrm>
            <a:off x="8125919" y="5684523"/>
            <a:ext cx="2048968" cy="219452"/>
          </a:xfrm>
          <a:prstGeom prst="rect">
            <a:avLst/>
          </a:prstGeom>
          <a:noFill/>
          <a:ln/>
        </p:spPr>
        <p:txBody>
          <a:bodyPr wrap="square" rtlCol="0" anchor="ctr"/>
          <a:lstStyle/>
          <a:p>
            <a:pPr marL="0" indent="0" algn="ctr">
              <a:buNone/>
            </a:pPr>
            <a:r>
              <a:rPr lang="en-US" sz="850" dirty="0">
                <a:solidFill>
                  <a:srgbClr val="877258"/>
                </a:solidFill>
                <a:latin typeface="Segoe UI" pitchFamily="34" charset="0"/>
                <a:ea typeface="Segoe UI" pitchFamily="34" charset="-122"/>
                <a:cs typeface="Segoe UI" pitchFamily="34" charset="-120"/>
              </a:rPr>
              <a:t>カート ／ Giỏ hàng</a:t>
            </a:r>
            <a:endParaRPr lang="en-US" sz="850" dirty="0"/>
          </a:p>
        </p:txBody>
      </p:sp>
      <p:sp>
        <p:nvSpPr>
          <p:cNvPr id="18" name="Text 14"/>
          <p:cNvSpPr/>
          <p:nvPr/>
        </p:nvSpPr>
        <p:spPr>
          <a:xfrm>
            <a:off x="8351215" y="6473952"/>
            <a:ext cx="3291840" cy="228600"/>
          </a:xfrm>
          <a:prstGeom prst="rect">
            <a:avLst/>
          </a:prstGeom>
          <a:noFill/>
          <a:ln/>
        </p:spPr>
        <p:txBody>
          <a:bodyPr wrap="square" rtlCol="0" anchor="ctr"/>
          <a:lstStyle/>
          <a:p>
            <a:pPr marL="0" indent="0" algn="r">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pic>
        <p:nvPicPr>
          <p:cNvPr id="20" name="Picture 19">
            <a:extLst>
              <a:ext uri="{FF2B5EF4-FFF2-40B4-BE49-F238E27FC236}">
                <a16:creationId xmlns:a16="http://schemas.microsoft.com/office/drawing/2014/main" id="{1389D05F-33F3-0DF1-7221-FF951644183A}"/>
              </a:ext>
            </a:extLst>
          </p:cNvPr>
          <p:cNvPicPr>
            <a:picLocks noChangeAspect="1"/>
          </p:cNvPicPr>
          <p:nvPr/>
        </p:nvPicPr>
        <p:blipFill>
          <a:blip r:embed="rId3"/>
          <a:stretch>
            <a:fillRect/>
          </a:stretch>
        </p:blipFill>
        <p:spPr>
          <a:xfrm>
            <a:off x="6803751" y="1499616"/>
            <a:ext cx="4693305" cy="400735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marL="0" indent="0">
              <a:buNone/>
            </a:pPr>
            <a:r>
              <a:rPr lang="en-US" sz="1050" b="1" kern="0" spc="100" dirty="0">
                <a:solidFill>
                  <a:srgbClr val="C7273B"/>
                </a:solidFill>
                <a:latin typeface="Yu Gothic" pitchFamily="34" charset="0"/>
                <a:ea typeface="Yu Gothic" pitchFamily="34" charset="-122"/>
                <a:cs typeface="Yu Gothic" pitchFamily="34" charset="-120"/>
              </a:rPr>
              <a:t>補助機能：特売情報</a:t>
            </a:r>
            <a:r>
              <a:rPr lang="en-US" sz="1000" b="1" kern="0" spc="100" dirty="0">
                <a:solidFill>
                  <a:srgbClr val="877258"/>
                </a:solidFill>
                <a:latin typeface="Segoe UI" pitchFamily="34" charset="0"/>
                <a:ea typeface="Segoe UI" pitchFamily="34" charset="-122"/>
                <a:cs typeface="Segoe UI" pitchFamily="34" charset="-120"/>
              </a:rPr>
              <a:t>　／ TÍNH NĂNG PHỤ · KHUYẾN MÃI</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txBody>
          <a:bodyPr/>
          <a:lstStyle/>
          <a:p>
            <a:endParaRPr lang="en-US"/>
          </a:p>
        </p:txBody>
      </p:sp>
      <p:sp>
        <p:nvSpPr>
          <p:cNvPr id="4" name="Text 2"/>
          <p:cNvSpPr/>
          <p:nvPr/>
        </p:nvSpPr>
        <p:spPr>
          <a:xfrm>
            <a:off x="566928" y="713232"/>
            <a:ext cx="11057839" cy="502920"/>
          </a:xfrm>
          <a:prstGeom prst="rect">
            <a:avLst/>
          </a:prstGeom>
          <a:noFill/>
          <a:ln/>
        </p:spPr>
        <p:txBody>
          <a:bodyPr wrap="square" rtlCol="0" anchor="ctr"/>
          <a:lstStyle/>
          <a:p>
            <a:pPr marL="0" indent="0">
              <a:buNone/>
            </a:pPr>
            <a:r>
              <a:rPr lang="en-US" sz="2700" b="1" dirty="0">
                <a:solidFill>
                  <a:srgbClr val="331E0E"/>
                </a:solidFill>
                <a:latin typeface="Yu Mincho" pitchFamily="34" charset="0"/>
                <a:ea typeface="Yu Mincho" pitchFamily="34" charset="-122"/>
                <a:cs typeface="Yu Mincho" pitchFamily="34" charset="-120"/>
              </a:rPr>
              <a:t>特売情報の掲載と管理</a:t>
            </a:r>
            <a:endParaRPr lang="en-US" sz="2700" dirty="0"/>
          </a:p>
        </p:txBody>
      </p:sp>
      <p:sp>
        <p:nvSpPr>
          <p:cNvPr id="5" name="Text 3"/>
          <p:cNvSpPr/>
          <p:nvPr/>
        </p:nvSpPr>
        <p:spPr>
          <a:xfrm>
            <a:off x="566928" y="1225296"/>
            <a:ext cx="11057839" cy="274320"/>
          </a:xfrm>
          <a:prstGeom prst="rect">
            <a:avLst/>
          </a:prstGeom>
          <a:noFill/>
          <a:ln/>
        </p:spPr>
        <p:txBody>
          <a:bodyPr wrap="square" rtlCol="0" anchor="ctr"/>
          <a:lstStyle/>
          <a:p>
            <a:pPr marL="0" indent="0">
              <a:buNone/>
            </a:pPr>
            <a:r>
              <a:rPr lang="en-US" sz="1250" dirty="0">
                <a:solidFill>
                  <a:srgbClr val="877258"/>
                </a:solidFill>
                <a:latin typeface="Segoe UI" pitchFamily="34" charset="0"/>
                <a:ea typeface="Segoe UI" pitchFamily="34" charset="-122"/>
                <a:cs typeface="Segoe UI" pitchFamily="34" charset="-120"/>
              </a:rPr>
              <a:t>Đăng và quản lý thông tin khuyến mãi</a:t>
            </a:r>
            <a:endParaRPr lang="en-US" sz="1250" dirty="0"/>
          </a:p>
        </p:txBody>
      </p:sp>
      <p:sp>
        <p:nvSpPr>
          <p:cNvPr id="6" name="Text 4"/>
          <p:cNvSpPr/>
          <p:nvPr/>
        </p:nvSpPr>
        <p:spPr>
          <a:xfrm>
            <a:off x="566928" y="1627632"/>
            <a:ext cx="3969213" cy="3108960"/>
          </a:xfrm>
          <a:prstGeom prst="rect">
            <a:avLst/>
          </a:prstGeom>
          <a:noFill/>
          <a:ln/>
        </p:spPr>
        <p:txBody>
          <a:bodyPr wrap="square" rtlCol="0" anchor="t"/>
          <a:lstStyle/>
          <a:p>
            <a:pPr marL="209550" indent="-209550">
              <a:lnSpc>
                <a:spcPct val="120000"/>
              </a:lnSpc>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元になるのは、トップページのバナーとチラシです</a:t>
            </a:r>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Lấy từ banner và tờ rơi khuyến mãi trên trang chủ.</a:t>
            </a:r>
          </a:p>
          <a:p>
            <a:pPr marL="209550" indent="-209550">
              <a:lnSpc>
                <a:spcPct val="120000"/>
              </a:lnSpc>
              <a:spcBef>
                <a:spcPts val="900"/>
              </a:spcBef>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売場ごとに並べ、「あと3日」と残り日数を表示</a:t>
            </a:r>
            <a:endParaRPr lang="en-US" sz="1150" dirty="0"/>
          </a:p>
          <a:p>
            <a:pPr marL="209550" indent="0">
              <a:lnSpc>
                <a:spcPct val="115000"/>
              </a:lnSpc>
              <a:buNone/>
            </a:pPr>
            <a:r>
              <a:rPr lang="en-US" sz="950" dirty="0">
                <a:solidFill>
                  <a:srgbClr val="877258"/>
                </a:solidFill>
                <a:latin typeface="Segoe UI" pitchFamily="34" charset="0"/>
                <a:ea typeface="Segoe UI" pitchFamily="34" charset="-122"/>
                <a:cs typeface="Segoe UI" pitchFamily="34" charset="-120"/>
              </a:rPr>
              <a:t>Nhóm theo quầy, đếm ngược số ngày còn lại.</a:t>
            </a:r>
            <a:endParaRPr lang="en-US" sz="1150" dirty="0"/>
          </a:p>
          <a:p>
            <a:pPr marL="209550" indent="-209550">
              <a:lnSpc>
                <a:spcPct val="120000"/>
              </a:lnSpc>
              <a:spcBef>
                <a:spcPts val="900"/>
              </a:spcBef>
              <a:buFont typeface="Yu Gothic" pitchFamily="49" charset="-128"/>
              <a:buChar char="■"/>
            </a:pPr>
            <a:r>
              <a:rPr lang="en-US" sz="1150" b="1" dirty="0">
                <a:solidFill>
                  <a:srgbClr val="2A1A0E"/>
                </a:solidFill>
                <a:latin typeface="Yu Gothic" pitchFamily="34" charset="0"/>
                <a:ea typeface="Yu Gothic" pitchFamily="34" charset="-122"/>
                <a:cs typeface="Yu Gothic" pitchFamily="34" charset="-120"/>
              </a:rPr>
              <a:t>実施中の特売だけを表示します</a:t>
            </a:r>
          </a:p>
          <a:p>
            <a:pPr marL="209550" indent="0">
              <a:lnSpc>
                <a:spcPct val="115000"/>
              </a:lnSpc>
              <a:buNone/>
            </a:pPr>
            <a:r>
              <a:rPr lang="en-US" sz="950" dirty="0" err="1">
                <a:solidFill>
                  <a:srgbClr val="877258"/>
                </a:solidFill>
                <a:latin typeface="Segoe UI" pitchFamily="34" charset="0"/>
                <a:ea typeface="Segoe UI" pitchFamily="34" charset="-122"/>
                <a:cs typeface="Segoe UI" pitchFamily="34" charset="-120"/>
              </a:rPr>
              <a:t>Chỉ</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hiện</a:t>
            </a:r>
            <a:r>
              <a:rPr lang="en-US" sz="950" dirty="0">
                <a:solidFill>
                  <a:srgbClr val="877258"/>
                </a:solidFill>
                <a:latin typeface="Segoe UI" pitchFamily="34" charset="0"/>
                <a:ea typeface="Segoe UI" pitchFamily="34" charset="-122"/>
                <a:cs typeface="Segoe UI" pitchFamily="34" charset="-120"/>
              </a:rPr>
              <a:t> KM </a:t>
            </a:r>
            <a:r>
              <a:rPr lang="en-US" sz="950" dirty="0" err="1">
                <a:solidFill>
                  <a:srgbClr val="877258"/>
                </a:solidFill>
                <a:latin typeface="Segoe UI" pitchFamily="34" charset="0"/>
                <a:ea typeface="Segoe UI" pitchFamily="34" charset="-122"/>
                <a:cs typeface="Segoe UI" pitchFamily="34" charset="-120"/>
              </a:rPr>
              <a:t>đang</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chạy</a:t>
            </a:r>
            <a:r>
              <a:rPr lang="en-US" sz="950" dirty="0">
                <a:solidFill>
                  <a:srgbClr val="877258"/>
                </a:solidFill>
                <a:latin typeface="Segoe UI" pitchFamily="34" charset="0"/>
                <a:ea typeface="Segoe UI" pitchFamily="34" charset="-122"/>
                <a:cs typeface="Segoe UI" pitchFamily="34" charset="-120"/>
              </a:rPr>
              <a:t>.</a:t>
            </a:r>
          </a:p>
          <a:p>
            <a:pPr marL="209550" indent="-209550">
              <a:lnSpc>
                <a:spcPct val="120000"/>
              </a:lnSpc>
              <a:spcBef>
                <a:spcPts val="900"/>
              </a:spcBef>
              <a:buFont typeface="Yu Gothic" pitchFamily="49" charset="-128"/>
              <a:buChar char="■"/>
            </a:pPr>
            <a:r>
              <a:rPr lang="en-US" sz="1150" b="1" dirty="0" err="1">
                <a:solidFill>
                  <a:srgbClr val="2A1A0E"/>
                </a:solidFill>
                <a:latin typeface="Yu Gothic" pitchFamily="34" charset="0"/>
                <a:ea typeface="Yu Gothic" pitchFamily="34" charset="-122"/>
                <a:cs typeface="Yu Gothic" pitchFamily="34" charset="-120"/>
              </a:rPr>
              <a:t>フォームのほか、お使いのExcelのまま登録できます</a:t>
            </a:r>
            <a:endParaRPr lang="en-US" sz="1150" b="1" dirty="0">
              <a:solidFill>
                <a:srgbClr val="2A1A0E"/>
              </a:solidFill>
              <a:latin typeface="Yu Gothic" pitchFamily="34" charset="0"/>
              <a:ea typeface="Yu Gothic" pitchFamily="34" charset="-122"/>
              <a:cs typeface="Yu Gothic" pitchFamily="34" charset="-120"/>
            </a:endParaRPr>
          </a:p>
          <a:p>
            <a:pPr marL="209550" marR="0" lvl="0" indent="0" algn="l" defTabSz="914400" rtl="0" eaLnBrk="1" fontAlgn="auto" latinLnBrk="0" hangingPunct="1">
              <a:lnSpc>
                <a:spcPct val="115000"/>
              </a:lnSpc>
              <a:spcBef>
                <a:spcPts val="0"/>
              </a:spcBef>
              <a:spcAft>
                <a:spcPts val="0"/>
              </a:spcAft>
              <a:buClrTx/>
              <a:buSzTx/>
              <a:tabLst/>
              <a:defRPr/>
            </a:pPr>
            <a:r>
              <a:rPr lang="en-US" sz="950" dirty="0" err="1">
                <a:solidFill>
                  <a:srgbClr val="877258"/>
                </a:solidFill>
                <a:latin typeface="Segoe UI" pitchFamily="34" charset="0"/>
                <a:ea typeface="Segoe UI" pitchFamily="34" charset="-122"/>
                <a:cs typeface="Segoe UI" pitchFamily="34" charset="-120"/>
              </a:rPr>
              <a:t>Nhân</a:t>
            </a:r>
            <a:r>
              <a:rPr lang="en-US" sz="950" dirty="0">
                <a:solidFill>
                  <a:srgbClr val="877258"/>
                </a:solidFill>
                <a:latin typeface="Segoe UI" pitchFamily="34" charset="0"/>
                <a:ea typeface="Segoe UI" pitchFamily="34" charset="-122"/>
                <a:cs typeface="Segoe UI" pitchFamily="34" charset="-120"/>
              </a:rPr>
              <a:t> viên đăng bằng form, hoặc tải thẳng file Excel danh sách KM.</a:t>
            </a:r>
          </a:p>
          <a:p>
            <a:pPr marL="209550" marR="0" lvl="0" indent="-209550" algn="l" defTabSz="914400" rtl="0" eaLnBrk="1" fontAlgn="auto" latinLnBrk="0" hangingPunct="1">
              <a:lnSpc>
                <a:spcPct val="120000"/>
              </a:lnSpc>
              <a:spcBef>
                <a:spcPts val="900"/>
              </a:spcBef>
              <a:spcAft>
                <a:spcPts val="0"/>
              </a:spcAft>
              <a:buClrTx/>
              <a:buSzTx/>
              <a:buFont typeface="Yu Gothic" pitchFamily="49" charset="-128"/>
              <a:buChar char="■"/>
              <a:tabLst/>
              <a:defRPr/>
            </a:pPr>
            <a:r>
              <a:rPr lang="en-US" sz="1150" b="1" dirty="0">
                <a:solidFill>
                  <a:srgbClr val="2A1A0E"/>
                </a:solidFill>
                <a:latin typeface="Yu Gothic" pitchFamily="34" charset="0"/>
                <a:ea typeface="Yu Gothic" pitchFamily="34" charset="-122"/>
                <a:cs typeface="Yu Gothic" pitchFamily="34" charset="-120"/>
              </a:rPr>
              <a:t>各商品に「レシピを探す」ボタンを用意</a:t>
            </a:r>
          </a:p>
          <a:p>
            <a:pPr marL="209550" marR="0" lvl="0" indent="0" algn="l" defTabSz="914400" rtl="0" eaLnBrk="1" fontAlgn="auto" latinLnBrk="0" hangingPunct="1">
              <a:lnSpc>
                <a:spcPct val="115000"/>
              </a:lnSpc>
              <a:spcBef>
                <a:spcPts val="0"/>
              </a:spcBef>
              <a:spcAft>
                <a:spcPts val="0"/>
              </a:spcAft>
              <a:buClrTx/>
              <a:buSzTx/>
              <a:tabLst/>
              <a:defRPr/>
            </a:pPr>
            <a:r>
              <a:rPr kumimoji="0" lang="en-US" sz="950" b="0" i="0" u="none" strike="noStrike" kern="1200" cap="none" spc="0" normalizeH="0" baseline="0" noProof="0" dirty="0">
                <a:ln>
                  <a:noFill/>
                </a:ln>
                <a:solidFill>
                  <a:srgbClr val="877258"/>
                </a:solidFill>
                <a:effectLst/>
                <a:uLnTx/>
                <a:uFillTx/>
                <a:latin typeface="Segoe UI" pitchFamily="34" charset="0"/>
                <a:ea typeface="Segoe UI" pitchFamily="34" charset="-122"/>
                <a:cs typeface="Segoe UI" pitchFamily="34" charset="-120"/>
              </a:rPr>
              <a:t>Mỗi sản phẩm đều có nút tìm công thức liên quan.</a:t>
            </a:r>
          </a:p>
          <a:p>
            <a:pPr marL="0" indent="0">
              <a:lnSpc>
                <a:spcPct val="115000"/>
              </a:lnSpc>
              <a:buNone/>
            </a:pPr>
            <a:endParaRPr lang="en-US" sz="1150" dirty="0"/>
          </a:p>
        </p:txBody>
      </p:sp>
      <p:sp>
        <p:nvSpPr>
          <p:cNvPr id="7" name="Shape 5"/>
          <p:cNvSpPr/>
          <p:nvPr/>
        </p:nvSpPr>
        <p:spPr>
          <a:xfrm>
            <a:off x="566928" y="4846320"/>
            <a:ext cx="4031966" cy="992505"/>
          </a:xfrm>
          <a:prstGeom prst="rect">
            <a:avLst/>
          </a:prstGeom>
          <a:solidFill>
            <a:srgbClr val="FBF0F1"/>
          </a:solidFill>
          <a:ln w="12700">
            <a:solidFill>
              <a:srgbClr val="FBF0F1"/>
            </a:solidFill>
            <a:prstDash val="solid"/>
          </a:ln>
        </p:spPr>
        <p:txBody>
          <a:bodyPr/>
          <a:lstStyle/>
          <a:p>
            <a:endParaRPr lang="en-US"/>
          </a:p>
        </p:txBody>
      </p:sp>
      <p:sp>
        <p:nvSpPr>
          <p:cNvPr id="8" name="Shape 6"/>
          <p:cNvSpPr/>
          <p:nvPr/>
        </p:nvSpPr>
        <p:spPr>
          <a:xfrm>
            <a:off x="566927" y="4846320"/>
            <a:ext cx="45719" cy="992503"/>
          </a:xfrm>
          <a:prstGeom prst="rect">
            <a:avLst/>
          </a:prstGeom>
          <a:solidFill>
            <a:srgbClr val="C7273B"/>
          </a:solidFill>
          <a:ln w="12700">
            <a:solidFill>
              <a:srgbClr val="C7273B"/>
            </a:solidFill>
            <a:prstDash val="solid"/>
          </a:ln>
        </p:spPr>
        <p:txBody>
          <a:bodyPr/>
          <a:lstStyle/>
          <a:p>
            <a:endParaRPr lang="en-US"/>
          </a:p>
        </p:txBody>
      </p:sp>
      <p:sp>
        <p:nvSpPr>
          <p:cNvPr id="9" name="Text 7"/>
          <p:cNvSpPr/>
          <p:nvPr/>
        </p:nvSpPr>
        <p:spPr>
          <a:xfrm>
            <a:off x="694944" y="4946904"/>
            <a:ext cx="658368" cy="457200"/>
          </a:xfrm>
          <a:prstGeom prst="rect">
            <a:avLst/>
          </a:prstGeom>
          <a:noFill/>
          <a:ln/>
        </p:spPr>
        <p:txBody>
          <a:bodyPr wrap="square" rtlCol="0" anchor="t"/>
          <a:lstStyle/>
          <a:p>
            <a:pPr marL="0" indent="0">
              <a:buNone/>
            </a:pPr>
            <a:r>
              <a:rPr lang="en-US" sz="950" b="1" dirty="0">
                <a:solidFill>
                  <a:srgbClr val="C7273B"/>
                </a:solidFill>
                <a:latin typeface="Yu Gothic" pitchFamily="34" charset="0"/>
                <a:ea typeface="Yu Gothic" pitchFamily="34" charset="-122"/>
                <a:cs typeface="Yu Gothic" pitchFamily="34" charset="-120"/>
              </a:rPr>
              <a:t>効果</a:t>
            </a:r>
            <a:endParaRPr lang="en-US" sz="950" dirty="0"/>
          </a:p>
          <a:p>
            <a:pPr marL="0" indent="0">
              <a:buNone/>
            </a:pPr>
            <a:r>
              <a:rPr lang="en-US" sz="800" b="1" dirty="0">
                <a:solidFill>
                  <a:srgbClr val="C7273B"/>
                </a:solidFill>
                <a:latin typeface="Segoe UI" pitchFamily="34" charset="0"/>
                <a:ea typeface="Segoe UI" pitchFamily="34" charset="-122"/>
                <a:cs typeface="Segoe UI" pitchFamily="34" charset="-120"/>
              </a:rPr>
              <a:t>LỢI ÍCH</a:t>
            </a:r>
            <a:endParaRPr lang="en-US" sz="950" dirty="0"/>
          </a:p>
        </p:txBody>
      </p:sp>
      <p:sp>
        <p:nvSpPr>
          <p:cNvPr id="10" name="Text 8"/>
          <p:cNvSpPr/>
          <p:nvPr/>
        </p:nvSpPr>
        <p:spPr>
          <a:xfrm>
            <a:off x="1408176" y="4937760"/>
            <a:ext cx="3190718" cy="901065"/>
          </a:xfrm>
          <a:prstGeom prst="rect">
            <a:avLst/>
          </a:prstGeom>
          <a:noFill/>
          <a:ln/>
        </p:spPr>
        <p:txBody>
          <a:bodyPr wrap="square" rtlCol="0" anchor="t"/>
          <a:lstStyle/>
          <a:p>
            <a:pPr marL="0" indent="0">
              <a:lnSpc>
                <a:spcPct val="120000"/>
              </a:lnSpc>
              <a:buNone/>
            </a:pPr>
            <a:r>
              <a:rPr lang="en-US" sz="1050" dirty="0">
                <a:solidFill>
                  <a:srgbClr val="2A1A0E"/>
                </a:solidFill>
                <a:latin typeface="Yu Gothic" pitchFamily="34" charset="0"/>
                <a:ea typeface="Yu Gothic" pitchFamily="34" charset="-122"/>
                <a:cs typeface="Yu Gothic" pitchFamily="34" charset="-120"/>
              </a:rPr>
              <a:t>チラシの特売が検索やチャットボットからも見つかります。期限切れは表示されません。</a:t>
            </a:r>
          </a:p>
          <a:p>
            <a:pPr marL="0" indent="0">
              <a:lnSpc>
                <a:spcPct val="115000"/>
              </a:lnSpc>
              <a:buNone/>
            </a:pPr>
            <a:r>
              <a:rPr lang="en-US" sz="950" dirty="0">
                <a:solidFill>
                  <a:srgbClr val="877258"/>
                </a:solidFill>
                <a:latin typeface="Segoe UI" pitchFamily="34" charset="0"/>
                <a:ea typeface="Segoe UI" pitchFamily="34" charset="-122"/>
                <a:cs typeface="Segoe UI" pitchFamily="34" charset="-120"/>
              </a:rPr>
              <a:t>Khuyến mãi trên tờ rơi cũng tìm được bằng ô tìm kiếm và chatbot; hết hạn là </a:t>
            </a:r>
            <a:r>
              <a:rPr lang="en-US" sz="950" dirty="0" err="1">
                <a:solidFill>
                  <a:srgbClr val="877258"/>
                </a:solidFill>
                <a:latin typeface="Segoe UI" pitchFamily="34" charset="0"/>
                <a:ea typeface="Segoe UI" pitchFamily="34" charset="-122"/>
                <a:cs typeface="Segoe UI" pitchFamily="34" charset="-120"/>
              </a:rPr>
              <a:t>không</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hiển</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thị</a:t>
            </a:r>
            <a:r>
              <a:rPr lang="en-US" sz="950" dirty="0">
                <a:solidFill>
                  <a:srgbClr val="877258"/>
                </a:solidFill>
                <a:latin typeface="Segoe UI" pitchFamily="34" charset="0"/>
                <a:ea typeface="Segoe UI" pitchFamily="34" charset="-122"/>
                <a:cs typeface="Segoe UI" pitchFamily="34" charset="-120"/>
              </a:rPr>
              <a:t> </a:t>
            </a:r>
            <a:r>
              <a:rPr lang="en-US" sz="950" dirty="0" err="1">
                <a:solidFill>
                  <a:srgbClr val="877258"/>
                </a:solidFill>
                <a:latin typeface="Segoe UI" pitchFamily="34" charset="0"/>
                <a:ea typeface="Segoe UI" pitchFamily="34" charset="-122"/>
                <a:cs typeface="Segoe UI" pitchFamily="34" charset="-120"/>
              </a:rPr>
              <a:t>lại</a:t>
            </a:r>
            <a:r>
              <a:rPr lang="en-US" sz="950" dirty="0">
                <a:solidFill>
                  <a:srgbClr val="877258"/>
                </a:solidFill>
                <a:latin typeface="Segoe UI" pitchFamily="34" charset="0"/>
                <a:ea typeface="Segoe UI" pitchFamily="34" charset="-122"/>
                <a:cs typeface="Segoe UI" pitchFamily="34" charset="-120"/>
              </a:rPr>
              <a:t> trên web.</a:t>
            </a:r>
          </a:p>
        </p:txBody>
      </p:sp>
      <p:sp>
        <p:nvSpPr>
          <p:cNvPr id="12" name="Text 9"/>
          <p:cNvSpPr/>
          <p:nvPr/>
        </p:nvSpPr>
        <p:spPr>
          <a:xfrm>
            <a:off x="6693408" y="5724144"/>
            <a:ext cx="2374240" cy="219456"/>
          </a:xfrm>
          <a:prstGeom prst="rect">
            <a:avLst/>
          </a:prstGeom>
          <a:noFill/>
          <a:ln/>
        </p:spPr>
        <p:txBody>
          <a:bodyPr wrap="square" rtlCol="0" anchor="ctr"/>
          <a:lstStyle/>
          <a:p>
            <a:pPr marL="0" indent="0" algn="ctr">
              <a:buNone/>
            </a:pPr>
            <a:r>
              <a:rPr lang="en-US" sz="850" dirty="0">
                <a:solidFill>
                  <a:srgbClr val="877258"/>
                </a:solidFill>
                <a:latin typeface="Segoe UI" pitchFamily="34" charset="0"/>
                <a:ea typeface="Segoe UI" pitchFamily="34" charset="-122"/>
                <a:cs typeface="Segoe UI" pitchFamily="34" charset="-120"/>
              </a:rPr>
              <a:t>特売情報ページ ／ Trang khuyến mãi</a:t>
            </a:r>
            <a:endParaRPr lang="en-US" sz="850" dirty="0"/>
          </a:p>
        </p:txBody>
      </p:sp>
      <p:sp>
        <p:nvSpPr>
          <p:cNvPr id="14" name="Text 10"/>
          <p:cNvSpPr/>
          <p:nvPr/>
        </p:nvSpPr>
        <p:spPr>
          <a:xfrm>
            <a:off x="9250528" y="5724144"/>
            <a:ext cx="2374240" cy="219456"/>
          </a:xfrm>
          <a:prstGeom prst="rect">
            <a:avLst/>
          </a:prstGeom>
          <a:noFill/>
          <a:ln/>
        </p:spPr>
        <p:txBody>
          <a:bodyPr wrap="square" rtlCol="0" anchor="ctr"/>
          <a:lstStyle/>
          <a:p>
            <a:pPr marL="0" indent="0" algn="ctr">
              <a:buNone/>
            </a:pPr>
            <a:r>
              <a:rPr lang="en-US" sz="850" dirty="0">
                <a:solidFill>
                  <a:srgbClr val="877258"/>
                </a:solidFill>
                <a:latin typeface="Segoe UI" pitchFamily="34" charset="0"/>
                <a:ea typeface="Segoe UI" pitchFamily="34" charset="-122"/>
                <a:cs typeface="Segoe UI" pitchFamily="34" charset="-120"/>
              </a:rPr>
              <a:t>管理画面 ／ Màn hình quản lý</a:t>
            </a:r>
            <a:endParaRPr lang="en-US" sz="850" dirty="0"/>
          </a:p>
        </p:txBody>
      </p:sp>
      <p:sp>
        <p:nvSpPr>
          <p:cNvPr id="15" name="Text 11"/>
          <p:cNvSpPr/>
          <p:nvPr/>
        </p:nvSpPr>
        <p:spPr>
          <a:xfrm>
            <a:off x="8351215" y="6473952"/>
            <a:ext cx="3291840" cy="228600"/>
          </a:xfrm>
          <a:prstGeom prst="rect">
            <a:avLst/>
          </a:prstGeom>
          <a:noFill/>
          <a:ln/>
        </p:spPr>
        <p:txBody>
          <a:bodyPr wrap="square" rtlCol="0" anchor="ctr"/>
          <a:lstStyle/>
          <a:p>
            <a:pPr marL="0" indent="0" algn="r">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pic>
        <p:nvPicPr>
          <p:cNvPr id="21" name="Picture 20">
            <a:extLst>
              <a:ext uri="{FF2B5EF4-FFF2-40B4-BE49-F238E27FC236}">
                <a16:creationId xmlns:a16="http://schemas.microsoft.com/office/drawing/2014/main" id="{16EB7E9D-3D1A-8D45-0F47-7552B1CA42D1}"/>
              </a:ext>
            </a:extLst>
          </p:cNvPr>
          <p:cNvPicPr>
            <a:picLocks noChangeAspect="1"/>
          </p:cNvPicPr>
          <p:nvPr/>
        </p:nvPicPr>
        <p:blipFill>
          <a:blip r:embed="rId3"/>
          <a:stretch>
            <a:fillRect/>
          </a:stretch>
        </p:blipFill>
        <p:spPr>
          <a:xfrm>
            <a:off x="8326967" y="1362456"/>
            <a:ext cx="3578558" cy="4183380"/>
          </a:xfrm>
          <a:prstGeom prst="rect">
            <a:avLst/>
          </a:prstGeom>
        </p:spPr>
      </p:pic>
      <p:pic>
        <p:nvPicPr>
          <p:cNvPr id="23" name="Picture 22">
            <a:extLst>
              <a:ext uri="{FF2B5EF4-FFF2-40B4-BE49-F238E27FC236}">
                <a16:creationId xmlns:a16="http://schemas.microsoft.com/office/drawing/2014/main" id="{88CE45DD-4F0C-7E81-24D8-2212E849EB17}"/>
              </a:ext>
            </a:extLst>
          </p:cNvPr>
          <p:cNvPicPr>
            <a:picLocks noChangeAspect="1"/>
          </p:cNvPicPr>
          <p:nvPr/>
        </p:nvPicPr>
        <p:blipFill>
          <a:blip r:embed="rId4"/>
          <a:stretch>
            <a:fillRect/>
          </a:stretch>
        </p:blipFill>
        <p:spPr>
          <a:xfrm>
            <a:off x="4685761" y="1431036"/>
            <a:ext cx="3584457" cy="41148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marL="0" indent="0" eaLnBrk="1" latinLnBrk="0" hangingPunct="1">
              <a:buNone/>
            </a:pPr>
            <a:r>
              <a:rPr lang="ja-JP" altLang="en-US" sz="1050" b="1" kern="0" spc="100" dirty="0">
                <a:solidFill>
                  <a:srgbClr val="C7273B"/>
                </a:solidFill>
                <a:latin typeface="Yu Gothic" pitchFamily="34" charset="0"/>
                <a:ea typeface="Yu Gothic" pitchFamily="34" charset="-122"/>
                <a:cs typeface="Yu Gothic" pitchFamily="34" charset="-120"/>
              </a:rPr>
              <a:t>まとめ</a:t>
            </a:r>
            <a:r>
              <a:rPr lang="ja-JP" altLang="en-US" sz="1000" b="1" kern="0" spc="100" dirty="0">
                <a:solidFill>
                  <a:srgbClr val="877258"/>
                </a:solidFill>
                <a:latin typeface="Segoe UI" pitchFamily="34" charset="0"/>
                <a:ea typeface="Segoe UI" pitchFamily="34" charset="-122"/>
                <a:cs typeface="Segoe UI" pitchFamily="34" charset="-120"/>
              </a:rPr>
              <a:t>　／ TỔNG KẾT</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txBody>
          <a:bodyPr/>
          <a:lstStyle/>
          <a:p>
            <a:endParaRPr lang="en-US"/>
          </a:p>
        </p:txBody>
      </p:sp>
      <p:sp>
        <p:nvSpPr>
          <p:cNvPr id="4" name="Text 2"/>
          <p:cNvSpPr/>
          <p:nvPr/>
        </p:nvSpPr>
        <p:spPr>
          <a:xfrm>
            <a:off x="566928" y="713232"/>
            <a:ext cx="11057839" cy="502920"/>
          </a:xfrm>
          <a:prstGeom prst="rect">
            <a:avLst/>
          </a:prstGeom>
          <a:noFill/>
          <a:ln/>
        </p:spPr>
        <p:txBody>
          <a:bodyPr wrap="square" rtlCol="0" anchor="ctr"/>
          <a:lstStyle/>
          <a:p>
            <a:pPr marL="0" indent="0" eaLnBrk="1" latinLnBrk="0" hangingPunct="1">
              <a:buNone/>
            </a:pPr>
            <a:r>
              <a:rPr lang="ja-JP" altLang="en-US" sz="2700" b="1" dirty="0">
                <a:solidFill>
                  <a:srgbClr val="331E0E"/>
                </a:solidFill>
                <a:latin typeface="Yu Mincho" pitchFamily="34" charset="0"/>
                <a:ea typeface="Yu Mincho" pitchFamily="34" charset="-122"/>
                <a:cs typeface="Yu Mincho" pitchFamily="34" charset="-120"/>
              </a:rPr>
              <a:t>5つの機能で期待できる効果</a:t>
            </a:r>
          </a:p>
        </p:txBody>
      </p:sp>
      <p:sp>
        <p:nvSpPr>
          <p:cNvPr id="5" name="Text 3"/>
          <p:cNvSpPr/>
          <p:nvPr/>
        </p:nvSpPr>
        <p:spPr>
          <a:xfrm>
            <a:off x="566928" y="1225296"/>
            <a:ext cx="11057839" cy="274320"/>
          </a:xfrm>
          <a:prstGeom prst="rect">
            <a:avLst/>
          </a:prstGeom>
          <a:noFill/>
          <a:ln/>
        </p:spPr>
        <p:txBody>
          <a:bodyPr wrap="square" rtlCol="0" anchor="ctr"/>
          <a:lstStyle/>
          <a:p>
            <a:pPr marL="0" indent="0" eaLnBrk="1" latinLnBrk="0" hangingPunct="1">
              <a:buNone/>
            </a:pPr>
            <a:r>
              <a:rPr lang="en-US" sz="1250" dirty="0" err="1">
                <a:solidFill>
                  <a:srgbClr val="877258"/>
                </a:solidFill>
                <a:latin typeface="Segoe UI" pitchFamily="34" charset="0"/>
                <a:ea typeface="Segoe UI" pitchFamily="34" charset="-122"/>
                <a:cs typeface="Segoe UI" pitchFamily="34" charset="-120"/>
              </a:rPr>
              <a:t>Kết</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quả</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kỳ</a:t>
            </a:r>
            <a:r>
              <a:rPr lang="en-US" sz="1250" dirty="0">
                <a:solidFill>
                  <a:srgbClr val="877258"/>
                </a:solidFill>
                <a:latin typeface="Segoe UI" pitchFamily="34" charset="0"/>
                <a:ea typeface="Segoe UI" pitchFamily="34" charset="-122"/>
                <a:cs typeface="Segoe UI" pitchFamily="34" charset="-120"/>
              </a:rPr>
              <a:t> </a:t>
            </a:r>
            <a:r>
              <a:rPr lang="en-US" sz="1250" dirty="0" err="1">
                <a:solidFill>
                  <a:srgbClr val="877258"/>
                </a:solidFill>
                <a:latin typeface="Segoe UI" pitchFamily="34" charset="0"/>
                <a:ea typeface="Segoe UI" pitchFamily="34" charset="-122"/>
                <a:cs typeface="Segoe UI" pitchFamily="34" charset="-120"/>
              </a:rPr>
              <a:t>vọng</a:t>
            </a:r>
            <a:endParaRPr lang="en-US" sz="1250" dirty="0"/>
          </a:p>
        </p:txBody>
      </p:sp>
      <p:sp>
        <p:nvSpPr>
          <p:cNvPr id="6" name="Shape 4"/>
          <p:cNvSpPr/>
          <p:nvPr/>
        </p:nvSpPr>
        <p:spPr>
          <a:xfrm>
            <a:off x="566928" y="2057400"/>
            <a:ext cx="2079894" cy="1874520"/>
          </a:xfrm>
          <a:prstGeom prst="rect">
            <a:avLst/>
          </a:prstGeom>
          <a:solidFill>
            <a:srgbClr val="FFFFFF"/>
          </a:solidFill>
          <a:ln w="9525">
            <a:solidFill>
              <a:srgbClr val="E4D9C6"/>
            </a:solidFill>
            <a:prstDash val="solid"/>
          </a:ln>
        </p:spPr>
        <p:txBody>
          <a:bodyPr/>
          <a:lstStyle/>
          <a:p>
            <a:endParaRPr lang="en-US"/>
          </a:p>
        </p:txBody>
      </p:sp>
      <p:sp>
        <p:nvSpPr>
          <p:cNvPr id="7" name="Shape 5"/>
          <p:cNvSpPr/>
          <p:nvPr/>
        </p:nvSpPr>
        <p:spPr>
          <a:xfrm>
            <a:off x="566928" y="2057400"/>
            <a:ext cx="2079894" cy="45720"/>
          </a:xfrm>
          <a:prstGeom prst="rect">
            <a:avLst/>
          </a:prstGeom>
          <a:solidFill>
            <a:srgbClr val="C7273B"/>
          </a:solidFill>
          <a:ln w="12700">
            <a:solidFill>
              <a:srgbClr val="C7273B"/>
            </a:solidFill>
            <a:prstDash val="solid"/>
          </a:ln>
        </p:spPr>
        <p:txBody>
          <a:bodyPr/>
          <a:lstStyle/>
          <a:p>
            <a:endParaRPr lang="en-US"/>
          </a:p>
        </p:txBody>
      </p:sp>
      <p:sp>
        <p:nvSpPr>
          <p:cNvPr id="8" name="Text 6"/>
          <p:cNvSpPr/>
          <p:nvPr/>
        </p:nvSpPr>
        <p:spPr>
          <a:xfrm>
            <a:off x="713232" y="2185416"/>
            <a:ext cx="1787286" cy="1618488"/>
          </a:xfrm>
          <a:prstGeom prst="rect">
            <a:avLst/>
          </a:prstGeom>
          <a:noFill/>
          <a:ln/>
        </p:spPr>
        <p:txBody>
          <a:bodyPr wrap="square" rtlCol="0" anchor="ctr"/>
          <a:lstStyle/>
          <a:p>
            <a:pPr marL="0" indent="0" eaLnBrk="1" latinLnBrk="0" hangingPunct="1">
              <a:buNone/>
            </a:pPr>
            <a:r>
              <a:rPr lang="ja-JP" altLang="en-US" sz="950" b="1" kern="0" spc="100" dirty="0">
                <a:solidFill>
                  <a:srgbClr val="C7273B"/>
                </a:solidFill>
                <a:latin typeface="Yu Mincho" pitchFamily="34" charset="0"/>
                <a:ea typeface="Yu Mincho" pitchFamily="34" charset="-122"/>
                <a:cs typeface="Yu Mincho" pitchFamily="34" charset="-120"/>
              </a:rPr>
              <a:t>機能① なんでも検索</a:t>
            </a:r>
            <a:endParaRPr lang="en-US" sz="950" dirty="0"/>
          </a:p>
          <a:p>
            <a:pPr marL="0" indent="0" eaLnBrk="1" latinLnBrk="0" hangingPunct="1">
              <a:lnSpc>
                <a:spcPct val="115000"/>
              </a:lnSpc>
              <a:buNone/>
            </a:pPr>
            <a:r>
              <a:rPr lang="ja-JP" altLang="en-US" sz="1400" b="1" dirty="0">
                <a:solidFill>
                  <a:srgbClr val="331E0E"/>
                </a:solidFill>
                <a:latin typeface="Yu Mincho" pitchFamily="34" charset="0"/>
                <a:ea typeface="Yu Mincho" pitchFamily="34" charset="-122"/>
                <a:cs typeface="Yu Mincho" pitchFamily="34" charset="-120"/>
              </a:rPr>
              <a:t>サイト全体を</a:t>
            </a:r>
          </a:p>
          <a:p>
            <a:pPr marL="0" indent="0" eaLnBrk="1" latinLnBrk="0" hangingPunct="1">
              <a:lnSpc>
                <a:spcPct val="115000"/>
              </a:lnSpc>
              <a:buNone/>
            </a:pPr>
            <a:r>
              <a:rPr lang="ja-JP" altLang="en-US" sz="1400" b="1" dirty="0">
                <a:solidFill>
                  <a:srgbClr val="331E0E"/>
                </a:solidFill>
                <a:latin typeface="Yu Mincho" pitchFamily="34" charset="0"/>
                <a:ea typeface="Yu Mincho" pitchFamily="34" charset="-122"/>
                <a:cs typeface="Yu Mincho" pitchFamily="34" charset="-120"/>
              </a:rPr>
              <a:t>カバーする検索窓</a:t>
            </a:r>
          </a:p>
          <a:p>
            <a:pPr marL="0" indent="0" eaLnBrk="1" latinLnBrk="0" hangingPunct="1">
              <a:lnSpc>
                <a:spcPct val="115000"/>
              </a:lnSpc>
              <a:buNone/>
            </a:pPr>
            <a:r>
              <a:rPr lang="en-US" sz="900" dirty="0">
                <a:solidFill>
                  <a:srgbClr val="877258"/>
                </a:solidFill>
                <a:latin typeface="Segoe UI" pitchFamily="34" charset="0"/>
                <a:cs typeface="Segoe UI" pitchFamily="34" charset="-120"/>
              </a:rPr>
              <a:t>Thanh </a:t>
            </a:r>
            <a:r>
              <a:rPr lang="en-US" sz="900" dirty="0" err="1">
                <a:solidFill>
                  <a:srgbClr val="877258"/>
                </a:solidFill>
                <a:latin typeface="Segoe UI" pitchFamily="34" charset="0"/>
                <a:cs typeface="Segoe UI" pitchFamily="34" charset="-120"/>
              </a:rPr>
              <a:t>tìm</a:t>
            </a:r>
            <a:r>
              <a:rPr lang="en-US" sz="900" dirty="0">
                <a:solidFill>
                  <a:srgbClr val="877258"/>
                </a:solidFill>
                <a:latin typeface="Segoe UI" pitchFamily="34" charset="0"/>
                <a:cs typeface="Segoe UI" pitchFamily="34" charset="-120"/>
              </a:rPr>
              <a:t> </a:t>
            </a:r>
            <a:r>
              <a:rPr lang="en-US" sz="900" dirty="0" err="1">
                <a:solidFill>
                  <a:srgbClr val="877258"/>
                </a:solidFill>
                <a:latin typeface="Segoe UI" pitchFamily="34" charset="0"/>
                <a:cs typeface="Segoe UI" pitchFamily="34" charset="-120"/>
              </a:rPr>
              <a:t>kiếm</a:t>
            </a:r>
            <a:r>
              <a:rPr lang="en-US" sz="900" dirty="0">
                <a:solidFill>
                  <a:srgbClr val="877258"/>
                </a:solidFill>
                <a:latin typeface="Segoe UI" pitchFamily="34" charset="0"/>
                <a:cs typeface="Segoe UI" pitchFamily="34" charset="-120"/>
              </a:rPr>
              <a:t> </a:t>
            </a:r>
            <a:r>
              <a:rPr lang="en-US" sz="900" dirty="0" err="1">
                <a:solidFill>
                  <a:srgbClr val="877258"/>
                </a:solidFill>
                <a:latin typeface="Segoe UI" pitchFamily="34" charset="0"/>
                <a:cs typeface="Segoe UI" pitchFamily="34" charset="-120"/>
              </a:rPr>
              <a:t>cho</a:t>
            </a:r>
            <a:r>
              <a:rPr lang="en-US" sz="900" dirty="0">
                <a:solidFill>
                  <a:srgbClr val="877258"/>
                </a:solidFill>
                <a:latin typeface="Segoe UI" pitchFamily="34" charset="0"/>
                <a:cs typeface="Segoe UI" pitchFamily="34" charset="-120"/>
              </a:rPr>
              <a:t> </a:t>
            </a:r>
            <a:r>
              <a:rPr lang="en-US" sz="900" dirty="0" err="1">
                <a:solidFill>
                  <a:srgbClr val="877258"/>
                </a:solidFill>
                <a:latin typeface="Segoe UI" pitchFamily="34" charset="0"/>
                <a:cs typeface="Segoe UI" pitchFamily="34" charset="-120"/>
              </a:rPr>
              <a:t>toàn</a:t>
            </a:r>
            <a:r>
              <a:rPr lang="en-US" sz="900" dirty="0">
                <a:solidFill>
                  <a:srgbClr val="877258"/>
                </a:solidFill>
                <a:latin typeface="Segoe UI" pitchFamily="34" charset="0"/>
                <a:cs typeface="Segoe UI" pitchFamily="34" charset="-120"/>
              </a:rPr>
              <a:t> </a:t>
            </a:r>
            <a:r>
              <a:rPr lang="en-US" sz="900" dirty="0" err="1">
                <a:solidFill>
                  <a:srgbClr val="877258"/>
                </a:solidFill>
                <a:latin typeface="Segoe UI" pitchFamily="34" charset="0"/>
                <a:cs typeface="Segoe UI" pitchFamily="34" charset="-120"/>
              </a:rPr>
              <a:t>bộ</a:t>
            </a:r>
            <a:r>
              <a:rPr lang="en-US" sz="900" dirty="0">
                <a:solidFill>
                  <a:srgbClr val="877258"/>
                </a:solidFill>
                <a:latin typeface="Segoe UI" pitchFamily="34" charset="0"/>
                <a:cs typeface="Segoe UI" pitchFamily="34" charset="-120"/>
              </a:rPr>
              <a:t> website</a:t>
            </a:r>
            <a:endParaRPr lang="en-US" sz="950" dirty="0"/>
          </a:p>
        </p:txBody>
      </p:sp>
      <p:sp>
        <p:nvSpPr>
          <p:cNvPr id="9" name="Shape 7"/>
          <p:cNvSpPr/>
          <p:nvPr/>
        </p:nvSpPr>
        <p:spPr>
          <a:xfrm>
            <a:off x="2811414" y="2057400"/>
            <a:ext cx="2079894" cy="1874520"/>
          </a:xfrm>
          <a:prstGeom prst="rect">
            <a:avLst/>
          </a:prstGeom>
          <a:solidFill>
            <a:srgbClr val="FFFFFF"/>
          </a:solidFill>
          <a:ln w="9525">
            <a:solidFill>
              <a:srgbClr val="E4D9C6"/>
            </a:solidFill>
            <a:prstDash val="solid"/>
          </a:ln>
        </p:spPr>
        <p:txBody>
          <a:bodyPr/>
          <a:lstStyle/>
          <a:p>
            <a:endParaRPr lang="en-US"/>
          </a:p>
        </p:txBody>
      </p:sp>
      <p:sp>
        <p:nvSpPr>
          <p:cNvPr id="10" name="Shape 8"/>
          <p:cNvSpPr/>
          <p:nvPr/>
        </p:nvSpPr>
        <p:spPr>
          <a:xfrm>
            <a:off x="2811414" y="2057400"/>
            <a:ext cx="2079894" cy="45720"/>
          </a:xfrm>
          <a:prstGeom prst="rect">
            <a:avLst/>
          </a:prstGeom>
          <a:solidFill>
            <a:srgbClr val="C7273B"/>
          </a:solidFill>
          <a:ln w="12700">
            <a:solidFill>
              <a:srgbClr val="C7273B"/>
            </a:solidFill>
            <a:prstDash val="solid"/>
          </a:ln>
        </p:spPr>
        <p:txBody>
          <a:bodyPr/>
          <a:lstStyle/>
          <a:p>
            <a:endParaRPr lang="en-US"/>
          </a:p>
        </p:txBody>
      </p:sp>
      <p:sp>
        <p:nvSpPr>
          <p:cNvPr id="11" name="Text 9"/>
          <p:cNvSpPr/>
          <p:nvPr/>
        </p:nvSpPr>
        <p:spPr>
          <a:xfrm>
            <a:off x="2957718" y="2185416"/>
            <a:ext cx="1787286" cy="1618488"/>
          </a:xfrm>
          <a:prstGeom prst="rect">
            <a:avLst/>
          </a:prstGeom>
          <a:noFill/>
          <a:ln/>
        </p:spPr>
        <p:txBody>
          <a:bodyPr wrap="square" rtlCol="0" anchor="ctr"/>
          <a:lstStyle/>
          <a:p>
            <a:pPr marL="0" indent="0" eaLnBrk="1" latinLnBrk="0" hangingPunct="1">
              <a:buNone/>
            </a:pPr>
            <a:r>
              <a:rPr lang="ja-JP" altLang="en-US" sz="950" b="1" kern="0" spc="100" dirty="0">
                <a:solidFill>
                  <a:srgbClr val="C7273B"/>
                </a:solidFill>
                <a:latin typeface="Yu Mincho" pitchFamily="34" charset="0"/>
                <a:ea typeface="Yu Mincho" pitchFamily="34" charset="-122"/>
                <a:cs typeface="Yu Mincho" pitchFamily="34" charset="-120"/>
              </a:rPr>
              <a:t>機能② AIチャットボット</a:t>
            </a:r>
            <a:endParaRPr lang="en-US" sz="950" dirty="0"/>
          </a:p>
          <a:p>
            <a:pPr marL="0" indent="0" eaLnBrk="1" latinLnBrk="0" hangingPunct="1">
              <a:lnSpc>
                <a:spcPct val="115000"/>
              </a:lnSpc>
              <a:buNone/>
            </a:pPr>
            <a:r>
              <a:rPr lang="ja-JP" altLang="en-US" sz="1400" b="1" dirty="0">
                <a:solidFill>
                  <a:srgbClr val="331E0E"/>
                </a:solidFill>
                <a:latin typeface="Yu Mincho" pitchFamily="34" charset="0"/>
                <a:ea typeface="Yu Mincho" pitchFamily="34" charset="-122"/>
                <a:cs typeface="Yu Mincho" pitchFamily="34" charset="-120"/>
              </a:rPr>
              <a:t>質問に素早く、</a:t>
            </a:r>
          </a:p>
          <a:p>
            <a:pPr marL="0" indent="0" eaLnBrk="1" latinLnBrk="0" hangingPunct="1">
              <a:lnSpc>
                <a:spcPct val="115000"/>
              </a:lnSpc>
              <a:buNone/>
            </a:pPr>
            <a:r>
              <a:rPr lang="ja-JP" altLang="en-US" sz="1400" b="1" dirty="0">
                <a:solidFill>
                  <a:srgbClr val="331E0E"/>
                </a:solidFill>
                <a:latin typeface="Yu Mincho" pitchFamily="34" charset="0"/>
                <a:ea typeface="Yu Mincho" pitchFamily="34" charset="-122"/>
                <a:cs typeface="Yu Mincho" pitchFamily="34" charset="-120"/>
              </a:rPr>
              <a:t>正確に答える</a:t>
            </a:r>
          </a:p>
          <a:p>
            <a:pPr marL="0" indent="0" eaLnBrk="1" latinLnBrk="0" hangingPunct="1">
              <a:lnSpc>
                <a:spcPct val="115000"/>
              </a:lnSpc>
              <a:buNone/>
            </a:pPr>
            <a:r>
              <a:rPr lang="en-US" sz="900" dirty="0" err="1">
                <a:solidFill>
                  <a:srgbClr val="877258"/>
                </a:solidFill>
                <a:latin typeface="Segoe UI" pitchFamily="34" charset="0"/>
                <a:ea typeface="Segoe UI" pitchFamily="34" charset="-122"/>
                <a:cs typeface="Segoe UI" pitchFamily="34" charset="-120"/>
              </a:rPr>
              <a:t>Hỗ trợ trả lời nhanh gọn, chính xác các câu hỏi của người dùng</a:t>
            </a:r>
          </a:p>
        </p:txBody>
      </p:sp>
      <p:sp>
        <p:nvSpPr>
          <p:cNvPr id="12" name="Shape 10"/>
          <p:cNvSpPr/>
          <p:nvPr/>
        </p:nvSpPr>
        <p:spPr>
          <a:xfrm>
            <a:off x="5055900" y="2057400"/>
            <a:ext cx="2079894" cy="1874520"/>
          </a:xfrm>
          <a:prstGeom prst="rect">
            <a:avLst/>
          </a:prstGeom>
          <a:solidFill>
            <a:srgbClr val="FFFFFF"/>
          </a:solidFill>
          <a:ln w="9525">
            <a:solidFill>
              <a:srgbClr val="E4D9C6"/>
            </a:solidFill>
            <a:prstDash val="solid"/>
          </a:ln>
        </p:spPr>
        <p:txBody>
          <a:bodyPr/>
          <a:lstStyle/>
          <a:p>
            <a:endParaRPr lang="en-US"/>
          </a:p>
        </p:txBody>
      </p:sp>
      <p:sp>
        <p:nvSpPr>
          <p:cNvPr id="13" name="Shape 11"/>
          <p:cNvSpPr/>
          <p:nvPr/>
        </p:nvSpPr>
        <p:spPr>
          <a:xfrm>
            <a:off x="5055900" y="2057400"/>
            <a:ext cx="2079894" cy="45720"/>
          </a:xfrm>
          <a:prstGeom prst="rect">
            <a:avLst/>
          </a:prstGeom>
          <a:solidFill>
            <a:srgbClr val="C7273B"/>
          </a:solidFill>
          <a:ln w="12700">
            <a:solidFill>
              <a:srgbClr val="C7273B"/>
            </a:solidFill>
            <a:prstDash val="solid"/>
          </a:ln>
        </p:spPr>
        <p:txBody>
          <a:bodyPr/>
          <a:lstStyle/>
          <a:p>
            <a:endParaRPr lang="en-US"/>
          </a:p>
        </p:txBody>
      </p:sp>
      <p:sp>
        <p:nvSpPr>
          <p:cNvPr id="14" name="Text 12"/>
          <p:cNvSpPr/>
          <p:nvPr/>
        </p:nvSpPr>
        <p:spPr>
          <a:xfrm>
            <a:off x="5202204" y="2185416"/>
            <a:ext cx="1787286" cy="1618488"/>
          </a:xfrm>
          <a:prstGeom prst="rect">
            <a:avLst/>
          </a:prstGeom>
          <a:noFill/>
          <a:ln/>
        </p:spPr>
        <p:txBody>
          <a:bodyPr wrap="square" rtlCol="0" anchor="ctr"/>
          <a:lstStyle/>
          <a:p>
            <a:pPr marL="0" indent="0" eaLnBrk="1" latinLnBrk="0" hangingPunct="1">
              <a:buNone/>
            </a:pPr>
            <a:r>
              <a:rPr lang="ja-JP" altLang="en-US" sz="950" b="1" kern="0" spc="100" dirty="0">
                <a:solidFill>
                  <a:srgbClr val="C7273B"/>
                </a:solidFill>
                <a:latin typeface="Yu Mincho" pitchFamily="34" charset="0"/>
                <a:ea typeface="Yu Mincho" pitchFamily="34" charset="-122"/>
                <a:cs typeface="Yu Mincho" pitchFamily="34" charset="-120"/>
              </a:rPr>
              <a:t>機能③ AI音声読み上げ</a:t>
            </a:r>
            <a:endParaRPr lang="en-US" sz="950" dirty="0"/>
          </a:p>
          <a:p>
            <a:pPr marL="0" indent="0" eaLnBrk="1" latinLnBrk="0" hangingPunct="1">
              <a:lnSpc>
                <a:spcPct val="115000"/>
              </a:lnSpc>
              <a:buNone/>
            </a:pPr>
            <a:r>
              <a:rPr lang="ja-JP" altLang="en-US" sz="1400" b="1" dirty="0">
                <a:solidFill>
                  <a:srgbClr val="331E0E"/>
                </a:solidFill>
                <a:latin typeface="Yu Mincho" pitchFamily="34" charset="0"/>
                <a:ea typeface="Yu Mincho" pitchFamily="34" charset="-122"/>
                <a:cs typeface="Yu Mincho" pitchFamily="34" charset="-120"/>
              </a:rPr>
              <a:t>作りながら聞けて、</a:t>
            </a:r>
          </a:p>
          <a:p>
            <a:pPr marL="0" indent="0" eaLnBrk="1" latinLnBrk="0" hangingPunct="1">
              <a:lnSpc>
                <a:spcPct val="115000"/>
              </a:lnSpc>
              <a:buNone/>
            </a:pPr>
            <a:r>
              <a:rPr lang="ja-JP" altLang="en-US" sz="1400" b="1" dirty="0">
                <a:solidFill>
                  <a:srgbClr val="331E0E"/>
                </a:solidFill>
                <a:latin typeface="Yu Mincho" pitchFamily="34" charset="0"/>
                <a:ea typeface="Yu Mincho" pitchFamily="34" charset="-122"/>
                <a:cs typeface="Yu Mincho" pitchFamily="34" charset="-120"/>
              </a:rPr>
              <a:t>時間を節約</a:t>
            </a:r>
          </a:p>
          <a:p>
            <a:pPr marL="0" indent="0" eaLnBrk="1" latinLnBrk="0" hangingPunct="1">
              <a:lnSpc>
                <a:spcPct val="115000"/>
              </a:lnSpc>
              <a:buNone/>
            </a:pPr>
            <a:r>
              <a:rPr lang="en-US" sz="900" dirty="0">
                <a:solidFill>
                  <a:srgbClr val="877258"/>
                </a:solidFill>
                <a:latin typeface="Segoe UI" pitchFamily="34" charset="0"/>
                <a:ea typeface="Segoe UI" pitchFamily="34" charset="-122"/>
                <a:cs typeface="Segoe UI" pitchFamily="34" charset="-120"/>
              </a:rPr>
              <a:t>Vừa nấu </a:t>
            </a:r>
            <a:r>
              <a:rPr lang="en-US" sz="900" dirty="0" err="1">
                <a:solidFill>
                  <a:srgbClr val="877258"/>
                </a:solidFill>
                <a:latin typeface="Segoe UI" pitchFamily="34" charset="0"/>
                <a:ea typeface="Segoe UI" pitchFamily="34" charset="-122"/>
                <a:cs typeface="Segoe UI" pitchFamily="34" charset="-120"/>
              </a:rPr>
              <a:t>vừa</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nghe</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công</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thức</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tiết</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kiệm</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thời</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gian</a:t>
            </a:r>
            <a:endParaRPr lang="en-US" sz="950" dirty="0"/>
          </a:p>
        </p:txBody>
      </p:sp>
      <p:sp>
        <p:nvSpPr>
          <p:cNvPr id="15" name="Shape 13"/>
          <p:cNvSpPr/>
          <p:nvPr/>
        </p:nvSpPr>
        <p:spPr>
          <a:xfrm>
            <a:off x="7300387" y="2057400"/>
            <a:ext cx="2079894" cy="1874520"/>
          </a:xfrm>
          <a:prstGeom prst="rect">
            <a:avLst/>
          </a:prstGeom>
          <a:solidFill>
            <a:srgbClr val="FFFFFF"/>
          </a:solidFill>
          <a:ln w="9525">
            <a:solidFill>
              <a:srgbClr val="E4D9C6"/>
            </a:solidFill>
            <a:prstDash val="solid"/>
          </a:ln>
        </p:spPr>
        <p:txBody>
          <a:bodyPr/>
          <a:lstStyle/>
          <a:p>
            <a:endParaRPr lang="en-US"/>
          </a:p>
        </p:txBody>
      </p:sp>
      <p:sp>
        <p:nvSpPr>
          <p:cNvPr id="16" name="Shape 14"/>
          <p:cNvSpPr/>
          <p:nvPr/>
        </p:nvSpPr>
        <p:spPr>
          <a:xfrm>
            <a:off x="7300387" y="2057400"/>
            <a:ext cx="2079894" cy="45720"/>
          </a:xfrm>
          <a:prstGeom prst="rect">
            <a:avLst/>
          </a:prstGeom>
          <a:solidFill>
            <a:srgbClr val="C7273B"/>
          </a:solidFill>
          <a:ln w="12700">
            <a:solidFill>
              <a:srgbClr val="C7273B"/>
            </a:solidFill>
            <a:prstDash val="solid"/>
          </a:ln>
        </p:spPr>
        <p:txBody>
          <a:bodyPr/>
          <a:lstStyle/>
          <a:p>
            <a:endParaRPr lang="en-US"/>
          </a:p>
        </p:txBody>
      </p:sp>
      <p:sp>
        <p:nvSpPr>
          <p:cNvPr id="17" name="Text 15"/>
          <p:cNvSpPr/>
          <p:nvPr/>
        </p:nvSpPr>
        <p:spPr>
          <a:xfrm>
            <a:off x="7446691" y="2185416"/>
            <a:ext cx="1787286" cy="1618488"/>
          </a:xfrm>
          <a:prstGeom prst="rect">
            <a:avLst/>
          </a:prstGeom>
          <a:noFill/>
          <a:ln/>
        </p:spPr>
        <p:txBody>
          <a:bodyPr wrap="square" rtlCol="0" anchor="ctr"/>
          <a:lstStyle/>
          <a:p>
            <a:pPr marL="0" indent="0" eaLnBrk="1" latinLnBrk="0" hangingPunct="1">
              <a:buNone/>
            </a:pPr>
            <a:r>
              <a:rPr lang="ja-JP" altLang="en-US" sz="950" b="1" kern="0" spc="100" dirty="0">
                <a:solidFill>
                  <a:srgbClr val="C7273B"/>
                </a:solidFill>
                <a:latin typeface="Yu Mincho" pitchFamily="34" charset="0"/>
                <a:ea typeface="Yu Mincho" pitchFamily="34" charset="-122"/>
                <a:cs typeface="Yu Mincho" pitchFamily="34" charset="-120"/>
              </a:rPr>
              <a:t>機能④ お店で買う</a:t>
            </a:r>
            <a:endParaRPr lang="en-US" sz="950" dirty="0"/>
          </a:p>
          <a:p>
            <a:pPr marL="0" indent="0" eaLnBrk="1" latinLnBrk="0" hangingPunct="1">
              <a:lnSpc>
                <a:spcPct val="115000"/>
              </a:lnSpc>
              <a:buNone/>
            </a:pPr>
            <a:r>
              <a:rPr lang="ja-JP" altLang="en-US" sz="1400" b="1" dirty="0">
                <a:solidFill>
                  <a:srgbClr val="331E0E"/>
                </a:solidFill>
                <a:latin typeface="Yu Mincho" pitchFamily="34" charset="0"/>
                <a:ea typeface="Yu Mincho" pitchFamily="34" charset="-122"/>
                <a:cs typeface="Yu Mincho" pitchFamily="34" charset="-120"/>
              </a:rPr>
              <a:t>メモと売場順で、</a:t>
            </a:r>
          </a:p>
          <a:p>
            <a:pPr marL="0" indent="0" eaLnBrk="1" latinLnBrk="0" hangingPunct="1">
              <a:lnSpc>
                <a:spcPct val="115000"/>
              </a:lnSpc>
              <a:buNone/>
            </a:pPr>
            <a:r>
              <a:rPr lang="ja-JP" altLang="en-US" sz="1400" b="1" dirty="0">
                <a:solidFill>
                  <a:srgbClr val="331E0E"/>
                </a:solidFill>
                <a:latin typeface="Yu Mincho" pitchFamily="34" charset="0"/>
                <a:ea typeface="Yu Mincho" pitchFamily="34" charset="-122"/>
                <a:cs typeface="Yu Mincho" pitchFamily="34" charset="-120"/>
              </a:rPr>
              <a:t>店頭の買い物が楽に</a:t>
            </a:r>
          </a:p>
          <a:p>
            <a:pPr marL="0" indent="0" eaLnBrk="1" latinLnBrk="0" hangingPunct="1">
              <a:lnSpc>
                <a:spcPct val="115000"/>
              </a:lnSpc>
              <a:buNone/>
            </a:pPr>
            <a:r>
              <a:rPr lang="en-US" sz="900" dirty="0" err="1">
                <a:solidFill>
                  <a:srgbClr val="877258"/>
                </a:solidFill>
                <a:latin typeface="Segoe UI" pitchFamily="34" charset="0"/>
                <a:ea typeface="Segoe UI" pitchFamily="34" charset="-122"/>
                <a:cs typeface="Segoe UI" pitchFamily="34" charset="-120"/>
              </a:rPr>
              <a:t>Hỗ</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trợ</a:t>
            </a:r>
            <a:r>
              <a:rPr lang="en-US" sz="900" dirty="0">
                <a:solidFill>
                  <a:srgbClr val="877258"/>
                </a:solidFill>
                <a:latin typeface="Segoe UI" pitchFamily="34" charset="0"/>
                <a:ea typeface="Segoe UI" pitchFamily="34" charset="-122"/>
                <a:cs typeface="Segoe UI" pitchFamily="34" charset="-120"/>
              </a:rPr>
              <a:t> note, </a:t>
            </a:r>
            <a:r>
              <a:rPr lang="en-US" sz="900" dirty="0" err="1">
                <a:solidFill>
                  <a:srgbClr val="877258"/>
                </a:solidFill>
                <a:latin typeface="Segoe UI" pitchFamily="34" charset="0"/>
                <a:ea typeface="Segoe UI" pitchFamily="34" charset="-122"/>
                <a:cs typeface="Segoe UI" pitchFamily="34" charset="-120"/>
              </a:rPr>
              <a:t>mua</a:t>
            </a:r>
            <a:r>
              <a:rPr lang="en-US" sz="900" dirty="0">
                <a:solidFill>
                  <a:srgbClr val="877258"/>
                </a:solidFill>
                <a:latin typeface="Segoe UI" pitchFamily="34" charset="0"/>
                <a:ea typeface="Segoe UI" pitchFamily="34" charset="-122"/>
                <a:cs typeface="Segoe UI" pitchFamily="34" charset="-120"/>
              </a:rPr>
              <a:t> offline </a:t>
            </a:r>
            <a:r>
              <a:rPr lang="en-US" sz="900" dirty="0" err="1">
                <a:solidFill>
                  <a:srgbClr val="877258"/>
                </a:solidFill>
                <a:latin typeface="Segoe UI" pitchFamily="34" charset="0"/>
                <a:ea typeface="Segoe UI" pitchFamily="34" charset="-122"/>
                <a:cs typeface="Segoe UI" pitchFamily="34" charset="-120"/>
              </a:rPr>
              <a:t>theo</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quầy</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dễ</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dàng</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hơn</a:t>
            </a:r>
            <a:endParaRPr lang="en-US" sz="950" dirty="0"/>
          </a:p>
        </p:txBody>
      </p:sp>
      <p:sp>
        <p:nvSpPr>
          <p:cNvPr id="18" name="Shape 16"/>
          <p:cNvSpPr/>
          <p:nvPr/>
        </p:nvSpPr>
        <p:spPr>
          <a:xfrm>
            <a:off x="9544873" y="2057400"/>
            <a:ext cx="2079894" cy="1874520"/>
          </a:xfrm>
          <a:prstGeom prst="rect">
            <a:avLst/>
          </a:prstGeom>
          <a:solidFill>
            <a:srgbClr val="FFFFFF"/>
          </a:solidFill>
          <a:ln w="9525">
            <a:solidFill>
              <a:srgbClr val="E4D9C6"/>
            </a:solidFill>
            <a:prstDash val="solid"/>
          </a:ln>
        </p:spPr>
        <p:txBody>
          <a:bodyPr/>
          <a:lstStyle/>
          <a:p>
            <a:endParaRPr lang="en-US"/>
          </a:p>
        </p:txBody>
      </p:sp>
      <p:sp>
        <p:nvSpPr>
          <p:cNvPr id="19" name="Shape 17"/>
          <p:cNvSpPr/>
          <p:nvPr/>
        </p:nvSpPr>
        <p:spPr>
          <a:xfrm>
            <a:off x="9544873" y="2057400"/>
            <a:ext cx="2079894" cy="45720"/>
          </a:xfrm>
          <a:prstGeom prst="rect">
            <a:avLst/>
          </a:prstGeom>
          <a:solidFill>
            <a:srgbClr val="C7273B"/>
          </a:solidFill>
          <a:ln w="12700">
            <a:solidFill>
              <a:srgbClr val="C7273B"/>
            </a:solidFill>
            <a:prstDash val="solid"/>
          </a:ln>
        </p:spPr>
        <p:txBody>
          <a:bodyPr/>
          <a:lstStyle/>
          <a:p>
            <a:endParaRPr lang="en-US"/>
          </a:p>
        </p:txBody>
      </p:sp>
      <p:sp>
        <p:nvSpPr>
          <p:cNvPr id="20" name="Text 18"/>
          <p:cNvSpPr/>
          <p:nvPr/>
        </p:nvSpPr>
        <p:spPr>
          <a:xfrm>
            <a:off x="9691177" y="2185416"/>
            <a:ext cx="1787286" cy="1618488"/>
          </a:xfrm>
          <a:prstGeom prst="rect">
            <a:avLst/>
          </a:prstGeom>
          <a:noFill/>
          <a:ln/>
        </p:spPr>
        <p:txBody>
          <a:bodyPr wrap="square" rtlCol="0" anchor="ctr"/>
          <a:lstStyle/>
          <a:p>
            <a:pPr marL="0" indent="0" eaLnBrk="1" latinLnBrk="0" hangingPunct="1">
              <a:buNone/>
            </a:pPr>
            <a:r>
              <a:rPr lang="ja-JP" altLang="en-US" sz="950" b="1" kern="0" spc="100" dirty="0">
                <a:solidFill>
                  <a:srgbClr val="C7273B"/>
                </a:solidFill>
                <a:latin typeface="Yu Mincho" pitchFamily="34" charset="0"/>
                <a:ea typeface="Yu Mincho" pitchFamily="34" charset="-122"/>
                <a:cs typeface="Yu Mincho" pitchFamily="34" charset="-120"/>
              </a:rPr>
              <a:t>機能⑤ ネットで買う</a:t>
            </a:r>
            <a:endParaRPr lang="en-US" sz="950" dirty="0"/>
          </a:p>
          <a:p>
            <a:pPr marL="0" indent="0" eaLnBrk="1" latinLnBrk="0" hangingPunct="1">
              <a:lnSpc>
                <a:spcPct val="115000"/>
              </a:lnSpc>
              <a:buNone/>
            </a:pPr>
            <a:r>
              <a:rPr lang="ja-JP" altLang="en-US" sz="1400" b="1" dirty="0">
                <a:solidFill>
                  <a:srgbClr val="331E0E"/>
                </a:solidFill>
                <a:latin typeface="Yu Mincho" pitchFamily="34" charset="0"/>
                <a:ea typeface="Yu Mincho" pitchFamily="34" charset="-122"/>
                <a:cs typeface="Yu Mincho" pitchFamily="34" charset="-120"/>
              </a:rPr>
              <a:t>カートを通販へ</a:t>
            </a:r>
          </a:p>
          <a:p>
            <a:pPr marL="0" indent="0" eaLnBrk="1" latinLnBrk="0" hangingPunct="1">
              <a:lnSpc>
                <a:spcPct val="115000"/>
              </a:lnSpc>
              <a:buNone/>
            </a:pPr>
            <a:r>
              <a:rPr lang="ja-JP" altLang="en-US" sz="1400" b="1" dirty="0">
                <a:solidFill>
                  <a:srgbClr val="331E0E"/>
                </a:solidFill>
                <a:latin typeface="Yu Mincho" pitchFamily="34" charset="0"/>
                <a:ea typeface="Yu Mincho" pitchFamily="34" charset="-122"/>
                <a:cs typeface="Yu Mincho" pitchFamily="34" charset="-120"/>
              </a:rPr>
              <a:t>つないで注文完了</a:t>
            </a:r>
          </a:p>
          <a:p>
            <a:pPr marL="0" indent="0" eaLnBrk="1" latinLnBrk="0" hangingPunct="1">
              <a:lnSpc>
                <a:spcPct val="115000"/>
              </a:lnSpc>
              <a:buNone/>
            </a:pPr>
            <a:r>
              <a:rPr lang="en-US" sz="900" dirty="0" err="1">
                <a:solidFill>
                  <a:srgbClr val="877258"/>
                </a:solidFill>
                <a:latin typeface="Segoe UI" pitchFamily="34" charset="0"/>
                <a:ea typeface="Segoe UI" pitchFamily="34" charset="-122"/>
                <a:cs typeface="Segoe UI" pitchFamily="34" charset="-120"/>
              </a:rPr>
              <a:t>Kết</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nối</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giỏ</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hàng</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với</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trang</a:t>
            </a:r>
            <a:r>
              <a:rPr lang="en-US" sz="900" dirty="0">
                <a:solidFill>
                  <a:srgbClr val="877258"/>
                </a:solidFill>
                <a:latin typeface="Segoe UI" pitchFamily="34" charset="0"/>
                <a:ea typeface="Segoe UI" pitchFamily="34" charset="-122"/>
                <a:cs typeface="Segoe UI" pitchFamily="34" charset="-120"/>
              </a:rPr>
              <a:t> EC </a:t>
            </a:r>
            <a:r>
              <a:rPr lang="en-US" sz="900" dirty="0" err="1">
                <a:solidFill>
                  <a:srgbClr val="877258"/>
                </a:solidFill>
                <a:latin typeface="Segoe UI" pitchFamily="34" charset="0"/>
                <a:ea typeface="Segoe UI" pitchFamily="34" charset="-122"/>
                <a:cs typeface="Segoe UI" pitchFamily="34" charset="-120"/>
              </a:rPr>
              <a:t>hoàn</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thành</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đơn</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tối</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ưu</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trải</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nghiệm</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người</a:t>
            </a:r>
            <a:r>
              <a:rPr lang="en-US" sz="900" dirty="0">
                <a:solidFill>
                  <a:srgbClr val="877258"/>
                </a:solidFill>
                <a:latin typeface="Segoe UI" pitchFamily="34" charset="0"/>
                <a:ea typeface="Segoe UI" pitchFamily="34" charset="-122"/>
                <a:cs typeface="Segoe UI" pitchFamily="34" charset="-120"/>
              </a:rPr>
              <a:t> </a:t>
            </a:r>
            <a:r>
              <a:rPr lang="en-US" sz="900" dirty="0" err="1">
                <a:solidFill>
                  <a:srgbClr val="877258"/>
                </a:solidFill>
                <a:latin typeface="Segoe UI" pitchFamily="34" charset="0"/>
                <a:ea typeface="Segoe UI" pitchFamily="34" charset="-122"/>
                <a:cs typeface="Segoe UI" pitchFamily="34" charset="-120"/>
              </a:rPr>
              <a:t>dùng</a:t>
            </a:r>
            <a:endParaRPr lang="en-US" sz="950" dirty="0"/>
          </a:p>
        </p:txBody>
      </p:sp>
      <p:sp>
        <p:nvSpPr>
          <p:cNvPr id="21" name="Text 19"/>
          <p:cNvSpPr/>
          <p:nvPr/>
        </p:nvSpPr>
        <p:spPr>
          <a:xfrm>
            <a:off x="566928" y="4407408"/>
            <a:ext cx="11057839" cy="457200"/>
          </a:xfrm>
          <a:prstGeom prst="rect">
            <a:avLst/>
          </a:prstGeom>
          <a:noFill/>
          <a:ln/>
        </p:spPr>
        <p:txBody>
          <a:bodyPr wrap="square" rtlCol="0" anchor="t"/>
          <a:lstStyle/>
          <a:p>
            <a:pPr marL="0" indent="0" eaLnBrk="1" latinLnBrk="0" hangingPunct="1">
              <a:lnSpc>
                <a:spcPct val="120000"/>
              </a:lnSpc>
              <a:buNone/>
            </a:pPr>
            <a:r>
              <a:rPr lang="ja-JP" altLang="en-US" sz="1100" b="1" dirty="0">
                <a:solidFill>
                  <a:srgbClr val="2A1A0E"/>
                </a:solidFill>
                <a:latin typeface="Yu Gothic" pitchFamily="34" charset="0"/>
                <a:ea typeface="Yu Gothic" pitchFamily="34" charset="-122"/>
                <a:cs typeface="Yu Gothic" pitchFamily="34" charset="-120"/>
              </a:rPr>
              <a:t>探す → 確かめる → 選ぶ → お店で買う（買い物リスト ＋ 売場マップ）／ ネットで買う（カート → 既存のネット通販）</a:t>
            </a:r>
            <a:endParaRPr lang="en-US" sz="1100" dirty="0"/>
          </a:p>
          <a:p>
            <a:pPr marL="0" indent="0" eaLnBrk="1" latinLnBrk="0" hangingPunct="1">
              <a:lnSpc>
                <a:spcPct val="115000"/>
              </a:lnSpc>
              <a:buNone/>
            </a:pPr>
            <a:r>
              <a:rPr lang="en-US" sz="1000" dirty="0">
                <a:solidFill>
                  <a:srgbClr val="877258"/>
                </a:solidFill>
                <a:latin typeface="Segoe UI" pitchFamily="34" charset="0"/>
                <a:ea typeface="Segoe UI" pitchFamily="34" charset="-122"/>
                <a:cs typeface="Segoe UI" pitchFamily="34" charset="-120"/>
              </a:rPr>
              <a:t>Tìm → xem kỹ → chọn → mua tại siêu thị (danh sách theo quầy + sơ đồ) hoặc mua online (giỏ hàng → trang EC sẵn có)</a:t>
            </a:r>
            <a:endParaRPr lang="en-US" sz="1100" dirty="0"/>
          </a:p>
        </p:txBody>
      </p:sp>
      <p:sp>
        <p:nvSpPr>
          <p:cNvPr id="22" name="Text 20"/>
          <p:cNvSpPr/>
          <p:nvPr/>
        </p:nvSpPr>
        <p:spPr>
          <a:xfrm>
            <a:off x="8351215" y="6473952"/>
            <a:ext cx="3291840" cy="228600"/>
          </a:xfrm>
          <a:prstGeom prst="rect">
            <a:avLst/>
          </a:prstGeom>
          <a:noFill/>
          <a:ln/>
        </p:spPr>
        <p:txBody>
          <a:bodyPr wrap="square" rtlCol="0" anchor="ctr"/>
          <a:lstStyle/>
          <a:p>
            <a:pPr marL="0" indent="0" algn="r" eaLnBrk="1" latinLnBrk="0" hangingPunct="1">
              <a:buNone/>
            </a:pPr>
            <a:r>
              <a:rPr lang="ja-JP" alt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marL="0" indent="0" eaLnBrk="1" latinLnBrk="0" hangingPunct="1">
              <a:buNone/>
            </a:pPr>
            <a:r>
              <a:rPr lang="ja-JP" altLang="en-US" sz="1050" b="1" kern="0" spc="100" dirty="0">
                <a:solidFill>
                  <a:srgbClr val="C7273B"/>
                </a:solidFill>
                <a:latin typeface="Yu Gothic" pitchFamily="34" charset="0"/>
                <a:ea typeface="Yu Gothic" pitchFamily="34" charset="-122"/>
                <a:cs typeface="Yu Gothic" pitchFamily="34" charset="-120"/>
              </a:rPr>
              <a:t>おわりに</a:t>
            </a:r>
            <a:r>
              <a:rPr lang="ja-JP" altLang="en-US" sz="1000" b="1" kern="0" spc="100" dirty="0">
                <a:solidFill>
                  <a:srgbClr val="877258"/>
                </a:solidFill>
                <a:latin typeface="Segoe UI" pitchFamily="34" charset="0"/>
                <a:ea typeface="Segoe UI" pitchFamily="34" charset="-122"/>
                <a:cs typeface="Segoe UI" pitchFamily="34" charset="-120"/>
              </a:rPr>
              <a:t>　／ KẾT THÚC</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txBody>
          <a:bodyPr/>
          <a:lstStyle/>
          <a:p>
            <a:endParaRPr lang="en-US"/>
          </a:p>
        </p:txBody>
      </p:sp>
      <p:sp>
        <p:nvSpPr>
          <p:cNvPr id="4" name="Text 2"/>
          <p:cNvSpPr/>
          <p:nvPr/>
        </p:nvSpPr>
        <p:spPr>
          <a:xfrm>
            <a:off x="566928" y="2103120"/>
            <a:ext cx="11057839" cy="731520"/>
          </a:xfrm>
          <a:prstGeom prst="rect">
            <a:avLst/>
          </a:prstGeom>
          <a:noFill/>
          <a:ln/>
        </p:spPr>
        <p:txBody>
          <a:bodyPr wrap="square" rtlCol="0" anchor="ctr"/>
          <a:lstStyle/>
          <a:p>
            <a:pPr marL="0" indent="0" algn="ctr" eaLnBrk="1" latinLnBrk="0" hangingPunct="1">
              <a:buNone/>
            </a:pPr>
            <a:r>
              <a:rPr lang="ja-JP" altLang="en-US" sz="3400" b="1" dirty="0">
                <a:solidFill>
                  <a:srgbClr val="331E0E"/>
                </a:solidFill>
                <a:latin typeface="Yu Mincho" pitchFamily="34" charset="0"/>
                <a:ea typeface="Yu Mincho" pitchFamily="34" charset="-122"/>
                <a:cs typeface="Yu Mincho" pitchFamily="34" charset="-120"/>
              </a:rPr>
              <a:t>ご清聴ありがとうございました。</a:t>
            </a:r>
            <a:endParaRPr lang="en-US" sz="3400" dirty="0"/>
          </a:p>
        </p:txBody>
      </p:sp>
      <p:sp>
        <p:nvSpPr>
          <p:cNvPr id="5" name="Text 3"/>
          <p:cNvSpPr/>
          <p:nvPr/>
        </p:nvSpPr>
        <p:spPr>
          <a:xfrm>
            <a:off x="566928" y="2889504"/>
            <a:ext cx="11057839" cy="365760"/>
          </a:xfrm>
          <a:prstGeom prst="rect">
            <a:avLst/>
          </a:prstGeom>
          <a:noFill/>
          <a:ln/>
        </p:spPr>
        <p:txBody>
          <a:bodyPr wrap="square" rtlCol="0" anchor="ctr"/>
          <a:lstStyle/>
          <a:p>
            <a:pPr marL="0" indent="0" algn="ctr" eaLnBrk="1" latinLnBrk="0" hangingPunct="1">
              <a:buNone/>
            </a:pPr>
            <a:r>
              <a:rPr lang="en-US" sz="1500" dirty="0">
                <a:solidFill>
                  <a:srgbClr val="877258"/>
                </a:solidFill>
                <a:latin typeface="Segoe UI" pitchFamily="34" charset="0"/>
                <a:ea typeface="Segoe UI" pitchFamily="34" charset="-122"/>
                <a:cs typeface="Segoe UI" pitchFamily="34" charset="-120"/>
              </a:rPr>
              <a:t>Cảm ơn mọi người đã lắng nghe.</a:t>
            </a:r>
            <a:endParaRPr lang="en-US" sz="1500" dirty="0"/>
          </a:p>
        </p:txBody>
      </p:sp>
      <p:sp>
        <p:nvSpPr>
          <p:cNvPr id="6" name="Shape 4"/>
          <p:cNvSpPr/>
          <p:nvPr/>
        </p:nvSpPr>
        <p:spPr>
          <a:xfrm>
            <a:off x="4937760" y="3511296"/>
            <a:ext cx="2286000" cy="0"/>
          </a:xfrm>
          <a:prstGeom prst="line">
            <a:avLst/>
          </a:prstGeom>
          <a:noFill/>
          <a:ln w="9525">
            <a:solidFill>
              <a:srgbClr val="E4D9C6"/>
            </a:solidFill>
            <a:prstDash val="solid"/>
          </a:ln>
        </p:spPr>
        <p:txBody>
          <a:bodyPr/>
          <a:lstStyle/>
          <a:p>
            <a:endParaRPr lang="en-US"/>
          </a:p>
        </p:txBody>
      </p:sp>
      <p:sp>
        <p:nvSpPr>
          <p:cNvPr id="7" name="Text 5"/>
          <p:cNvSpPr/>
          <p:nvPr/>
        </p:nvSpPr>
        <p:spPr>
          <a:xfrm>
            <a:off x="566928" y="3712464"/>
            <a:ext cx="11057839" cy="365760"/>
          </a:xfrm>
          <a:prstGeom prst="rect">
            <a:avLst/>
          </a:prstGeom>
          <a:noFill/>
          <a:ln/>
        </p:spPr>
        <p:txBody>
          <a:bodyPr wrap="square" rtlCol="0" anchor="ctr"/>
          <a:lstStyle/>
          <a:p>
            <a:pPr marL="0" indent="0" algn="ctr" eaLnBrk="1" latinLnBrk="0" hangingPunct="1">
              <a:buNone/>
            </a:pPr>
            <a:r>
              <a:rPr lang="ja-JP" altLang="en-US" sz="1600" dirty="0">
                <a:solidFill>
                  <a:srgbClr val="2A1A0E"/>
                </a:solidFill>
                <a:latin typeface="Yu Gothic" pitchFamily="34" charset="0"/>
                <a:ea typeface="Yu Gothic" pitchFamily="34" charset="-122"/>
                <a:cs typeface="Yu Gothic" pitchFamily="34" charset="-120"/>
              </a:rPr>
              <a:t>ご質問をお受けいたします。</a:t>
            </a:r>
            <a:endParaRPr lang="en-US" sz="1600" dirty="0"/>
          </a:p>
        </p:txBody>
      </p:sp>
      <p:sp>
        <p:nvSpPr>
          <p:cNvPr id="8" name="Text 6"/>
          <p:cNvSpPr/>
          <p:nvPr/>
        </p:nvSpPr>
        <p:spPr>
          <a:xfrm>
            <a:off x="566928" y="4096512"/>
            <a:ext cx="11057839" cy="320040"/>
          </a:xfrm>
          <a:prstGeom prst="rect">
            <a:avLst/>
          </a:prstGeom>
          <a:noFill/>
          <a:ln/>
        </p:spPr>
        <p:txBody>
          <a:bodyPr wrap="square" rtlCol="0" anchor="ctr"/>
          <a:lstStyle/>
          <a:p>
            <a:pPr marL="0" indent="0" algn="ctr" eaLnBrk="1" latinLnBrk="0" hangingPunct="1">
              <a:buNone/>
            </a:pPr>
            <a:r>
              <a:rPr lang="en-US" sz="1150" dirty="0">
                <a:solidFill>
                  <a:srgbClr val="877258"/>
                </a:solidFill>
                <a:latin typeface="Segoe UI" pitchFamily="34" charset="0"/>
                <a:ea typeface="Segoe UI" pitchFamily="34" charset="-122"/>
                <a:cs typeface="Segoe UI" pitchFamily="34" charset="-120"/>
              </a:rPr>
              <a:t>Rất mong nhận được câu hỏi và góp ý.</a:t>
            </a:r>
            <a:endParaRPr lang="en-US" sz="1150" dirty="0"/>
          </a:p>
        </p:txBody>
      </p:sp>
      <p:sp>
        <p:nvSpPr>
          <p:cNvPr id="10" name="Shape 8"/>
          <p:cNvSpPr/>
          <p:nvPr/>
        </p:nvSpPr>
        <p:spPr>
          <a:xfrm>
            <a:off x="566928" y="5468112"/>
            <a:ext cx="11057839" cy="0"/>
          </a:xfrm>
          <a:prstGeom prst="line">
            <a:avLst/>
          </a:prstGeom>
          <a:noFill/>
          <a:ln w="9525">
            <a:solidFill>
              <a:srgbClr val="E4D9C6"/>
            </a:solidFill>
            <a:prstDash val="solid"/>
          </a:ln>
        </p:spPr>
        <p:txBody>
          <a:bodyPr/>
          <a:lstStyle/>
          <a:p>
            <a:endParaRPr lang="en-US"/>
          </a:p>
        </p:txBody>
      </p:sp>
      <p:sp>
        <p:nvSpPr>
          <p:cNvPr id="11" name="Shape 9"/>
          <p:cNvSpPr/>
          <p:nvPr/>
        </p:nvSpPr>
        <p:spPr>
          <a:xfrm>
            <a:off x="566928" y="5632704"/>
            <a:ext cx="45720" cy="676656"/>
          </a:xfrm>
          <a:prstGeom prst="rect">
            <a:avLst/>
          </a:prstGeom>
          <a:solidFill>
            <a:srgbClr val="C7273B"/>
          </a:solidFill>
          <a:ln w="12700">
            <a:solidFill>
              <a:srgbClr val="C7273B"/>
            </a:solidFill>
            <a:prstDash val="solid"/>
          </a:ln>
        </p:spPr>
        <p:txBody>
          <a:bodyPr/>
          <a:lstStyle/>
          <a:p>
            <a:endParaRPr lang="en-US"/>
          </a:p>
        </p:txBody>
      </p:sp>
      <p:sp>
        <p:nvSpPr>
          <p:cNvPr id="12" name="Text 10"/>
          <p:cNvSpPr/>
          <p:nvPr/>
        </p:nvSpPr>
        <p:spPr>
          <a:xfrm>
            <a:off x="768096" y="5669280"/>
            <a:ext cx="10652760" cy="640080"/>
          </a:xfrm>
          <a:prstGeom prst="rect">
            <a:avLst/>
          </a:prstGeom>
          <a:noFill/>
          <a:ln/>
        </p:spPr>
        <p:txBody>
          <a:bodyPr wrap="square" rtlCol="0" anchor="t"/>
          <a:lstStyle/>
          <a:p>
            <a:pPr marL="0" indent="0" eaLnBrk="1" latinLnBrk="0" hangingPunct="1">
              <a:lnSpc>
                <a:spcPct val="125000"/>
              </a:lnSpc>
              <a:buNone/>
            </a:pPr>
            <a:r>
              <a:rPr lang="ja-JP" altLang="en-US" sz="850" dirty="0">
                <a:solidFill>
                  <a:srgbClr val="877258"/>
                </a:solidFill>
                <a:latin typeface="Yu Gothic" pitchFamily="34" charset="0"/>
                <a:ea typeface="Yu Gothic" pitchFamily="34" charset="-122"/>
                <a:cs typeface="Yu Gothic" pitchFamily="34" charset="-120"/>
              </a:rPr>
              <a:t>本提案の内容は、主にインターネットで調べた情報をもとにまとめたものです。実際の店舗業務を経験したうえでの提案ではないため、事実と異なる点があるかもしれません。お気づきの点がございましたら、ご指摘・ご助言をいただけますと幸いです。</a:t>
            </a:r>
            <a:endParaRPr lang="en-US" sz="850" dirty="0"/>
          </a:p>
          <a:p>
            <a:pPr marL="0" indent="0" eaLnBrk="1" latinLnBrk="0" hangingPunct="1">
              <a:lnSpc>
                <a:spcPct val="120000"/>
              </a:lnSpc>
              <a:buNone/>
            </a:pPr>
            <a:r>
              <a:rPr lang="en-US" sz="750" dirty="0">
                <a:solidFill>
                  <a:srgbClr val="877258"/>
                </a:solidFill>
                <a:latin typeface="Segoe UI" pitchFamily="34" charset="0"/>
                <a:ea typeface="Segoe UI" pitchFamily="34" charset="-122"/>
                <a:cs typeface="Segoe UI" pitchFamily="34" charset="-120"/>
              </a:rPr>
              <a:t>Bởi vì nội dung thử thách đa số được em tìm hiểu, tham khảo trên mạng, và cũng chưa được trải nghiệm thực tế, vì vậy nếu có sai lệch gì mong mọi </a:t>
            </a:r>
            <a:r>
              <a:rPr lang="en-US" sz="750" dirty="0" err="1">
                <a:solidFill>
                  <a:srgbClr val="877258"/>
                </a:solidFill>
                <a:latin typeface="Segoe UI" pitchFamily="34" charset="0"/>
                <a:ea typeface="Segoe UI" pitchFamily="34" charset="-122"/>
                <a:cs typeface="Segoe UI" pitchFamily="34" charset="-120"/>
              </a:rPr>
              <a:t>người</a:t>
            </a:r>
            <a:r>
              <a:rPr lang="en-US" sz="750" dirty="0">
                <a:solidFill>
                  <a:srgbClr val="877258"/>
                </a:solidFill>
                <a:latin typeface="Segoe UI" pitchFamily="34" charset="0"/>
                <a:ea typeface="Segoe UI" pitchFamily="34" charset="-122"/>
                <a:cs typeface="Segoe UI" pitchFamily="34" charset="-120"/>
              </a:rPr>
              <a:t> </a:t>
            </a:r>
            <a:r>
              <a:rPr lang="en-US" sz="750" dirty="0" err="1">
                <a:solidFill>
                  <a:srgbClr val="877258"/>
                </a:solidFill>
                <a:latin typeface="Segoe UI" pitchFamily="34" charset="0"/>
                <a:ea typeface="Segoe UI" pitchFamily="34" charset="-122"/>
                <a:cs typeface="Segoe UI" pitchFamily="34" charset="-120"/>
              </a:rPr>
              <a:t>góp</a:t>
            </a:r>
            <a:r>
              <a:rPr lang="en-US" sz="750" dirty="0">
                <a:solidFill>
                  <a:srgbClr val="877258"/>
                </a:solidFill>
                <a:latin typeface="Segoe UI" pitchFamily="34" charset="0"/>
                <a:ea typeface="Segoe UI" pitchFamily="34" charset="-122"/>
                <a:cs typeface="Segoe UI" pitchFamily="34" charset="-120"/>
              </a:rPr>
              <a:t> ý để ý tưởng của em được hoàn thiện hơn ạ!</a:t>
            </a:r>
            <a:endParaRPr lang="en-US" sz="850" dirty="0"/>
          </a:p>
        </p:txBody>
      </p:sp>
      <p:sp>
        <p:nvSpPr>
          <p:cNvPr id="13" name="Text 11"/>
          <p:cNvSpPr/>
          <p:nvPr/>
        </p:nvSpPr>
        <p:spPr>
          <a:xfrm>
            <a:off x="8351215" y="6473952"/>
            <a:ext cx="3291840" cy="228600"/>
          </a:xfrm>
          <a:prstGeom prst="rect">
            <a:avLst/>
          </a:prstGeom>
          <a:noFill/>
          <a:ln/>
        </p:spPr>
        <p:txBody>
          <a:bodyPr wrap="square" rtlCol="0" anchor="ctr"/>
          <a:lstStyle/>
          <a:p>
            <a:pPr marL="0" indent="0" algn="r" eaLnBrk="1" latinLnBrk="0" hangingPunct="1">
              <a:buNone/>
            </a:pPr>
            <a:r>
              <a:rPr lang="ja-JP" alt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19"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0D3ABAB-BB95-4057-9EF2-FC9C496198E8}">
  <we:reference id="WA200010725" version="1.0.0.1" store="Omex" storeType="OMEX"/>
  <we:alternateReferences>
    <we:reference id="WA200010725" version="1.0.0.1" store="WA200010725" storeType="OMEX"/>
  </we:alternateReferences>
  <we:properties>
    <we:property name="claude.fileId" value="&quot;80fbbb72-5035-4448-a6f7-621698e2f66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330</TotalTime>
  <Words>2374</Words>
  <Application>Microsoft Office PowerPoint</Application>
  <PresentationFormat>Widescreen</PresentationFormat>
  <Paragraphs>238</Paragraphs>
  <Slides>14</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Yu Gothic</vt:lpstr>
      <vt:lpstr>Yu Mincho</vt: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遠鉄ストア</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Entstore Smart Search 提案</dc:title>
  <dc:subject>PptxGenJS Presentation</dc:subject>
  <dc:creator>EVN (Entetsu Vietnam)</dc:creator>
  <cp:lastModifiedBy>NGUYEN VAN MINH258052</cp:lastModifiedBy>
  <cp:revision>10</cp:revision>
  <dcterms:created xsi:type="dcterms:W3CDTF">2026-09-16T07:35:45Z</dcterms:created>
  <dcterms:modified xsi:type="dcterms:W3CDTF">2026-09-24T03:36:36Z</dcterms:modified>
</cp:coreProperties>
</file>