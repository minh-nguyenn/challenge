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7273B"/>
          </a:solidFill>
          <a:ln w="12700">
            <a:solidFill>
              <a:srgbClr val="C7273B"/>
            </a:solidFill>
            <a:prstDash val="solid"/>
          </a:ln>
        </p:spPr>
      </p:sp>
      <p:sp>
        <p:nvSpPr>
          <p:cNvPr id="3" name="Shape 1"/>
          <p:cNvSpPr/>
          <p:nvPr/>
        </p:nvSpPr>
        <p:spPr>
          <a:xfrm>
            <a:off x="566928" y="1298448"/>
            <a:ext cx="502920" cy="50292"/>
          </a:xfrm>
          <a:prstGeom prst="rect">
            <a:avLst/>
          </a:prstGeom>
          <a:solidFill>
            <a:srgbClr val="C7273B"/>
          </a:solidFill>
          <a:ln w="12700">
            <a:solidFill>
              <a:srgbClr val="C7273B"/>
            </a:solidFill>
            <a:prstDash val="solid"/>
          </a:ln>
        </p:spPr>
      </p:sp>
      <p:sp>
        <p:nvSpPr>
          <p:cNvPr id="4" name="Text 2"/>
          <p:cNvSpPr/>
          <p:nvPr/>
        </p:nvSpPr>
        <p:spPr>
          <a:xfrm>
            <a:off x="1225296" y="1170432"/>
            <a:ext cx="5486400" cy="274320"/>
          </a:xfrm>
          <a:prstGeom prst="rect">
            <a:avLst/>
          </a:prstGeom>
          <a:noFill/>
          <a:ln/>
        </p:spPr>
        <p:txBody>
          <a:bodyPr wrap="square" rtlCol="0" anchor="ctr"/>
          <a:lstStyle/>
          <a:p>
            <a:pPr indent="0" marL="0">
              <a:buNone/>
            </a:pPr>
            <a:r>
              <a:rPr lang="en-US" sz="1150" b="1" spc="200" kern="0" dirty="0">
                <a:solidFill>
                  <a:srgbClr val="C7273B"/>
                </a:solidFill>
                <a:latin typeface="Yu Gothic" pitchFamily="34" charset="0"/>
                <a:ea typeface="Yu Gothic" pitchFamily="34" charset="-122"/>
                <a:cs typeface="Yu Gothic" pitchFamily="34" charset="-120"/>
              </a:rPr>
              <a:t>遠鉄ストア　ENTETSU STORE</a:t>
            </a:r>
            <a:endParaRPr lang="en-US" sz="1150" dirty="0"/>
          </a:p>
        </p:txBody>
      </p:sp>
      <p:sp>
        <p:nvSpPr>
          <p:cNvPr id="5" name="Text 3"/>
          <p:cNvSpPr/>
          <p:nvPr/>
        </p:nvSpPr>
        <p:spPr>
          <a:xfrm>
            <a:off x="566928" y="1572768"/>
            <a:ext cx="11057839" cy="868680"/>
          </a:xfrm>
          <a:prstGeom prst="rect">
            <a:avLst/>
          </a:prstGeom>
          <a:noFill/>
          <a:ln/>
        </p:spPr>
        <p:txBody>
          <a:bodyPr wrap="square" rtlCol="0" anchor="ctr"/>
          <a:lstStyle/>
          <a:p>
            <a:pPr indent="0" marL="0">
              <a:buNone/>
            </a:pPr>
            <a:r>
              <a:rPr lang="en-US" sz="4400" b="1" dirty="0">
                <a:solidFill>
                  <a:srgbClr val="331E0E"/>
                </a:solidFill>
                <a:latin typeface="Yu Mincho" pitchFamily="34" charset="0"/>
                <a:ea typeface="Yu Mincho" pitchFamily="34" charset="-122"/>
                <a:cs typeface="Yu Mincho" pitchFamily="34" charset="-120"/>
              </a:rPr>
              <a:t>Entstore Smart Search</a:t>
            </a:r>
            <a:endParaRPr lang="en-US" sz="4400" dirty="0"/>
          </a:p>
        </p:txBody>
      </p:sp>
      <p:sp>
        <p:nvSpPr>
          <p:cNvPr id="6" name="Text 4"/>
          <p:cNvSpPr/>
          <p:nvPr/>
        </p:nvSpPr>
        <p:spPr>
          <a:xfrm>
            <a:off x="566928" y="2487168"/>
            <a:ext cx="11057839" cy="365760"/>
          </a:xfrm>
          <a:prstGeom prst="rect">
            <a:avLst/>
          </a:prstGeom>
          <a:noFill/>
          <a:ln/>
        </p:spPr>
        <p:txBody>
          <a:bodyPr wrap="square" rtlCol="0" anchor="ctr"/>
          <a:lstStyle/>
          <a:p>
            <a:pPr indent="0" marL="0">
              <a:buNone/>
            </a:pPr>
            <a:r>
              <a:rPr lang="en-US" sz="1500" b="1" dirty="0">
                <a:solidFill>
                  <a:srgbClr val="2A1A0E"/>
                </a:solidFill>
                <a:latin typeface="Yu Gothic" pitchFamily="34" charset="0"/>
                <a:ea typeface="Yu Gothic" pitchFamily="34" charset="-122"/>
                <a:cs typeface="Yu Gothic" pitchFamily="34" charset="-120"/>
              </a:rPr>
              <a:t>「なんでも検索」— 商品・レシピ・特売がひとつの入力でつながる</a:t>
            </a:r>
            <a:endParaRPr lang="en-US" sz="1500" dirty="0"/>
          </a:p>
        </p:txBody>
      </p:sp>
      <p:sp>
        <p:nvSpPr>
          <p:cNvPr id="7" name="Text 5"/>
          <p:cNvSpPr/>
          <p:nvPr/>
        </p:nvSpPr>
        <p:spPr>
          <a:xfrm>
            <a:off x="566928" y="2852928"/>
            <a:ext cx="11057839" cy="310896"/>
          </a:xfrm>
          <a:prstGeom prst="rect">
            <a:avLst/>
          </a:prstGeom>
          <a:noFill/>
          <a:ln/>
        </p:spPr>
        <p:txBody>
          <a:bodyPr wrap="square" rtlCol="0" anchor="ctr"/>
          <a:lstStyle/>
          <a:p>
            <a:pPr indent="0" marL="0">
              <a:buNone/>
            </a:pPr>
            <a:r>
              <a:rPr lang="en-US" sz="1250" dirty="0">
                <a:solidFill>
                  <a:srgbClr val="877258"/>
                </a:solidFill>
                <a:latin typeface="Segoe UI" pitchFamily="34" charset="0"/>
                <a:ea typeface="Segoe UI" pitchFamily="34" charset="-122"/>
                <a:cs typeface="Segoe UI" pitchFamily="34" charset="-120"/>
              </a:rPr>
              <a:t>Tìm kiếm thông minh — kết nối sản phẩm · công thức · khuyến mãi trong một ô nhập</a:t>
            </a:r>
            <a:endParaRPr lang="en-US" sz="1250" dirty="0"/>
          </a:p>
        </p:txBody>
      </p:sp>
      <p:sp>
        <p:nvSpPr>
          <p:cNvPr id="8" name="Shape 6"/>
          <p:cNvSpPr/>
          <p:nvPr/>
        </p:nvSpPr>
        <p:spPr>
          <a:xfrm>
            <a:off x="566928" y="3493008"/>
            <a:ext cx="2138416" cy="694944"/>
          </a:xfrm>
          <a:prstGeom prst="rect">
            <a:avLst/>
          </a:prstGeom>
          <a:solidFill>
            <a:srgbClr val="F3E7CD"/>
          </a:solidFill>
          <a:ln w="12700">
            <a:solidFill>
              <a:srgbClr val="F3E7CD"/>
            </a:solidFill>
            <a:prstDash val="solid"/>
          </a:ln>
        </p:spPr>
      </p:sp>
      <p:sp>
        <p:nvSpPr>
          <p:cNvPr id="9" name="Text 7"/>
          <p:cNvSpPr/>
          <p:nvPr/>
        </p:nvSpPr>
        <p:spPr>
          <a:xfrm>
            <a:off x="676656" y="3566160"/>
            <a:ext cx="1918960" cy="548640"/>
          </a:xfrm>
          <a:prstGeom prst="rect">
            <a:avLst/>
          </a:prstGeom>
          <a:noFill/>
          <a:ln/>
        </p:spPr>
        <p:txBody>
          <a:bodyPr wrap="square" rtlCol="0" anchor="t"/>
          <a:lstStyle/>
          <a:p>
            <a:pPr indent="0" marL="0">
              <a:buNone/>
            </a:pPr>
            <a:r>
              <a:rPr lang="en-US" sz="1000" b="1" dirty="0">
                <a:solidFill>
                  <a:srgbClr val="331E0E"/>
                </a:solidFill>
                <a:latin typeface="Yu Gothic" pitchFamily="34" charset="0"/>
                <a:ea typeface="Yu Gothic" pitchFamily="34" charset="-122"/>
                <a:cs typeface="Yu Gothic" pitchFamily="34" charset="-120"/>
              </a:rPr>
              <a:t>なんでも検索</a:t>
            </a:r>
            <a:endParaRPr lang="en-US" sz="1000" dirty="0"/>
          </a:p>
          <a:p>
            <a:pPr indent="0" marL="0">
              <a:buNone/>
            </a:pPr>
            <a:r>
              <a:rPr lang="en-US" sz="850" dirty="0">
                <a:solidFill>
                  <a:srgbClr val="877258"/>
                </a:solidFill>
                <a:latin typeface="Segoe UI" pitchFamily="34" charset="0"/>
                <a:ea typeface="Segoe UI" pitchFamily="34" charset="-122"/>
                <a:cs typeface="Segoe UI" pitchFamily="34" charset="-120"/>
              </a:rPr>
              <a:t>Ô tìm kiếm toàn site</a:t>
            </a:r>
            <a:endParaRPr lang="en-US" sz="1000" dirty="0"/>
          </a:p>
        </p:txBody>
      </p:sp>
      <p:sp>
        <p:nvSpPr>
          <p:cNvPr id="10" name="Shape 8"/>
          <p:cNvSpPr/>
          <p:nvPr/>
        </p:nvSpPr>
        <p:spPr>
          <a:xfrm>
            <a:off x="2796784" y="3493008"/>
            <a:ext cx="2138416" cy="694944"/>
          </a:xfrm>
          <a:prstGeom prst="rect">
            <a:avLst/>
          </a:prstGeom>
          <a:solidFill>
            <a:srgbClr val="F3E7CD"/>
          </a:solidFill>
          <a:ln w="12700">
            <a:solidFill>
              <a:srgbClr val="F3E7CD"/>
            </a:solidFill>
            <a:prstDash val="solid"/>
          </a:ln>
        </p:spPr>
      </p:sp>
      <p:sp>
        <p:nvSpPr>
          <p:cNvPr id="11" name="Text 9"/>
          <p:cNvSpPr/>
          <p:nvPr/>
        </p:nvSpPr>
        <p:spPr>
          <a:xfrm>
            <a:off x="2906512" y="3566160"/>
            <a:ext cx="1918960" cy="548640"/>
          </a:xfrm>
          <a:prstGeom prst="rect">
            <a:avLst/>
          </a:prstGeom>
          <a:noFill/>
          <a:ln/>
        </p:spPr>
        <p:txBody>
          <a:bodyPr wrap="square" rtlCol="0" anchor="t"/>
          <a:lstStyle/>
          <a:p>
            <a:pPr indent="0" marL="0">
              <a:buNone/>
            </a:pPr>
            <a:r>
              <a:rPr lang="en-US" sz="1000" b="1" dirty="0">
                <a:solidFill>
                  <a:srgbClr val="331E0E"/>
                </a:solidFill>
                <a:latin typeface="Yu Gothic" pitchFamily="34" charset="0"/>
                <a:ea typeface="Yu Gothic" pitchFamily="34" charset="-122"/>
                <a:cs typeface="Yu Gothic" pitchFamily="34" charset="-120"/>
              </a:rPr>
              <a:t>AIチャットボット</a:t>
            </a:r>
            <a:endParaRPr lang="en-US" sz="1000" dirty="0"/>
          </a:p>
          <a:p>
            <a:pPr indent="0" marL="0">
              <a:buNone/>
            </a:pPr>
            <a:r>
              <a:rPr lang="en-US" sz="850" dirty="0">
                <a:solidFill>
                  <a:srgbClr val="877258"/>
                </a:solidFill>
                <a:latin typeface="Segoe UI" pitchFamily="34" charset="0"/>
                <a:ea typeface="Segoe UI" pitchFamily="34" charset="-122"/>
                <a:cs typeface="Segoe UI" pitchFamily="34" charset="-120"/>
              </a:rPr>
              <a:t>Trợ lý hỏi đáp</a:t>
            </a:r>
            <a:endParaRPr lang="en-US" sz="1000" dirty="0"/>
          </a:p>
        </p:txBody>
      </p:sp>
      <p:sp>
        <p:nvSpPr>
          <p:cNvPr id="12" name="Shape 10"/>
          <p:cNvSpPr/>
          <p:nvPr/>
        </p:nvSpPr>
        <p:spPr>
          <a:xfrm>
            <a:off x="5026640" y="3493008"/>
            <a:ext cx="2138416" cy="694944"/>
          </a:xfrm>
          <a:prstGeom prst="rect">
            <a:avLst/>
          </a:prstGeom>
          <a:solidFill>
            <a:srgbClr val="F3E7CD"/>
          </a:solidFill>
          <a:ln w="12700">
            <a:solidFill>
              <a:srgbClr val="F3E7CD"/>
            </a:solidFill>
            <a:prstDash val="solid"/>
          </a:ln>
        </p:spPr>
      </p:sp>
      <p:sp>
        <p:nvSpPr>
          <p:cNvPr id="13" name="Text 11"/>
          <p:cNvSpPr/>
          <p:nvPr/>
        </p:nvSpPr>
        <p:spPr>
          <a:xfrm>
            <a:off x="5136368" y="3566160"/>
            <a:ext cx="1918960" cy="548640"/>
          </a:xfrm>
          <a:prstGeom prst="rect">
            <a:avLst/>
          </a:prstGeom>
          <a:noFill/>
          <a:ln/>
        </p:spPr>
        <p:txBody>
          <a:bodyPr wrap="square" rtlCol="0" anchor="t"/>
          <a:lstStyle/>
          <a:p>
            <a:pPr indent="0" marL="0">
              <a:buNone/>
            </a:pPr>
            <a:r>
              <a:rPr lang="en-US" sz="1000" b="1" dirty="0">
                <a:solidFill>
                  <a:srgbClr val="331E0E"/>
                </a:solidFill>
                <a:latin typeface="Yu Gothic" pitchFamily="34" charset="0"/>
                <a:ea typeface="Yu Gothic" pitchFamily="34" charset="-122"/>
                <a:cs typeface="Yu Gothic" pitchFamily="34" charset="-120"/>
              </a:rPr>
              <a:t>AI音声読み上げ</a:t>
            </a:r>
            <a:endParaRPr lang="en-US" sz="1000" dirty="0"/>
          </a:p>
          <a:p>
            <a:pPr indent="0" marL="0">
              <a:buNone/>
            </a:pPr>
            <a:r>
              <a:rPr lang="en-US" sz="850" dirty="0">
                <a:solidFill>
                  <a:srgbClr val="877258"/>
                </a:solidFill>
                <a:latin typeface="Segoe UI" pitchFamily="34" charset="0"/>
                <a:ea typeface="Segoe UI" pitchFamily="34" charset="-122"/>
                <a:cs typeface="Segoe UI" pitchFamily="34" charset="-120"/>
              </a:rPr>
              <a:t>AI đọc công thức</a:t>
            </a:r>
            <a:endParaRPr lang="en-US" sz="1000" dirty="0"/>
          </a:p>
        </p:txBody>
      </p:sp>
      <p:sp>
        <p:nvSpPr>
          <p:cNvPr id="14" name="Shape 12"/>
          <p:cNvSpPr/>
          <p:nvPr/>
        </p:nvSpPr>
        <p:spPr>
          <a:xfrm>
            <a:off x="7256496" y="3493008"/>
            <a:ext cx="2138416" cy="694944"/>
          </a:xfrm>
          <a:prstGeom prst="rect">
            <a:avLst/>
          </a:prstGeom>
          <a:solidFill>
            <a:srgbClr val="F3E7CD"/>
          </a:solidFill>
          <a:ln w="12700">
            <a:solidFill>
              <a:srgbClr val="F3E7CD"/>
            </a:solidFill>
            <a:prstDash val="solid"/>
          </a:ln>
        </p:spPr>
      </p:sp>
      <p:sp>
        <p:nvSpPr>
          <p:cNvPr id="15" name="Text 13"/>
          <p:cNvSpPr/>
          <p:nvPr/>
        </p:nvSpPr>
        <p:spPr>
          <a:xfrm>
            <a:off x="7366224" y="3566160"/>
            <a:ext cx="1918960" cy="548640"/>
          </a:xfrm>
          <a:prstGeom prst="rect">
            <a:avLst/>
          </a:prstGeom>
          <a:noFill/>
          <a:ln/>
        </p:spPr>
        <p:txBody>
          <a:bodyPr wrap="square" rtlCol="0" anchor="t"/>
          <a:lstStyle/>
          <a:p>
            <a:pPr indent="0" marL="0">
              <a:buNone/>
            </a:pPr>
            <a:r>
              <a:rPr lang="en-US" sz="1000" b="1" dirty="0">
                <a:solidFill>
                  <a:srgbClr val="331E0E"/>
                </a:solidFill>
                <a:latin typeface="Yu Gothic" pitchFamily="34" charset="0"/>
                <a:ea typeface="Yu Gothic" pitchFamily="34" charset="-122"/>
                <a:cs typeface="Yu Gothic" pitchFamily="34" charset="-120"/>
              </a:rPr>
              <a:t>買い物リスト（売場順）</a:t>
            </a:r>
            <a:endParaRPr lang="en-US" sz="1000" dirty="0"/>
          </a:p>
          <a:p>
            <a:pPr indent="0" marL="0">
              <a:buNone/>
            </a:pPr>
            <a:r>
              <a:rPr lang="en-US" sz="850" dirty="0">
                <a:solidFill>
                  <a:srgbClr val="877258"/>
                </a:solidFill>
                <a:latin typeface="Segoe UI" pitchFamily="34" charset="0"/>
                <a:ea typeface="Segoe UI" pitchFamily="34" charset="-122"/>
                <a:cs typeface="Segoe UI" pitchFamily="34" charset="-120"/>
              </a:rPr>
              <a:t>Danh sách đi chợ theo quầy</a:t>
            </a:r>
            <a:endParaRPr lang="en-US" sz="1000" dirty="0"/>
          </a:p>
        </p:txBody>
      </p:sp>
      <p:sp>
        <p:nvSpPr>
          <p:cNvPr id="16" name="Shape 14"/>
          <p:cNvSpPr/>
          <p:nvPr/>
        </p:nvSpPr>
        <p:spPr>
          <a:xfrm>
            <a:off x="9486351" y="3493008"/>
            <a:ext cx="2138416" cy="694944"/>
          </a:xfrm>
          <a:prstGeom prst="rect">
            <a:avLst/>
          </a:prstGeom>
          <a:solidFill>
            <a:srgbClr val="F3E7CD"/>
          </a:solidFill>
          <a:ln w="12700">
            <a:solidFill>
              <a:srgbClr val="F3E7CD"/>
            </a:solidFill>
            <a:prstDash val="solid"/>
          </a:ln>
        </p:spPr>
      </p:sp>
      <p:sp>
        <p:nvSpPr>
          <p:cNvPr id="17" name="Text 15"/>
          <p:cNvSpPr/>
          <p:nvPr/>
        </p:nvSpPr>
        <p:spPr>
          <a:xfrm>
            <a:off x="9596079" y="3566160"/>
            <a:ext cx="1918960" cy="548640"/>
          </a:xfrm>
          <a:prstGeom prst="rect">
            <a:avLst/>
          </a:prstGeom>
          <a:noFill/>
          <a:ln/>
        </p:spPr>
        <p:txBody>
          <a:bodyPr wrap="square" rtlCol="0" anchor="t"/>
          <a:lstStyle/>
          <a:p>
            <a:pPr indent="0" marL="0">
              <a:buNone/>
            </a:pPr>
            <a:r>
              <a:rPr lang="en-US" sz="1000" b="1" dirty="0">
                <a:solidFill>
                  <a:srgbClr val="331E0E"/>
                </a:solidFill>
                <a:latin typeface="Yu Gothic" pitchFamily="34" charset="0"/>
                <a:ea typeface="Yu Gothic" pitchFamily="34" charset="-122"/>
                <a:cs typeface="Yu Gothic" pitchFamily="34" charset="-120"/>
              </a:rPr>
              <a:t>カート → ネット通販</a:t>
            </a:r>
            <a:endParaRPr lang="en-US" sz="1000" dirty="0"/>
          </a:p>
          <a:p>
            <a:pPr indent="0" marL="0">
              <a:buNone/>
            </a:pPr>
            <a:r>
              <a:rPr lang="en-US" sz="850" dirty="0">
                <a:solidFill>
                  <a:srgbClr val="877258"/>
                </a:solidFill>
                <a:latin typeface="Segoe UI" pitchFamily="34" charset="0"/>
                <a:ea typeface="Segoe UI" pitchFamily="34" charset="-122"/>
                <a:cs typeface="Segoe UI" pitchFamily="34" charset="-120"/>
              </a:rPr>
              <a:t>Giỏ hàng nối sang trang EC</a:t>
            </a:r>
            <a:endParaRPr lang="en-US" sz="1000" dirty="0"/>
          </a:p>
        </p:txBody>
      </p:sp>
      <p:sp>
        <p:nvSpPr>
          <p:cNvPr id="18" name="Shape 16"/>
          <p:cNvSpPr/>
          <p:nvPr/>
        </p:nvSpPr>
        <p:spPr>
          <a:xfrm>
            <a:off x="566928" y="5852160"/>
            <a:ext cx="11057839" cy="0"/>
          </a:xfrm>
          <a:prstGeom prst="line">
            <a:avLst/>
          </a:prstGeom>
          <a:noFill/>
          <a:ln w="9525">
            <a:solidFill>
              <a:srgbClr val="E4D9C6"/>
            </a:solidFill>
            <a:prstDash val="solid"/>
          </a:ln>
        </p:spPr>
      </p:sp>
      <p:sp>
        <p:nvSpPr>
          <p:cNvPr id="19" name="Text 17"/>
          <p:cNvSpPr/>
          <p:nvPr/>
        </p:nvSpPr>
        <p:spPr>
          <a:xfrm>
            <a:off x="566928" y="5943600"/>
            <a:ext cx="6400800" cy="274320"/>
          </a:xfrm>
          <a:prstGeom prst="rect">
            <a:avLst/>
          </a:prstGeom>
          <a:noFill/>
          <a:ln/>
        </p:spPr>
        <p:txBody>
          <a:bodyPr wrap="square" rtlCol="0" anchor="ctr"/>
          <a:lstStyle/>
          <a:p>
            <a:pPr indent="0" marL="0">
              <a:buNone/>
            </a:pPr>
            <a:r>
              <a:rPr lang="en-US" sz="1100" dirty="0">
                <a:solidFill>
                  <a:srgbClr val="877258"/>
                </a:solidFill>
                <a:latin typeface="Yu Gothic" pitchFamily="34" charset="0"/>
                <a:ea typeface="Yu Gothic" pitchFamily="34" charset="-122"/>
                <a:cs typeface="Yu Gothic" pitchFamily="34" charset="-120"/>
              </a:rPr>
              <a:t>提案者：EVN（Entetsu Vietnam）　Nguyen Van Minh</a:t>
            </a:r>
            <a:endParaRPr lang="en-US" sz="1100" dirty="0"/>
          </a:p>
        </p:txBody>
      </p:sp>
      <p:sp>
        <p:nvSpPr>
          <p:cNvPr id="20" name="Text 18"/>
          <p:cNvSpPr/>
          <p:nvPr/>
        </p:nvSpPr>
        <p:spPr>
          <a:xfrm>
            <a:off x="8351215" y="6473952"/>
            <a:ext cx="3291840" cy="228600"/>
          </a:xfrm>
          <a:prstGeom prst="rect">
            <a:avLst/>
          </a:prstGeom>
          <a:noFill/>
          <a:ln/>
        </p:spPr>
        <p:txBody>
          <a:bodyPr wrap="square" rtlCol="0" anchor="ctr"/>
          <a:lstStyle/>
          <a:p>
            <a:pPr algn="r" indent="0" marL="0">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indent="0" marL="0">
              <a:buNone/>
            </a:pPr>
            <a:r>
              <a:rPr lang="en-US" sz="1050" b="1" spc="100" kern="0" dirty="0">
                <a:solidFill>
                  <a:srgbClr val="C7273B"/>
                </a:solidFill>
                <a:latin typeface="Yu Gothic" pitchFamily="34" charset="0"/>
                <a:ea typeface="Yu Gothic" pitchFamily="34" charset="-122"/>
                <a:cs typeface="Yu Gothic" pitchFamily="34" charset="-120"/>
              </a:rPr>
              <a:t>全体像</a:t>
            </a:r>
            <a:pPr indent="0" marL="0">
              <a:buNone/>
            </a:pPr>
            <a:r>
              <a:rPr lang="en-US" sz="1000" b="1" spc="100" kern="0" dirty="0">
                <a:solidFill>
                  <a:srgbClr val="877258"/>
                </a:solidFill>
                <a:latin typeface="Segoe UI" pitchFamily="34" charset="0"/>
                <a:ea typeface="Segoe UI" pitchFamily="34" charset="-122"/>
                <a:cs typeface="Segoe UI" pitchFamily="34" charset="-120"/>
              </a:rPr>
              <a:t>　／ TỔNG QUAN</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sp>
      <p:sp>
        <p:nvSpPr>
          <p:cNvPr id="4" name="Text 2"/>
          <p:cNvSpPr/>
          <p:nvPr/>
        </p:nvSpPr>
        <p:spPr>
          <a:xfrm>
            <a:off x="566928" y="713232"/>
            <a:ext cx="11057839" cy="502920"/>
          </a:xfrm>
          <a:prstGeom prst="rect">
            <a:avLst/>
          </a:prstGeom>
          <a:noFill/>
          <a:ln/>
        </p:spPr>
        <p:txBody>
          <a:bodyPr wrap="square" rtlCol="0" anchor="ctr"/>
          <a:lstStyle/>
          <a:p>
            <a:pPr indent="0" marL="0">
              <a:buNone/>
            </a:pPr>
            <a:r>
              <a:rPr lang="en-US" sz="2700" b="1" dirty="0">
                <a:solidFill>
                  <a:srgbClr val="331E0E"/>
                </a:solidFill>
                <a:latin typeface="Yu Mincho" pitchFamily="34" charset="0"/>
                <a:ea typeface="Yu Mincho" pitchFamily="34" charset="-122"/>
                <a:cs typeface="Yu Mincho" pitchFamily="34" charset="-120"/>
              </a:rPr>
              <a:t>追加した5つの機能と、できること</a:t>
            </a:r>
            <a:endParaRPr lang="en-US" sz="2700" dirty="0"/>
          </a:p>
        </p:txBody>
      </p:sp>
      <p:sp>
        <p:nvSpPr>
          <p:cNvPr id="5" name="Text 3"/>
          <p:cNvSpPr/>
          <p:nvPr/>
        </p:nvSpPr>
        <p:spPr>
          <a:xfrm>
            <a:off x="566928" y="1225296"/>
            <a:ext cx="11057839" cy="274320"/>
          </a:xfrm>
          <a:prstGeom prst="rect">
            <a:avLst/>
          </a:prstGeom>
          <a:noFill/>
          <a:ln/>
        </p:spPr>
        <p:txBody>
          <a:bodyPr wrap="square" rtlCol="0" anchor="ctr"/>
          <a:lstStyle/>
          <a:p>
            <a:pPr indent="0" marL="0">
              <a:buNone/>
            </a:pPr>
            <a:r>
              <a:rPr lang="en-US" sz="1250" dirty="0">
                <a:solidFill>
                  <a:srgbClr val="877258"/>
                </a:solidFill>
                <a:latin typeface="Segoe UI" pitchFamily="34" charset="0"/>
                <a:ea typeface="Segoe UI" pitchFamily="34" charset="-122"/>
                <a:cs typeface="Segoe UI" pitchFamily="34" charset="-120"/>
              </a:rPr>
              <a:t>Năm tính năng đã bổ sung và những gì mỗi tính năng làm được</a:t>
            </a:r>
            <a:endParaRPr lang="en-US" sz="1250" dirty="0"/>
          </a:p>
        </p:txBody>
      </p:sp>
      <p:sp>
        <p:nvSpPr>
          <p:cNvPr id="6" name="Shape 4"/>
          <p:cNvSpPr/>
          <p:nvPr/>
        </p:nvSpPr>
        <p:spPr>
          <a:xfrm>
            <a:off x="566928" y="1664208"/>
            <a:ext cx="3576218" cy="2084832"/>
          </a:xfrm>
          <a:prstGeom prst="rect">
            <a:avLst/>
          </a:prstGeom>
          <a:solidFill>
            <a:srgbClr val="FFFFFF"/>
          </a:solidFill>
          <a:ln w="9525">
            <a:solidFill>
              <a:srgbClr val="E4D9C6"/>
            </a:solidFill>
            <a:prstDash val="solid"/>
          </a:ln>
        </p:spPr>
      </p:sp>
      <p:sp>
        <p:nvSpPr>
          <p:cNvPr id="7" name="Shape 5"/>
          <p:cNvSpPr/>
          <p:nvPr/>
        </p:nvSpPr>
        <p:spPr>
          <a:xfrm>
            <a:off x="566928" y="1664208"/>
            <a:ext cx="3576218" cy="45720"/>
          </a:xfrm>
          <a:prstGeom prst="rect">
            <a:avLst/>
          </a:prstGeom>
          <a:solidFill>
            <a:srgbClr val="C7273B"/>
          </a:solidFill>
          <a:ln w="12700">
            <a:solidFill>
              <a:srgbClr val="C7273B"/>
            </a:solidFill>
            <a:prstDash val="solid"/>
          </a:ln>
        </p:spPr>
      </p:sp>
      <p:sp>
        <p:nvSpPr>
          <p:cNvPr id="8" name="Text 6"/>
          <p:cNvSpPr/>
          <p:nvPr/>
        </p:nvSpPr>
        <p:spPr>
          <a:xfrm>
            <a:off x="713232" y="1792224"/>
            <a:ext cx="3283610" cy="1847088"/>
          </a:xfrm>
          <a:prstGeom prst="rect">
            <a:avLst/>
          </a:prstGeom>
          <a:noFill/>
          <a:ln/>
        </p:spPr>
        <p:txBody>
          <a:bodyPr wrap="square" rtlCol="0" anchor="t"/>
          <a:lstStyle/>
          <a:p>
            <a:pPr indent="0" marL="0">
              <a:buNone/>
            </a:pPr>
            <a:r>
              <a:rPr lang="en-US" sz="950" b="1" spc="100" kern="0" dirty="0">
                <a:solidFill>
                  <a:srgbClr val="C7273B"/>
                </a:solidFill>
                <a:latin typeface="Yu Mincho" pitchFamily="34" charset="0"/>
                <a:ea typeface="Yu Mincho" pitchFamily="34" charset="-122"/>
                <a:cs typeface="Yu Mincho" pitchFamily="34" charset="-120"/>
              </a:rPr>
              <a:t>機能 ①</a:t>
            </a:r>
            <a:endParaRPr lang="en-US" sz="950" dirty="0"/>
          </a:p>
          <a:p>
            <a:pPr indent="0" marL="0">
              <a:buNone/>
            </a:pPr>
            <a:r>
              <a:rPr lang="en-US" sz="1400" b="1" dirty="0">
                <a:solidFill>
                  <a:srgbClr val="331E0E"/>
                </a:solidFill>
                <a:latin typeface="Yu Mincho" pitchFamily="34" charset="0"/>
                <a:ea typeface="Yu Mincho" pitchFamily="34" charset="-122"/>
                <a:cs typeface="Yu Mincho" pitchFamily="34" charset="-120"/>
              </a:rPr>
              <a:t>なんでも検索</a:t>
            </a:r>
            <a:endParaRPr lang="en-US" sz="950" dirty="0"/>
          </a:p>
          <a:p>
            <a:pPr indent="0" marL="0">
              <a:buNone/>
            </a:pPr>
            <a:r>
              <a:rPr lang="en-US" sz="850" dirty="0">
                <a:solidFill>
                  <a:srgbClr val="877258"/>
                </a:solidFill>
                <a:latin typeface="Segoe UI" pitchFamily="34" charset="0"/>
                <a:ea typeface="Segoe UI" pitchFamily="34" charset="-122"/>
                <a:cs typeface="Segoe UI" pitchFamily="34" charset="-120"/>
              </a:rPr>
              <a:t>Ô tìm kiếm toàn site</a:t>
            </a:r>
            <a:endParaRPr lang="en-US" sz="950" dirty="0"/>
          </a:p>
          <a:p>
            <a:pPr indent="0" marL="0">
              <a:lnSpc>
                <a:spcPct val="120000"/>
              </a:lnSpc>
              <a:buNone/>
            </a:pPr>
            <a:endParaRPr lang="en-US" sz="950" dirty="0"/>
          </a:p>
          <a:p>
            <a:pPr indent="0" marL="0">
              <a:lnSpc>
                <a:spcPct val="120000"/>
              </a:lnSpc>
              <a:buNone/>
            </a:pPr>
            <a:r>
              <a:rPr lang="en-US" sz="950" dirty="0">
                <a:solidFill>
                  <a:srgbClr val="2A1A0E"/>
                </a:solidFill>
                <a:latin typeface="Yu Gothic" pitchFamily="34" charset="0"/>
                <a:ea typeface="Yu Gothic" pitchFamily="34" charset="-122"/>
                <a:cs typeface="Yu Gothic" pitchFamily="34" charset="-120"/>
              </a:rPr>
              <a:t>商品・レシピ・特売・記事・ブログ・店舗・サービス紹介まで、1つの入力で横断。「2000円で何が作れる？」のような文章でも答えます。</a:t>
            </a:r>
            <a:endParaRPr lang="en-US" sz="950" dirty="0"/>
          </a:p>
          <a:p>
            <a:pPr indent="0" marL="0">
              <a:lnSpc>
                <a:spcPct val="115000"/>
              </a:lnSpc>
              <a:buNone/>
            </a:pPr>
            <a:r>
              <a:rPr lang="en-US" sz="850" dirty="0">
                <a:solidFill>
                  <a:srgbClr val="877258"/>
                </a:solidFill>
                <a:latin typeface="Segoe UI" pitchFamily="34" charset="0"/>
                <a:ea typeface="Segoe UI" pitchFamily="34" charset="-122"/>
                <a:cs typeface="Segoe UI" pitchFamily="34" charset="-120"/>
              </a:rPr>
              <a:t>Một từ khoá tìm ra sản phẩm, công thức, khuyến mãi, bài viết, blog, cửa hàng. Hỏi cả câu như “2000 yên nấu được gì?” cũng trả lời.</a:t>
            </a:r>
            <a:endParaRPr lang="en-US" sz="950" dirty="0"/>
          </a:p>
        </p:txBody>
      </p:sp>
      <p:sp>
        <p:nvSpPr>
          <p:cNvPr id="9" name="Shape 7"/>
          <p:cNvSpPr/>
          <p:nvPr/>
        </p:nvSpPr>
        <p:spPr>
          <a:xfrm>
            <a:off x="4307738" y="1664208"/>
            <a:ext cx="3576218" cy="2084832"/>
          </a:xfrm>
          <a:prstGeom prst="rect">
            <a:avLst/>
          </a:prstGeom>
          <a:solidFill>
            <a:srgbClr val="FFFFFF"/>
          </a:solidFill>
          <a:ln w="9525">
            <a:solidFill>
              <a:srgbClr val="E4D9C6"/>
            </a:solidFill>
            <a:prstDash val="solid"/>
          </a:ln>
        </p:spPr>
      </p:sp>
      <p:sp>
        <p:nvSpPr>
          <p:cNvPr id="10" name="Shape 8"/>
          <p:cNvSpPr/>
          <p:nvPr/>
        </p:nvSpPr>
        <p:spPr>
          <a:xfrm>
            <a:off x="4307738" y="1664208"/>
            <a:ext cx="3576218" cy="45720"/>
          </a:xfrm>
          <a:prstGeom prst="rect">
            <a:avLst/>
          </a:prstGeom>
          <a:solidFill>
            <a:srgbClr val="C7273B"/>
          </a:solidFill>
          <a:ln w="12700">
            <a:solidFill>
              <a:srgbClr val="C7273B"/>
            </a:solidFill>
            <a:prstDash val="solid"/>
          </a:ln>
        </p:spPr>
      </p:sp>
      <p:sp>
        <p:nvSpPr>
          <p:cNvPr id="11" name="Text 9"/>
          <p:cNvSpPr/>
          <p:nvPr/>
        </p:nvSpPr>
        <p:spPr>
          <a:xfrm>
            <a:off x="4454042" y="1792224"/>
            <a:ext cx="3283610" cy="1847088"/>
          </a:xfrm>
          <a:prstGeom prst="rect">
            <a:avLst/>
          </a:prstGeom>
          <a:noFill/>
          <a:ln/>
        </p:spPr>
        <p:txBody>
          <a:bodyPr wrap="square" rtlCol="0" anchor="t"/>
          <a:lstStyle/>
          <a:p>
            <a:pPr indent="0" marL="0">
              <a:buNone/>
            </a:pPr>
            <a:r>
              <a:rPr lang="en-US" sz="950" b="1" spc="100" kern="0" dirty="0">
                <a:solidFill>
                  <a:srgbClr val="C7273B"/>
                </a:solidFill>
                <a:latin typeface="Yu Mincho" pitchFamily="34" charset="0"/>
                <a:ea typeface="Yu Mincho" pitchFamily="34" charset="-122"/>
                <a:cs typeface="Yu Mincho" pitchFamily="34" charset="-120"/>
              </a:rPr>
              <a:t>機能 ②</a:t>
            </a:r>
            <a:endParaRPr lang="en-US" sz="950" dirty="0"/>
          </a:p>
          <a:p>
            <a:pPr indent="0" marL="0">
              <a:buNone/>
            </a:pPr>
            <a:r>
              <a:rPr lang="en-US" sz="1400" b="1" dirty="0">
                <a:solidFill>
                  <a:srgbClr val="331E0E"/>
                </a:solidFill>
                <a:latin typeface="Yu Mincho" pitchFamily="34" charset="0"/>
                <a:ea typeface="Yu Mincho" pitchFamily="34" charset="-122"/>
                <a:cs typeface="Yu Mincho" pitchFamily="34" charset="-120"/>
              </a:rPr>
              <a:t>AIチャットボット</a:t>
            </a:r>
            <a:endParaRPr lang="en-US" sz="950" dirty="0"/>
          </a:p>
          <a:p>
            <a:pPr indent="0" marL="0">
              <a:buNone/>
            </a:pPr>
            <a:r>
              <a:rPr lang="en-US" sz="850" dirty="0">
                <a:solidFill>
                  <a:srgbClr val="877258"/>
                </a:solidFill>
                <a:latin typeface="Segoe UI" pitchFamily="34" charset="0"/>
                <a:ea typeface="Segoe UI" pitchFamily="34" charset="-122"/>
                <a:cs typeface="Segoe UI" pitchFamily="34" charset="-120"/>
              </a:rPr>
              <a:t>Trợ lý hỏi đáp</a:t>
            </a:r>
            <a:endParaRPr lang="en-US" sz="950" dirty="0"/>
          </a:p>
          <a:p>
            <a:pPr indent="0" marL="0">
              <a:lnSpc>
                <a:spcPct val="120000"/>
              </a:lnSpc>
              <a:buNone/>
            </a:pPr>
            <a:endParaRPr lang="en-US" sz="950" dirty="0"/>
          </a:p>
          <a:p>
            <a:pPr indent="0" marL="0">
              <a:lnSpc>
                <a:spcPct val="120000"/>
              </a:lnSpc>
              <a:buNone/>
            </a:pPr>
            <a:r>
              <a:rPr lang="en-US" sz="950" dirty="0">
                <a:solidFill>
                  <a:srgbClr val="2A1A0E"/>
                </a:solidFill>
                <a:latin typeface="Yu Gothic" pitchFamily="34" charset="0"/>
                <a:ea typeface="Yu Gothic" pitchFamily="34" charset="-122"/>
                <a:cs typeface="Yu Gothic" pitchFamily="34" charset="-120"/>
              </a:rPr>
              <a:t>ふだんの言葉で質問でき、要点をまとめた文章でお答えします。6言語に対応し、AIが使えない状況でも動きます。</a:t>
            </a:r>
            <a:endParaRPr lang="en-US" sz="950" dirty="0"/>
          </a:p>
          <a:p>
            <a:pPr indent="0" marL="0">
              <a:lnSpc>
                <a:spcPct val="115000"/>
              </a:lnSpc>
              <a:buNone/>
            </a:pPr>
            <a:r>
              <a:rPr lang="en-US" sz="850" dirty="0">
                <a:solidFill>
                  <a:srgbClr val="877258"/>
                </a:solidFill>
                <a:latin typeface="Segoe UI" pitchFamily="34" charset="0"/>
                <a:ea typeface="Segoe UI" pitchFamily="34" charset="-122"/>
                <a:cs typeface="Segoe UI" pitchFamily="34" charset="-120"/>
              </a:rPr>
              <a:t>Hỏi bằng lời nói thường ngày, nhận lại câu trả lời gọn gàng. Hỗ trợ 6 ngôn ngữ, vẫn chạy khi AI ngừng hoạt động.</a:t>
            </a:r>
            <a:endParaRPr lang="en-US" sz="950" dirty="0"/>
          </a:p>
        </p:txBody>
      </p:sp>
      <p:sp>
        <p:nvSpPr>
          <p:cNvPr id="12" name="Shape 10"/>
          <p:cNvSpPr/>
          <p:nvPr/>
        </p:nvSpPr>
        <p:spPr>
          <a:xfrm>
            <a:off x="8048549" y="1664208"/>
            <a:ext cx="3576218" cy="2084832"/>
          </a:xfrm>
          <a:prstGeom prst="rect">
            <a:avLst/>
          </a:prstGeom>
          <a:solidFill>
            <a:srgbClr val="FFFFFF"/>
          </a:solidFill>
          <a:ln w="9525">
            <a:solidFill>
              <a:srgbClr val="E4D9C6"/>
            </a:solidFill>
            <a:prstDash val="solid"/>
          </a:ln>
        </p:spPr>
      </p:sp>
      <p:sp>
        <p:nvSpPr>
          <p:cNvPr id="13" name="Shape 11"/>
          <p:cNvSpPr/>
          <p:nvPr/>
        </p:nvSpPr>
        <p:spPr>
          <a:xfrm>
            <a:off x="8048549" y="1664208"/>
            <a:ext cx="3576218" cy="45720"/>
          </a:xfrm>
          <a:prstGeom prst="rect">
            <a:avLst/>
          </a:prstGeom>
          <a:solidFill>
            <a:srgbClr val="C7273B"/>
          </a:solidFill>
          <a:ln w="12700">
            <a:solidFill>
              <a:srgbClr val="C7273B"/>
            </a:solidFill>
            <a:prstDash val="solid"/>
          </a:ln>
        </p:spPr>
      </p:sp>
      <p:sp>
        <p:nvSpPr>
          <p:cNvPr id="14" name="Text 12"/>
          <p:cNvSpPr/>
          <p:nvPr/>
        </p:nvSpPr>
        <p:spPr>
          <a:xfrm>
            <a:off x="8194853" y="1792224"/>
            <a:ext cx="3283610" cy="1847088"/>
          </a:xfrm>
          <a:prstGeom prst="rect">
            <a:avLst/>
          </a:prstGeom>
          <a:noFill/>
          <a:ln/>
        </p:spPr>
        <p:txBody>
          <a:bodyPr wrap="square" rtlCol="0" anchor="t"/>
          <a:lstStyle/>
          <a:p>
            <a:pPr indent="0" marL="0">
              <a:buNone/>
            </a:pPr>
            <a:r>
              <a:rPr lang="en-US" sz="950" b="1" spc="100" kern="0" dirty="0">
                <a:solidFill>
                  <a:srgbClr val="C7273B"/>
                </a:solidFill>
                <a:latin typeface="Yu Mincho" pitchFamily="34" charset="0"/>
                <a:ea typeface="Yu Mincho" pitchFamily="34" charset="-122"/>
                <a:cs typeface="Yu Mincho" pitchFamily="34" charset="-120"/>
              </a:rPr>
              <a:t>機能 ③</a:t>
            </a:r>
            <a:endParaRPr lang="en-US" sz="950" dirty="0"/>
          </a:p>
          <a:p>
            <a:pPr indent="0" marL="0">
              <a:buNone/>
            </a:pPr>
            <a:r>
              <a:rPr lang="en-US" sz="1400" b="1" dirty="0">
                <a:solidFill>
                  <a:srgbClr val="331E0E"/>
                </a:solidFill>
                <a:latin typeface="Yu Mincho" pitchFamily="34" charset="0"/>
                <a:ea typeface="Yu Mincho" pitchFamily="34" charset="-122"/>
                <a:cs typeface="Yu Mincho" pitchFamily="34" charset="-120"/>
              </a:rPr>
              <a:t>AI音声読み上げ</a:t>
            </a:r>
            <a:endParaRPr lang="en-US" sz="950" dirty="0"/>
          </a:p>
          <a:p>
            <a:pPr indent="0" marL="0">
              <a:buNone/>
            </a:pPr>
            <a:r>
              <a:rPr lang="en-US" sz="850" dirty="0">
                <a:solidFill>
                  <a:srgbClr val="877258"/>
                </a:solidFill>
                <a:latin typeface="Segoe UI" pitchFamily="34" charset="0"/>
                <a:ea typeface="Segoe UI" pitchFamily="34" charset="-122"/>
                <a:cs typeface="Segoe UI" pitchFamily="34" charset="-120"/>
              </a:rPr>
              <a:t>AI đọc công thức</a:t>
            </a:r>
            <a:endParaRPr lang="en-US" sz="950" dirty="0"/>
          </a:p>
          <a:p>
            <a:pPr indent="0" marL="0">
              <a:lnSpc>
                <a:spcPct val="120000"/>
              </a:lnSpc>
              <a:buNone/>
            </a:pPr>
            <a:endParaRPr lang="en-US" sz="950" dirty="0"/>
          </a:p>
          <a:p>
            <a:pPr indent="0" marL="0">
              <a:lnSpc>
                <a:spcPct val="120000"/>
              </a:lnSpc>
              <a:buNone/>
            </a:pPr>
            <a:r>
              <a:rPr lang="en-US" sz="950" dirty="0">
                <a:solidFill>
                  <a:srgbClr val="2A1A0E"/>
                </a:solidFill>
                <a:latin typeface="Yu Gothic" pitchFamily="34" charset="0"/>
                <a:ea typeface="Yu Gothic" pitchFamily="34" charset="-122"/>
                <a:cs typeface="Yu Gothic" pitchFamily="34" charset="-120"/>
              </a:rPr>
              <a:t>材料と手順をボタン1つで読み上げ。調理中で手が離せないときも、画面に触らず先へ進めます。</a:t>
            </a:r>
            <a:endParaRPr lang="en-US" sz="950" dirty="0"/>
          </a:p>
          <a:p>
            <a:pPr indent="0" marL="0">
              <a:lnSpc>
                <a:spcPct val="115000"/>
              </a:lnSpc>
              <a:buNone/>
            </a:pPr>
            <a:r>
              <a:rPr lang="en-US" sz="850" dirty="0">
                <a:solidFill>
                  <a:srgbClr val="877258"/>
                </a:solidFill>
                <a:latin typeface="Segoe UI" pitchFamily="34" charset="0"/>
                <a:ea typeface="Segoe UI" pitchFamily="34" charset="-122"/>
                <a:cs typeface="Segoe UI" pitchFamily="34" charset="-120"/>
              </a:rPr>
              <a:t>Một nút bấm để AI đọc nguyên liệu và các bước — tay bận vẫn nấu tiếp được.</a:t>
            </a:r>
            <a:endParaRPr lang="en-US" sz="950" dirty="0"/>
          </a:p>
        </p:txBody>
      </p:sp>
      <p:sp>
        <p:nvSpPr>
          <p:cNvPr id="15" name="Shape 13"/>
          <p:cNvSpPr/>
          <p:nvPr/>
        </p:nvSpPr>
        <p:spPr>
          <a:xfrm>
            <a:off x="566928" y="3931920"/>
            <a:ext cx="5446624" cy="2212848"/>
          </a:xfrm>
          <a:prstGeom prst="rect">
            <a:avLst/>
          </a:prstGeom>
          <a:solidFill>
            <a:srgbClr val="FFFFFF"/>
          </a:solidFill>
          <a:ln w="9525">
            <a:solidFill>
              <a:srgbClr val="E4D9C6"/>
            </a:solidFill>
            <a:prstDash val="solid"/>
          </a:ln>
        </p:spPr>
      </p:sp>
      <p:sp>
        <p:nvSpPr>
          <p:cNvPr id="16" name="Shape 14"/>
          <p:cNvSpPr/>
          <p:nvPr/>
        </p:nvSpPr>
        <p:spPr>
          <a:xfrm>
            <a:off x="566928" y="3931920"/>
            <a:ext cx="5446624" cy="45720"/>
          </a:xfrm>
          <a:prstGeom prst="rect">
            <a:avLst/>
          </a:prstGeom>
          <a:solidFill>
            <a:srgbClr val="C7273B"/>
          </a:solidFill>
          <a:ln w="12700">
            <a:solidFill>
              <a:srgbClr val="C7273B"/>
            </a:solidFill>
            <a:prstDash val="solid"/>
          </a:ln>
        </p:spPr>
      </p:sp>
      <p:sp>
        <p:nvSpPr>
          <p:cNvPr id="17" name="Text 15"/>
          <p:cNvSpPr/>
          <p:nvPr/>
        </p:nvSpPr>
        <p:spPr>
          <a:xfrm>
            <a:off x="713232" y="4059936"/>
            <a:ext cx="5154016" cy="1975104"/>
          </a:xfrm>
          <a:prstGeom prst="rect">
            <a:avLst/>
          </a:prstGeom>
          <a:noFill/>
          <a:ln/>
        </p:spPr>
        <p:txBody>
          <a:bodyPr wrap="square" rtlCol="0" anchor="t"/>
          <a:lstStyle/>
          <a:p>
            <a:pPr indent="0" marL="0">
              <a:buNone/>
            </a:pPr>
            <a:r>
              <a:rPr lang="en-US" sz="950" b="1" spc="100" kern="0" dirty="0">
                <a:solidFill>
                  <a:srgbClr val="C7273B"/>
                </a:solidFill>
                <a:latin typeface="Yu Mincho" pitchFamily="34" charset="0"/>
                <a:ea typeface="Yu Mincho" pitchFamily="34" charset="-122"/>
                <a:cs typeface="Yu Mincho" pitchFamily="34" charset="-120"/>
              </a:rPr>
              <a:t>機能 ④　お店で買う</a:t>
            </a:r>
            <a:endParaRPr lang="en-US" sz="950" dirty="0"/>
          </a:p>
          <a:p>
            <a:pPr indent="0" marL="0">
              <a:buNone/>
            </a:pPr>
            <a:r>
              <a:rPr lang="en-US" sz="1400" b="1" dirty="0">
                <a:solidFill>
                  <a:srgbClr val="331E0E"/>
                </a:solidFill>
                <a:latin typeface="Yu Mincho" pitchFamily="34" charset="0"/>
                <a:ea typeface="Yu Mincho" pitchFamily="34" charset="-122"/>
                <a:cs typeface="Yu Mincho" pitchFamily="34" charset="-120"/>
              </a:rPr>
              <a:t>買い物リスト（売場順）＋ 売場マップ</a:t>
            </a:r>
            <a:endParaRPr lang="en-US" sz="950" dirty="0"/>
          </a:p>
          <a:p>
            <a:pPr indent="0" marL="0">
              <a:buNone/>
            </a:pPr>
            <a:r>
              <a:rPr lang="en-US" sz="850" dirty="0">
                <a:solidFill>
                  <a:srgbClr val="877258"/>
                </a:solidFill>
                <a:latin typeface="Segoe UI" pitchFamily="34" charset="0"/>
                <a:ea typeface="Segoe UI" pitchFamily="34" charset="-122"/>
                <a:cs typeface="Segoe UI" pitchFamily="34" charset="-120"/>
              </a:rPr>
              <a:t>Danh sách đi chợ theo quầy + sơ đồ siêu thị</a:t>
            </a:r>
            <a:endParaRPr lang="en-US" sz="950" dirty="0"/>
          </a:p>
          <a:p>
            <a:pPr indent="0" marL="0">
              <a:lnSpc>
                <a:spcPct val="120000"/>
              </a:lnSpc>
              <a:buNone/>
            </a:pPr>
            <a:endParaRPr lang="en-US" sz="950" dirty="0"/>
          </a:p>
          <a:p>
            <a:pPr indent="0" marL="0">
              <a:lnSpc>
                <a:spcPct val="120000"/>
              </a:lnSpc>
              <a:buNone/>
            </a:pPr>
            <a:r>
              <a:rPr lang="en-US" sz="950" dirty="0">
                <a:solidFill>
                  <a:srgbClr val="2A1A0E"/>
                </a:solidFill>
                <a:latin typeface="Yu Gothic" pitchFamily="34" charset="0"/>
                <a:ea typeface="Yu Gothic" pitchFamily="34" charset="-122"/>
                <a:cs typeface="Yu Gothic" pitchFamily="34" charset="-120"/>
              </a:rPr>
              <a:t>レシピの材料を売場ごとに並べ替えます。売場マップが該当の売場を光らせるので、店内を行ったり来たりせずに済みます。買った物はその場でチェック。</a:t>
            </a:r>
            <a:endParaRPr lang="en-US" sz="950" dirty="0"/>
          </a:p>
          <a:p>
            <a:pPr indent="0" marL="0">
              <a:lnSpc>
                <a:spcPct val="115000"/>
              </a:lnSpc>
              <a:buNone/>
            </a:pPr>
            <a:r>
              <a:rPr lang="en-US" sz="850" dirty="0">
                <a:solidFill>
                  <a:srgbClr val="877258"/>
                </a:solidFill>
                <a:latin typeface="Segoe UI" pitchFamily="34" charset="0"/>
                <a:ea typeface="Segoe UI" pitchFamily="34" charset="-122"/>
                <a:cs typeface="Segoe UI" pitchFamily="34" charset="-120"/>
              </a:rPr>
              <a:t>Nguyên liệu được xếp theo quầy, sơ đồ tự tô sáng quầy cần ghé — đi một vòng là mua đủ, mua xong tích luôn tại chỗ.</a:t>
            </a:r>
            <a:endParaRPr lang="en-US" sz="950" dirty="0"/>
          </a:p>
        </p:txBody>
      </p:sp>
      <p:sp>
        <p:nvSpPr>
          <p:cNvPr id="18" name="Shape 16"/>
          <p:cNvSpPr/>
          <p:nvPr/>
        </p:nvSpPr>
        <p:spPr>
          <a:xfrm>
            <a:off x="6178144" y="3931920"/>
            <a:ext cx="5446624" cy="2212848"/>
          </a:xfrm>
          <a:prstGeom prst="rect">
            <a:avLst/>
          </a:prstGeom>
          <a:solidFill>
            <a:srgbClr val="FFFFFF"/>
          </a:solidFill>
          <a:ln w="9525">
            <a:solidFill>
              <a:srgbClr val="E4D9C6"/>
            </a:solidFill>
            <a:prstDash val="solid"/>
          </a:ln>
        </p:spPr>
      </p:sp>
      <p:sp>
        <p:nvSpPr>
          <p:cNvPr id="19" name="Shape 17"/>
          <p:cNvSpPr/>
          <p:nvPr/>
        </p:nvSpPr>
        <p:spPr>
          <a:xfrm>
            <a:off x="6178144" y="3931920"/>
            <a:ext cx="5446624" cy="45720"/>
          </a:xfrm>
          <a:prstGeom prst="rect">
            <a:avLst/>
          </a:prstGeom>
          <a:solidFill>
            <a:srgbClr val="C7273B"/>
          </a:solidFill>
          <a:ln w="12700">
            <a:solidFill>
              <a:srgbClr val="C7273B"/>
            </a:solidFill>
            <a:prstDash val="solid"/>
          </a:ln>
        </p:spPr>
      </p:sp>
      <p:sp>
        <p:nvSpPr>
          <p:cNvPr id="20" name="Text 18"/>
          <p:cNvSpPr/>
          <p:nvPr/>
        </p:nvSpPr>
        <p:spPr>
          <a:xfrm>
            <a:off x="6324448" y="4059936"/>
            <a:ext cx="5154016" cy="1975104"/>
          </a:xfrm>
          <a:prstGeom prst="rect">
            <a:avLst/>
          </a:prstGeom>
          <a:noFill/>
          <a:ln/>
        </p:spPr>
        <p:txBody>
          <a:bodyPr wrap="square" rtlCol="0" anchor="t"/>
          <a:lstStyle/>
          <a:p>
            <a:pPr indent="0" marL="0">
              <a:buNone/>
            </a:pPr>
            <a:r>
              <a:rPr lang="en-US" sz="950" b="1" spc="100" kern="0" dirty="0">
                <a:solidFill>
                  <a:srgbClr val="C7273B"/>
                </a:solidFill>
                <a:latin typeface="Yu Mincho" pitchFamily="34" charset="0"/>
                <a:ea typeface="Yu Mincho" pitchFamily="34" charset="-122"/>
                <a:cs typeface="Yu Mincho" pitchFamily="34" charset="-120"/>
              </a:rPr>
              <a:t>機能 ⑤　ネットで買う</a:t>
            </a:r>
            <a:endParaRPr lang="en-US" sz="950" dirty="0"/>
          </a:p>
          <a:p>
            <a:pPr indent="0" marL="0">
              <a:buNone/>
            </a:pPr>
            <a:r>
              <a:rPr lang="en-US" sz="1400" b="1" dirty="0">
                <a:solidFill>
                  <a:srgbClr val="331E0E"/>
                </a:solidFill>
                <a:latin typeface="Yu Mincho" pitchFamily="34" charset="0"/>
                <a:ea typeface="Yu Mincho" pitchFamily="34" charset="-122"/>
                <a:cs typeface="Yu Mincho" pitchFamily="34" charset="-120"/>
              </a:rPr>
              <a:t>カート → 既存のネット通販へ</a:t>
            </a:r>
            <a:endParaRPr lang="en-US" sz="950" dirty="0"/>
          </a:p>
          <a:p>
            <a:pPr indent="0" marL="0">
              <a:buNone/>
            </a:pPr>
            <a:r>
              <a:rPr lang="en-US" sz="850" dirty="0">
                <a:solidFill>
                  <a:srgbClr val="877258"/>
                </a:solidFill>
                <a:latin typeface="Segoe UI" pitchFamily="34" charset="0"/>
                <a:ea typeface="Segoe UI" pitchFamily="34" charset="-122"/>
                <a:cs typeface="Segoe UI" pitchFamily="34" charset="-120"/>
              </a:rPr>
              <a:t>Giỏ hàng → chuyển sang trang EC sẵn có</a:t>
            </a:r>
            <a:endParaRPr lang="en-US" sz="950" dirty="0"/>
          </a:p>
          <a:p>
            <a:pPr indent="0" marL="0">
              <a:lnSpc>
                <a:spcPct val="120000"/>
              </a:lnSpc>
              <a:buNone/>
            </a:pPr>
            <a:endParaRPr lang="en-US" sz="950" dirty="0"/>
          </a:p>
          <a:p>
            <a:pPr indent="0" marL="0">
              <a:lnSpc>
                <a:spcPct val="120000"/>
              </a:lnSpc>
              <a:buNone/>
            </a:pPr>
            <a:r>
              <a:rPr lang="en-US" sz="950" dirty="0">
                <a:solidFill>
                  <a:srgbClr val="2A1A0E"/>
                </a:solidFill>
                <a:latin typeface="Yu Gothic" pitchFamily="34" charset="0"/>
                <a:ea typeface="Yu Gothic" pitchFamily="34" charset="-122"/>
                <a:cs typeface="Yu Gothic" pitchFamily="34" charset="-120"/>
              </a:rPr>
              <a:t>気になった商品はその場でカートへ。特売中なら割引価格を自動で適用します。ご購入は作り直さず、既存の shop.entstore.co.jp に引き継ぎます。</a:t>
            </a:r>
            <a:endParaRPr lang="en-US" sz="950" dirty="0"/>
          </a:p>
          <a:p>
            <a:pPr indent="0" marL="0">
              <a:lnSpc>
                <a:spcPct val="115000"/>
              </a:lnSpc>
              <a:buNone/>
            </a:pPr>
            <a:r>
              <a:rPr lang="en-US" sz="850" dirty="0">
                <a:solidFill>
                  <a:srgbClr val="877258"/>
                </a:solidFill>
                <a:latin typeface="Segoe UI" pitchFamily="34" charset="0"/>
                <a:ea typeface="Segoe UI" pitchFamily="34" charset="-122"/>
                <a:cs typeface="Segoe UI" pitchFamily="34" charset="-120"/>
              </a:rPr>
              <a:t>Thêm hàng vào giỏ ngay khi đang xem, tự áp giá khuyến mãi. Khâu thanh toán không làm lại — chuyển sang trang EC đã có.</a:t>
            </a:r>
            <a:endParaRPr lang="en-US" sz="950" dirty="0"/>
          </a:p>
        </p:txBody>
      </p:sp>
      <p:sp>
        <p:nvSpPr>
          <p:cNvPr id="21" name="Text 19"/>
          <p:cNvSpPr/>
          <p:nvPr/>
        </p:nvSpPr>
        <p:spPr>
          <a:xfrm>
            <a:off x="8351215" y="6473952"/>
            <a:ext cx="3291840" cy="228600"/>
          </a:xfrm>
          <a:prstGeom prst="rect">
            <a:avLst/>
          </a:prstGeom>
          <a:noFill/>
          <a:ln/>
        </p:spPr>
        <p:txBody>
          <a:bodyPr wrap="square" rtlCol="0" anchor="ctr"/>
          <a:lstStyle/>
          <a:p>
            <a:pPr algn="r" indent="0" marL="0">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indent="0" marL="0">
              <a:buNone/>
            </a:pPr>
            <a:r>
              <a:rPr lang="en-US" sz="1050" b="1" spc="100" kern="0" dirty="0">
                <a:solidFill>
                  <a:srgbClr val="C7273B"/>
                </a:solidFill>
                <a:latin typeface="Yu Gothic" pitchFamily="34" charset="0"/>
                <a:ea typeface="Yu Gothic" pitchFamily="34" charset="-122"/>
                <a:cs typeface="Yu Gothic" pitchFamily="34" charset="-120"/>
              </a:rPr>
              <a:t>機能① なんでも検索</a:t>
            </a:r>
            <a:pPr indent="0" marL="0">
              <a:buNone/>
            </a:pPr>
            <a:r>
              <a:rPr lang="en-US" sz="1000" b="1" spc="100" kern="0" dirty="0">
                <a:solidFill>
                  <a:srgbClr val="877258"/>
                </a:solidFill>
                <a:latin typeface="Segoe UI" pitchFamily="34" charset="0"/>
                <a:ea typeface="Segoe UI" pitchFamily="34" charset="-122"/>
                <a:cs typeface="Segoe UI" pitchFamily="34" charset="-120"/>
              </a:rPr>
              <a:t>　／ TÍNH NĂNG ① · Ô TÌM KIẾM</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sp>
      <p:sp>
        <p:nvSpPr>
          <p:cNvPr id="4" name="Text 2"/>
          <p:cNvSpPr/>
          <p:nvPr/>
        </p:nvSpPr>
        <p:spPr>
          <a:xfrm>
            <a:off x="566928" y="713232"/>
            <a:ext cx="11057839" cy="502920"/>
          </a:xfrm>
          <a:prstGeom prst="rect">
            <a:avLst/>
          </a:prstGeom>
          <a:noFill/>
          <a:ln/>
        </p:spPr>
        <p:txBody>
          <a:bodyPr wrap="square" rtlCol="0" anchor="ctr"/>
          <a:lstStyle/>
          <a:p>
            <a:pPr indent="0" marL="0">
              <a:buNone/>
            </a:pPr>
            <a:r>
              <a:rPr lang="en-US" sz="2700" b="1" dirty="0">
                <a:solidFill>
                  <a:srgbClr val="331E0E"/>
                </a:solidFill>
                <a:latin typeface="Yu Mincho" pitchFamily="34" charset="0"/>
                <a:ea typeface="Yu Mincho" pitchFamily="34" charset="-122"/>
                <a:cs typeface="Yu Mincho" pitchFamily="34" charset="-120"/>
              </a:rPr>
              <a:t>サイト内のあらゆる情報を、横断して検索</a:t>
            </a:r>
            <a:endParaRPr lang="en-US" sz="2700" dirty="0"/>
          </a:p>
        </p:txBody>
      </p:sp>
      <p:sp>
        <p:nvSpPr>
          <p:cNvPr id="5" name="Text 3"/>
          <p:cNvSpPr/>
          <p:nvPr/>
        </p:nvSpPr>
        <p:spPr>
          <a:xfrm>
            <a:off x="566928" y="1225296"/>
            <a:ext cx="11057839" cy="274320"/>
          </a:xfrm>
          <a:prstGeom prst="rect">
            <a:avLst/>
          </a:prstGeom>
          <a:noFill/>
          <a:ln/>
        </p:spPr>
        <p:txBody>
          <a:bodyPr wrap="square" rtlCol="0" anchor="ctr"/>
          <a:lstStyle/>
          <a:p>
            <a:pPr indent="0" marL="0">
              <a:buNone/>
            </a:pPr>
            <a:r>
              <a:rPr lang="en-US" sz="1250" dirty="0">
                <a:solidFill>
                  <a:srgbClr val="877258"/>
                </a:solidFill>
                <a:latin typeface="Segoe UI" pitchFamily="34" charset="0"/>
                <a:ea typeface="Segoe UI" pitchFamily="34" charset="-122"/>
                <a:cs typeface="Segoe UI" pitchFamily="34" charset="-120"/>
              </a:rPr>
              <a:t>Tìm kiếm xuyên suốt mọi thông tin có trên website</a:t>
            </a:r>
            <a:endParaRPr lang="en-US" sz="1250" dirty="0"/>
          </a:p>
        </p:txBody>
      </p:sp>
      <p:sp>
        <p:nvSpPr>
          <p:cNvPr id="6" name="Text 4"/>
          <p:cNvSpPr/>
          <p:nvPr/>
        </p:nvSpPr>
        <p:spPr>
          <a:xfrm>
            <a:off x="566928" y="1627632"/>
            <a:ext cx="5806440" cy="2980944"/>
          </a:xfrm>
          <a:prstGeom prst="rect">
            <a:avLst/>
          </a:prstGeom>
          <a:noFill/>
          <a:ln/>
        </p:spPr>
        <p:txBody>
          <a:bodyPr wrap="square" rtlCol="0" anchor="t"/>
          <a:lstStyle/>
          <a:p>
            <a:pPr indent="0" marL="0">
              <a:lnSpc>
                <a:spcPct val="120000"/>
              </a:lnSpc>
              <a:buNone/>
            </a:pPr>
            <a:r>
              <a:rPr lang="en-US" sz="1150" b="1" dirty="0">
                <a:solidFill>
                  <a:srgbClr val="2A1A0E"/>
                </a:solidFill>
                <a:latin typeface="Yu Gothic" pitchFamily="34" charset="0"/>
                <a:ea typeface="Yu Gothic" pitchFamily="34" charset="-122"/>
                <a:cs typeface="Yu Gothic" pitchFamily="34" charset="-120"/>
              </a:rPr>
              <a:t>■ 商品・レシピ・特売・記事・ブログ・店舗・サービス紹介まで、2,159件を1つの索引に</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Sản phẩm, công thức, khuyến mãi, bài viết, blog, cửa hàng, giới thiệu dịch vụ — gom vào một chỉ mục.</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結果は 特売 → レシピ → 商品 → 記事 → 店舗 の順に、件数つきでグループ表示</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Kết quả chia nhóm theo đúng thứ tự này, kèm số lượng từng nhóm.</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入力中のサジェスト、人気ワード、季節のおすすめをワンタップで</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Gợi ý khi gõ, từ khoá phổ biến và gợi ý theo mùa — chỉ một chạm.</a:t>
            </a:r>
            <a:endParaRPr lang="en-US" sz="1150" dirty="0"/>
          </a:p>
        </p:txBody>
      </p:sp>
      <p:sp>
        <p:nvSpPr>
          <p:cNvPr id="7" name="Shape 5"/>
          <p:cNvSpPr/>
          <p:nvPr/>
        </p:nvSpPr>
        <p:spPr>
          <a:xfrm>
            <a:off x="566928" y="4681728"/>
            <a:ext cx="5806440" cy="1143000"/>
          </a:xfrm>
          <a:prstGeom prst="rect">
            <a:avLst/>
          </a:prstGeom>
          <a:solidFill>
            <a:srgbClr val="FBF0F1"/>
          </a:solidFill>
          <a:ln w="12700">
            <a:solidFill>
              <a:srgbClr val="FBF0F1"/>
            </a:solidFill>
            <a:prstDash val="solid"/>
          </a:ln>
        </p:spPr>
      </p:sp>
      <p:sp>
        <p:nvSpPr>
          <p:cNvPr id="8" name="Shape 6"/>
          <p:cNvSpPr/>
          <p:nvPr/>
        </p:nvSpPr>
        <p:spPr>
          <a:xfrm>
            <a:off x="566928" y="4681728"/>
            <a:ext cx="41148" cy="1143000"/>
          </a:xfrm>
          <a:prstGeom prst="rect">
            <a:avLst/>
          </a:prstGeom>
          <a:solidFill>
            <a:srgbClr val="C7273B"/>
          </a:solidFill>
          <a:ln w="12700">
            <a:solidFill>
              <a:srgbClr val="C7273B"/>
            </a:solidFill>
            <a:prstDash val="solid"/>
          </a:ln>
        </p:spPr>
      </p:sp>
      <p:sp>
        <p:nvSpPr>
          <p:cNvPr id="9" name="Text 7"/>
          <p:cNvSpPr/>
          <p:nvPr/>
        </p:nvSpPr>
        <p:spPr>
          <a:xfrm>
            <a:off x="694944" y="4782312"/>
            <a:ext cx="658368" cy="457200"/>
          </a:xfrm>
          <a:prstGeom prst="rect">
            <a:avLst/>
          </a:prstGeom>
          <a:noFill/>
          <a:ln/>
        </p:spPr>
        <p:txBody>
          <a:bodyPr wrap="square" rtlCol="0" anchor="t"/>
          <a:lstStyle/>
          <a:p>
            <a:pPr indent="0" marL="0">
              <a:buNone/>
            </a:pPr>
            <a:r>
              <a:rPr lang="en-US" sz="950" b="1" dirty="0">
                <a:solidFill>
                  <a:srgbClr val="C7273B"/>
                </a:solidFill>
                <a:latin typeface="Yu Gothic" pitchFamily="34" charset="0"/>
                <a:ea typeface="Yu Gothic" pitchFamily="34" charset="-122"/>
                <a:cs typeface="Yu Gothic" pitchFamily="34" charset="-120"/>
              </a:rPr>
              <a:t>効果</a:t>
            </a:r>
            <a:endParaRPr lang="en-US" sz="950" dirty="0"/>
          </a:p>
          <a:p>
            <a:pPr indent="0" marL="0">
              <a:buNone/>
            </a:pPr>
            <a:r>
              <a:rPr lang="en-US" sz="800" b="1" dirty="0">
                <a:solidFill>
                  <a:srgbClr val="C7273B"/>
                </a:solidFill>
                <a:latin typeface="Segoe UI" pitchFamily="34" charset="0"/>
                <a:ea typeface="Segoe UI" pitchFamily="34" charset="-122"/>
                <a:cs typeface="Segoe UI" pitchFamily="34" charset="-120"/>
              </a:rPr>
              <a:t>LỢI ÍCH</a:t>
            </a:r>
            <a:endParaRPr lang="en-US" sz="950" dirty="0"/>
          </a:p>
        </p:txBody>
      </p:sp>
      <p:sp>
        <p:nvSpPr>
          <p:cNvPr id="10" name="Text 8"/>
          <p:cNvSpPr/>
          <p:nvPr/>
        </p:nvSpPr>
        <p:spPr>
          <a:xfrm>
            <a:off x="1408176" y="4773168"/>
            <a:ext cx="4837176" cy="960120"/>
          </a:xfrm>
          <a:prstGeom prst="rect">
            <a:avLst/>
          </a:prstGeom>
          <a:noFill/>
          <a:ln/>
        </p:spPr>
        <p:txBody>
          <a:bodyPr wrap="square" rtlCol="0" anchor="t"/>
          <a:lstStyle/>
          <a:p>
            <a:pPr indent="0" marL="0">
              <a:lnSpc>
                <a:spcPct val="120000"/>
              </a:lnSpc>
              <a:buNone/>
            </a:pPr>
            <a:r>
              <a:rPr lang="en-US" sz="1050" dirty="0">
                <a:solidFill>
                  <a:srgbClr val="2A1A0E"/>
                </a:solidFill>
                <a:latin typeface="Yu Gothic" pitchFamily="34" charset="0"/>
                <a:ea typeface="Yu Gothic" pitchFamily="34" charset="-122"/>
                <a:cs typeface="Yu Gothic" pitchFamily="34" charset="-120"/>
              </a:rPr>
              <a:t>結果をカテゴリごとに整理して返すので、お客様は必要な情報をひと目で把握できます。何度もページを行き来する必要がありません。</a:t>
            </a:r>
            <a:endParaRPr lang="en-US" sz="10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Kết quả trả về được chia rõ theo từng nhóm, khách hàng nắm bắt thông tin ngay trong một lần nhìn — không phải nhấp qua lại nhiều trang.</a:t>
            </a:r>
            <a:endParaRPr lang="en-US" sz="1050" dirty="0"/>
          </a:p>
        </p:txBody>
      </p:sp>
      <p:pic>
        <p:nvPicPr>
          <p:cNvPr id="11" name="Image 0" descr="C:\Users\minhh\AppData\Local\Temp\claude\c--Users-minhh-Documents-challenge\0b7be4ed-3567-4081-a022-ada0920f3982\scratchpad\slide-shots\01-home.png">    </p:cNvPr>
          <p:cNvPicPr>
            <a:picLocks noChangeAspect="1"/>
          </p:cNvPicPr>
          <p:nvPr/>
        </p:nvPicPr>
        <p:blipFill>
          <a:blip r:embed="rId1"/>
          <a:srcRect l="0" r="0" t="0" b="0"/>
          <a:stretch/>
        </p:blipFill>
        <p:spPr>
          <a:xfrm>
            <a:off x="6693408" y="1664208"/>
            <a:ext cx="4931359" cy="4206240"/>
          </a:xfrm>
          <a:prstGeom prst="rect">
            <a:avLst/>
          </a:prstGeom>
        </p:spPr>
      </p:pic>
      <p:sp>
        <p:nvSpPr>
          <p:cNvPr id="12" name="Text 9"/>
          <p:cNvSpPr/>
          <p:nvPr/>
        </p:nvSpPr>
        <p:spPr>
          <a:xfrm>
            <a:off x="6693408" y="5907024"/>
            <a:ext cx="4931359" cy="219456"/>
          </a:xfrm>
          <a:prstGeom prst="rect">
            <a:avLst/>
          </a:prstGeom>
          <a:noFill/>
          <a:ln/>
        </p:spPr>
        <p:txBody>
          <a:bodyPr wrap="square" rtlCol="0" anchor="ctr"/>
          <a:lstStyle/>
          <a:p>
            <a:pPr algn="ctr" indent="0" marL="0">
              <a:buNone/>
            </a:pPr>
            <a:r>
              <a:rPr lang="en-US" sz="850" dirty="0">
                <a:solidFill>
                  <a:srgbClr val="877258"/>
                </a:solidFill>
                <a:latin typeface="Segoe UI" pitchFamily="34" charset="0"/>
                <a:ea typeface="Segoe UI" pitchFamily="34" charset="-122"/>
                <a:cs typeface="Segoe UI" pitchFamily="34" charset="-120"/>
              </a:rPr>
              <a:t>トップページの検索窓 ／ Ô tìm kiếm trên trang chủ</a:t>
            </a:r>
            <a:endParaRPr lang="en-US" sz="850" dirty="0"/>
          </a:p>
        </p:txBody>
      </p:sp>
      <p:sp>
        <p:nvSpPr>
          <p:cNvPr id="13" name="Text 10"/>
          <p:cNvSpPr/>
          <p:nvPr/>
        </p:nvSpPr>
        <p:spPr>
          <a:xfrm>
            <a:off x="8351215" y="6473952"/>
            <a:ext cx="3291840" cy="228600"/>
          </a:xfrm>
          <a:prstGeom prst="rect">
            <a:avLst/>
          </a:prstGeom>
          <a:noFill/>
          <a:ln/>
        </p:spPr>
        <p:txBody>
          <a:bodyPr wrap="square" rtlCol="0" anchor="ctr"/>
          <a:lstStyle/>
          <a:p>
            <a:pPr algn="r" indent="0" marL="0">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indent="0" marL="0">
              <a:buNone/>
            </a:pPr>
            <a:r>
              <a:rPr lang="en-US" sz="1050" b="1" spc="100" kern="0" dirty="0">
                <a:solidFill>
                  <a:srgbClr val="C7273B"/>
                </a:solidFill>
                <a:latin typeface="Yu Gothic" pitchFamily="34" charset="0"/>
                <a:ea typeface="Yu Gothic" pitchFamily="34" charset="-122"/>
                <a:cs typeface="Yu Gothic" pitchFamily="34" charset="-120"/>
              </a:rPr>
              <a:t>機能① 検索：多言語</a:t>
            </a:r>
            <a:pPr indent="0" marL="0">
              <a:buNone/>
            </a:pPr>
            <a:r>
              <a:rPr lang="en-US" sz="1000" b="1" spc="100" kern="0" dirty="0">
                <a:solidFill>
                  <a:srgbClr val="877258"/>
                </a:solidFill>
                <a:latin typeface="Segoe UI" pitchFamily="34" charset="0"/>
                <a:ea typeface="Segoe UI" pitchFamily="34" charset="-122"/>
                <a:cs typeface="Segoe UI" pitchFamily="34" charset="-120"/>
              </a:rPr>
              <a:t>　／ ① TÌM KIẾM · ĐA NGÔN NGỮ</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sp>
      <p:sp>
        <p:nvSpPr>
          <p:cNvPr id="4" name="Text 2"/>
          <p:cNvSpPr/>
          <p:nvPr/>
        </p:nvSpPr>
        <p:spPr>
          <a:xfrm>
            <a:off x="566928" y="713232"/>
            <a:ext cx="11057839" cy="502920"/>
          </a:xfrm>
          <a:prstGeom prst="rect">
            <a:avLst/>
          </a:prstGeom>
          <a:noFill/>
          <a:ln/>
        </p:spPr>
        <p:txBody>
          <a:bodyPr wrap="square" rtlCol="0" anchor="ctr"/>
          <a:lstStyle/>
          <a:p>
            <a:pPr indent="0" marL="0">
              <a:buNone/>
            </a:pPr>
            <a:r>
              <a:rPr lang="en-US" sz="2700" b="1" dirty="0">
                <a:solidFill>
                  <a:srgbClr val="331E0E"/>
                </a:solidFill>
                <a:latin typeface="Yu Mincho" pitchFamily="34" charset="0"/>
                <a:ea typeface="Yu Mincho" pitchFamily="34" charset="-122"/>
                <a:cs typeface="Yu Mincho" pitchFamily="34" charset="-120"/>
              </a:rPr>
              <a:t>外国語での検索に対応</a:t>
            </a:r>
            <a:endParaRPr lang="en-US" sz="2700" dirty="0"/>
          </a:p>
        </p:txBody>
      </p:sp>
      <p:sp>
        <p:nvSpPr>
          <p:cNvPr id="5" name="Text 3"/>
          <p:cNvSpPr/>
          <p:nvPr/>
        </p:nvSpPr>
        <p:spPr>
          <a:xfrm>
            <a:off x="566928" y="1225296"/>
            <a:ext cx="11057839" cy="274320"/>
          </a:xfrm>
          <a:prstGeom prst="rect">
            <a:avLst/>
          </a:prstGeom>
          <a:noFill/>
          <a:ln/>
        </p:spPr>
        <p:txBody>
          <a:bodyPr wrap="square" rtlCol="0" anchor="ctr"/>
          <a:lstStyle/>
          <a:p>
            <a:pPr indent="0" marL="0">
              <a:buNone/>
            </a:pPr>
            <a:r>
              <a:rPr lang="en-US" sz="1250" dirty="0">
                <a:solidFill>
                  <a:srgbClr val="877258"/>
                </a:solidFill>
                <a:latin typeface="Segoe UI" pitchFamily="34" charset="0"/>
                <a:ea typeface="Segoe UI" pitchFamily="34" charset="-122"/>
                <a:cs typeface="Segoe UI" pitchFamily="34" charset="-120"/>
              </a:rPr>
              <a:t>Hỗ trợ tìm kiếm bằng tiếng nước ngoài</a:t>
            </a:r>
            <a:endParaRPr lang="en-US" sz="1250" dirty="0"/>
          </a:p>
        </p:txBody>
      </p:sp>
      <p:sp>
        <p:nvSpPr>
          <p:cNvPr id="6" name="Text 4"/>
          <p:cNvSpPr/>
          <p:nvPr/>
        </p:nvSpPr>
        <p:spPr>
          <a:xfrm>
            <a:off x="566928" y="1627632"/>
            <a:ext cx="5806440" cy="2980944"/>
          </a:xfrm>
          <a:prstGeom prst="rect">
            <a:avLst/>
          </a:prstGeom>
          <a:noFill/>
          <a:ln/>
        </p:spPr>
        <p:txBody>
          <a:bodyPr wrap="square" rtlCol="0" anchor="t"/>
          <a:lstStyle/>
          <a:p>
            <a:pPr indent="0" marL="0">
              <a:lnSpc>
                <a:spcPct val="120000"/>
              </a:lnSpc>
              <a:buNone/>
            </a:pPr>
            <a:r>
              <a:rPr lang="en-US" sz="1150" b="1" dirty="0">
                <a:solidFill>
                  <a:srgbClr val="2A1A0E"/>
                </a:solidFill>
                <a:latin typeface="Yu Gothic" pitchFamily="34" charset="0"/>
                <a:ea typeface="Yu Gothic" pitchFamily="34" charset="-122"/>
                <a:cs typeface="Yu Gothic" pitchFamily="34" charset="-120"/>
              </a:rPr>
              <a:t>■ cà ri ／ cari ／ curry ／ 咖喱 ／ 카레 → すべて「カレー」として検索</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Gõ tiếng Việt, Anh, Trung, Hàn, Thái vẫn tìm ra dữ liệu tiếng Nhật.</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ベトナム語は声調記号なしでも一致します</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“cari”, “ca ri”, “CÀ RI” — người Việt gõ không dấu là chuyện thường ngày.</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何をどう解釈したのかを、画面に必ず書きます</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Hiện dòng「「cari」を「カレー」として検索しました」— không âm thầm đổi ý người dùng.</a:t>
            </a:r>
            <a:endParaRPr lang="en-US" sz="1150" dirty="0"/>
          </a:p>
        </p:txBody>
      </p:sp>
      <p:sp>
        <p:nvSpPr>
          <p:cNvPr id="7" name="Shape 5"/>
          <p:cNvSpPr/>
          <p:nvPr/>
        </p:nvSpPr>
        <p:spPr>
          <a:xfrm>
            <a:off x="566928" y="4681728"/>
            <a:ext cx="5806440" cy="960120"/>
          </a:xfrm>
          <a:prstGeom prst="rect">
            <a:avLst/>
          </a:prstGeom>
          <a:solidFill>
            <a:srgbClr val="FBF0F1"/>
          </a:solidFill>
          <a:ln w="12700">
            <a:solidFill>
              <a:srgbClr val="FBF0F1"/>
            </a:solidFill>
            <a:prstDash val="solid"/>
          </a:ln>
        </p:spPr>
      </p:sp>
      <p:sp>
        <p:nvSpPr>
          <p:cNvPr id="8" name="Shape 6"/>
          <p:cNvSpPr/>
          <p:nvPr/>
        </p:nvSpPr>
        <p:spPr>
          <a:xfrm>
            <a:off x="566928" y="4681728"/>
            <a:ext cx="41148" cy="960120"/>
          </a:xfrm>
          <a:prstGeom prst="rect">
            <a:avLst/>
          </a:prstGeom>
          <a:solidFill>
            <a:srgbClr val="C7273B"/>
          </a:solidFill>
          <a:ln w="12700">
            <a:solidFill>
              <a:srgbClr val="C7273B"/>
            </a:solidFill>
            <a:prstDash val="solid"/>
          </a:ln>
        </p:spPr>
      </p:sp>
      <p:sp>
        <p:nvSpPr>
          <p:cNvPr id="9" name="Text 7"/>
          <p:cNvSpPr/>
          <p:nvPr/>
        </p:nvSpPr>
        <p:spPr>
          <a:xfrm>
            <a:off x="694944" y="4782312"/>
            <a:ext cx="658368" cy="457200"/>
          </a:xfrm>
          <a:prstGeom prst="rect">
            <a:avLst/>
          </a:prstGeom>
          <a:noFill/>
          <a:ln/>
        </p:spPr>
        <p:txBody>
          <a:bodyPr wrap="square" rtlCol="0" anchor="t"/>
          <a:lstStyle/>
          <a:p>
            <a:pPr indent="0" marL="0">
              <a:buNone/>
            </a:pPr>
            <a:r>
              <a:rPr lang="en-US" sz="950" b="1" dirty="0">
                <a:solidFill>
                  <a:srgbClr val="C7273B"/>
                </a:solidFill>
                <a:latin typeface="Yu Gothic" pitchFamily="34" charset="0"/>
                <a:ea typeface="Yu Gothic" pitchFamily="34" charset="-122"/>
                <a:cs typeface="Yu Gothic" pitchFamily="34" charset="-120"/>
              </a:rPr>
              <a:t>効果</a:t>
            </a:r>
            <a:endParaRPr lang="en-US" sz="950" dirty="0"/>
          </a:p>
          <a:p>
            <a:pPr indent="0" marL="0">
              <a:buNone/>
            </a:pPr>
            <a:r>
              <a:rPr lang="en-US" sz="800" b="1" dirty="0">
                <a:solidFill>
                  <a:srgbClr val="C7273B"/>
                </a:solidFill>
                <a:latin typeface="Segoe UI" pitchFamily="34" charset="0"/>
                <a:ea typeface="Segoe UI" pitchFamily="34" charset="-122"/>
                <a:cs typeface="Segoe UI" pitchFamily="34" charset="-120"/>
              </a:rPr>
              <a:t>LỢI ÍCH</a:t>
            </a:r>
            <a:endParaRPr lang="en-US" sz="950" dirty="0"/>
          </a:p>
        </p:txBody>
      </p:sp>
      <p:sp>
        <p:nvSpPr>
          <p:cNvPr id="10" name="Text 8"/>
          <p:cNvSpPr/>
          <p:nvPr/>
        </p:nvSpPr>
        <p:spPr>
          <a:xfrm>
            <a:off x="1408176" y="4773168"/>
            <a:ext cx="4837176" cy="777240"/>
          </a:xfrm>
          <a:prstGeom prst="rect">
            <a:avLst/>
          </a:prstGeom>
          <a:noFill/>
          <a:ln/>
        </p:spPr>
        <p:txBody>
          <a:bodyPr wrap="square" rtlCol="0" anchor="t"/>
          <a:lstStyle/>
          <a:p>
            <a:pPr indent="0" marL="0">
              <a:lnSpc>
                <a:spcPct val="120000"/>
              </a:lnSpc>
              <a:buNone/>
            </a:pPr>
            <a:r>
              <a:rPr lang="en-US" sz="1050" dirty="0">
                <a:solidFill>
                  <a:srgbClr val="2A1A0E"/>
                </a:solidFill>
                <a:latin typeface="Yu Gothic" pitchFamily="34" charset="0"/>
                <a:ea typeface="Yu Gothic" pitchFamily="34" charset="-122"/>
                <a:cs typeface="Yu Gothic" pitchFamily="34" charset="-120"/>
              </a:rPr>
              <a:t>日本語が得意でないお客様や訪日のお客様でも、母語のままサイトを使えます。</a:t>
            </a:r>
            <a:endParaRPr lang="en-US" sz="10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Giúp người nước ngoài — khách sinh sống tại Nhật hoặc khách du lịch — dễ dàng tìm kiếm trên website.</a:t>
            </a:r>
            <a:endParaRPr lang="en-US" sz="1050" dirty="0"/>
          </a:p>
        </p:txBody>
      </p:sp>
      <p:pic>
        <p:nvPicPr>
          <p:cNvPr id="11" name="Image 0" descr="C:\Users\minhh\AppData\Local\Temp\claude\c--Users-minhh-Documents-challenge\0b7be4ed-3567-4081-a022-ada0920f3982\scratchpad\slide-shots\02-search-cari.png">    </p:cNvPr>
          <p:cNvPicPr>
            <a:picLocks noChangeAspect="1"/>
          </p:cNvPicPr>
          <p:nvPr/>
        </p:nvPicPr>
        <p:blipFill>
          <a:blip r:embed="rId1"/>
          <a:srcRect l="0" r="0" t="0" b="0"/>
          <a:stretch/>
        </p:blipFill>
        <p:spPr>
          <a:xfrm>
            <a:off x="6693408" y="1664208"/>
            <a:ext cx="4931359" cy="4206240"/>
          </a:xfrm>
          <a:prstGeom prst="rect">
            <a:avLst/>
          </a:prstGeom>
        </p:spPr>
      </p:pic>
      <p:sp>
        <p:nvSpPr>
          <p:cNvPr id="12" name="Text 9"/>
          <p:cNvSpPr/>
          <p:nvPr/>
        </p:nvSpPr>
        <p:spPr>
          <a:xfrm>
            <a:off x="6693408" y="5907024"/>
            <a:ext cx="4931359" cy="219456"/>
          </a:xfrm>
          <a:prstGeom prst="rect">
            <a:avLst/>
          </a:prstGeom>
          <a:noFill/>
          <a:ln/>
        </p:spPr>
        <p:txBody>
          <a:bodyPr wrap="square" rtlCol="0" anchor="ctr"/>
          <a:lstStyle/>
          <a:p>
            <a:pPr algn="ctr" indent="0" marL="0">
              <a:buNone/>
            </a:pPr>
            <a:r>
              <a:rPr lang="en-US" sz="850" dirty="0">
                <a:solidFill>
                  <a:srgbClr val="877258"/>
                </a:solidFill>
                <a:latin typeface="Segoe UI" pitchFamily="34" charset="0"/>
                <a:ea typeface="Segoe UI" pitchFamily="34" charset="-122"/>
                <a:cs typeface="Segoe UI" pitchFamily="34" charset="-120"/>
              </a:rPr>
              <a:t>「cari」で検索した画面 ／ Kết quả khi gõ “cari”</a:t>
            </a:r>
            <a:endParaRPr lang="en-US" sz="850" dirty="0"/>
          </a:p>
        </p:txBody>
      </p:sp>
      <p:sp>
        <p:nvSpPr>
          <p:cNvPr id="13" name="Text 10"/>
          <p:cNvSpPr/>
          <p:nvPr/>
        </p:nvSpPr>
        <p:spPr>
          <a:xfrm>
            <a:off x="8351215" y="6473952"/>
            <a:ext cx="3291840" cy="228600"/>
          </a:xfrm>
          <a:prstGeom prst="rect">
            <a:avLst/>
          </a:prstGeom>
          <a:noFill/>
          <a:ln/>
        </p:spPr>
        <p:txBody>
          <a:bodyPr wrap="square" rtlCol="0" anchor="ctr"/>
          <a:lstStyle/>
          <a:p>
            <a:pPr algn="r" indent="0" marL="0">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indent="0" marL="0">
              <a:buNone/>
            </a:pPr>
            <a:r>
              <a:rPr lang="en-US" sz="1050" b="1" spc="100" kern="0" dirty="0">
                <a:solidFill>
                  <a:srgbClr val="C7273B"/>
                </a:solidFill>
                <a:latin typeface="Yu Gothic" pitchFamily="34" charset="0"/>
                <a:ea typeface="Yu Gothic" pitchFamily="34" charset="-122"/>
                <a:cs typeface="Yu Gothic" pitchFamily="34" charset="-120"/>
              </a:rPr>
              <a:t>機能① 検索：予算</a:t>
            </a:r>
            <a:pPr indent="0" marL="0">
              <a:buNone/>
            </a:pPr>
            <a:r>
              <a:rPr lang="en-US" sz="1000" b="1" spc="100" kern="0" dirty="0">
                <a:solidFill>
                  <a:srgbClr val="877258"/>
                </a:solidFill>
                <a:latin typeface="Segoe UI" pitchFamily="34" charset="0"/>
                <a:ea typeface="Segoe UI" pitchFamily="34" charset="-122"/>
                <a:cs typeface="Segoe UI" pitchFamily="34" charset="-120"/>
              </a:rPr>
              <a:t>　／ ① TÌM KIẾM · THEO NGÂN SÁCH</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sp>
      <p:sp>
        <p:nvSpPr>
          <p:cNvPr id="4" name="Text 2"/>
          <p:cNvSpPr/>
          <p:nvPr/>
        </p:nvSpPr>
        <p:spPr>
          <a:xfrm>
            <a:off x="566928" y="713232"/>
            <a:ext cx="11057839" cy="502920"/>
          </a:xfrm>
          <a:prstGeom prst="rect">
            <a:avLst/>
          </a:prstGeom>
          <a:noFill/>
          <a:ln/>
        </p:spPr>
        <p:txBody>
          <a:bodyPr wrap="square" rtlCol="0" anchor="ctr"/>
          <a:lstStyle/>
          <a:p>
            <a:pPr indent="0" marL="0">
              <a:buNone/>
            </a:pPr>
            <a:r>
              <a:rPr lang="en-US" sz="2700" b="1" dirty="0">
                <a:solidFill>
                  <a:srgbClr val="331E0E"/>
                </a:solidFill>
                <a:latin typeface="Yu Mincho" pitchFamily="34" charset="0"/>
                <a:ea typeface="Yu Mincho" pitchFamily="34" charset="-122"/>
                <a:cs typeface="Yu Mincho" pitchFamily="34" charset="-120"/>
              </a:rPr>
              <a:t>予算から料理を探す</a:t>
            </a:r>
            <a:endParaRPr lang="en-US" sz="2700" dirty="0"/>
          </a:p>
        </p:txBody>
      </p:sp>
      <p:sp>
        <p:nvSpPr>
          <p:cNvPr id="5" name="Text 3"/>
          <p:cNvSpPr/>
          <p:nvPr/>
        </p:nvSpPr>
        <p:spPr>
          <a:xfrm>
            <a:off x="566928" y="1225296"/>
            <a:ext cx="11057839" cy="274320"/>
          </a:xfrm>
          <a:prstGeom prst="rect">
            <a:avLst/>
          </a:prstGeom>
          <a:noFill/>
          <a:ln/>
        </p:spPr>
        <p:txBody>
          <a:bodyPr wrap="square" rtlCol="0" anchor="ctr"/>
          <a:lstStyle/>
          <a:p>
            <a:pPr indent="0" marL="0">
              <a:buNone/>
            </a:pPr>
            <a:r>
              <a:rPr lang="en-US" sz="1250" dirty="0">
                <a:solidFill>
                  <a:srgbClr val="877258"/>
                </a:solidFill>
                <a:latin typeface="Segoe UI" pitchFamily="34" charset="0"/>
                <a:ea typeface="Segoe UI" pitchFamily="34" charset="-122"/>
                <a:cs typeface="Segoe UI" pitchFamily="34" charset="-120"/>
              </a:rPr>
              <a:t>Tìm món ăn theo ngân sách</a:t>
            </a:r>
            <a:endParaRPr lang="en-US" sz="1250" dirty="0"/>
          </a:p>
        </p:txBody>
      </p:sp>
      <p:sp>
        <p:nvSpPr>
          <p:cNvPr id="6" name="Text 4"/>
          <p:cNvSpPr/>
          <p:nvPr/>
        </p:nvSpPr>
        <p:spPr>
          <a:xfrm>
            <a:off x="566928" y="1627632"/>
            <a:ext cx="5806440" cy="2980944"/>
          </a:xfrm>
          <a:prstGeom prst="rect">
            <a:avLst/>
          </a:prstGeom>
          <a:noFill/>
          <a:ln/>
        </p:spPr>
        <p:txBody>
          <a:bodyPr wrap="square" rtlCol="0" anchor="t"/>
          <a:lstStyle/>
          <a:p>
            <a:pPr indent="0" marL="0">
              <a:lnSpc>
                <a:spcPct val="120000"/>
              </a:lnSpc>
              <a:buNone/>
            </a:pPr>
            <a:r>
              <a:rPr lang="en-US" sz="1150" b="1" dirty="0">
                <a:solidFill>
                  <a:srgbClr val="2A1A0E"/>
                </a:solidFill>
                <a:latin typeface="Yu Gothic" pitchFamily="34" charset="0"/>
                <a:ea typeface="Yu Gothic" pitchFamily="34" charset="-122"/>
                <a:cs typeface="Yu Gothic" pitchFamily="34" charset="-120"/>
              </a:rPr>
              <a:t>■ 「2000円で何が作れる？」のように、文章のまま受け取ります</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Nhận cả câu hỏi tự nhiên, không bắt người dùng gõ đúng cú pháp.</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「以内 ／ 前後 ／ 以上」を区別して、材料費の概算で絞り込みます</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Phân biệt “trong khoảng / khoảng chừng / từ trở lên”, lọc theo tiền nguyên liệu ước tính.</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該当が無ければ正直に伝えます：1,000円以内は0件、最安でも1,001円</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Không có món nào thì nói thẳng, kèm mức rẻ nhất thực tế.</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2,000円以内なら64件、1,500円以内なら20件が該当します</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Trong 2.000 yên có 64 món; trong 1.500 yên có 20 món.</a:t>
            </a:r>
            <a:endParaRPr lang="en-US" sz="1150" dirty="0"/>
          </a:p>
        </p:txBody>
      </p:sp>
      <p:sp>
        <p:nvSpPr>
          <p:cNvPr id="7" name="Shape 5"/>
          <p:cNvSpPr/>
          <p:nvPr/>
        </p:nvSpPr>
        <p:spPr>
          <a:xfrm>
            <a:off x="566928" y="4681728"/>
            <a:ext cx="5806440" cy="960120"/>
          </a:xfrm>
          <a:prstGeom prst="rect">
            <a:avLst/>
          </a:prstGeom>
          <a:solidFill>
            <a:srgbClr val="FBF0F1"/>
          </a:solidFill>
          <a:ln w="12700">
            <a:solidFill>
              <a:srgbClr val="FBF0F1"/>
            </a:solidFill>
            <a:prstDash val="solid"/>
          </a:ln>
        </p:spPr>
      </p:sp>
      <p:sp>
        <p:nvSpPr>
          <p:cNvPr id="8" name="Shape 6"/>
          <p:cNvSpPr/>
          <p:nvPr/>
        </p:nvSpPr>
        <p:spPr>
          <a:xfrm>
            <a:off x="566928" y="4681728"/>
            <a:ext cx="41148" cy="960120"/>
          </a:xfrm>
          <a:prstGeom prst="rect">
            <a:avLst/>
          </a:prstGeom>
          <a:solidFill>
            <a:srgbClr val="C7273B"/>
          </a:solidFill>
          <a:ln w="12700">
            <a:solidFill>
              <a:srgbClr val="C7273B"/>
            </a:solidFill>
            <a:prstDash val="solid"/>
          </a:ln>
        </p:spPr>
      </p:sp>
      <p:sp>
        <p:nvSpPr>
          <p:cNvPr id="9" name="Text 7"/>
          <p:cNvSpPr/>
          <p:nvPr/>
        </p:nvSpPr>
        <p:spPr>
          <a:xfrm>
            <a:off x="694944" y="4782312"/>
            <a:ext cx="658368" cy="457200"/>
          </a:xfrm>
          <a:prstGeom prst="rect">
            <a:avLst/>
          </a:prstGeom>
          <a:noFill/>
          <a:ln/>
        </p:spPr>
        <p:txBody>
          <a:bodyPr wrap="square" rtlCol="0" anchor="t"/>
          <a:lstStyle/>
          <a:p>
            <a:pPr indent="0" marL="0">
              <a:buNone/>
            </a:pPr>
            <a:r>
              <a:rPr lang="en-US" sz="950" b="1" dirty="0">
                <a:solidFill>
                  <a:srgbClr val="C7273B"/>
                </a:solidFill>
                <a:latin typeface="Yu Gothic" pitchFamily="34" charset="0"/>
                <a:ea typeface="Yu Gothic" pitchFamily="34" charset="-122"/>
                <a:cs typeface="Yu Gothic" pitchFamily="34" charset="-120"/>
              </a:rPr>
              <a:t>効果</a:t>
            </a:r>
            <a:endParaRPr lang="en-US" sz="950" dirty="0"/>
          </a:p>
          <a:p>
            <a:pPr indent="0" marL="0">
              <a:buNone/>
            </a:pPr>
            <a:r>
              <a:rPr lang="en-US" sz="800" b="1" dirty="0">
                <a:solidFill>
                  <a:srgbClr val="C7273B"/>
                </a:solidFill>
                <a:latin typeface="Segoe UI" pitchFamily="34" charset="0"/>
                <a:ea typeface="Segoe UI" pitchFamily="34" charset="-122"/>
                <a:cs typeface="Segoe UI" pitchFamily="34" charset="-120"/>
              </a:rPr>
              <a:t>LỢI ÍCH</a:t>
            </a:r>
            <a:endParaRPr lang="en-US" sz="950" dirty="0"/>
          </a:p>
        </p:txBody>
      </p:sp>
      <p:sp>
        <p:nvSpPr>
          <p:cNvPr id="10" name="Text 8"/>
          <p:cNvSpPr/>
          <p:nvPr/>
        </p:nvSpPr>
        <p:spPr>
          <a:xfrm>
            <a:off x="1408176" y="4773168"/>
            <a:ext cx="4837176" cy="777240"/>
          </a:xfrm>
          <a:prstGeom prst="rect">
            <a:avLst/>
          </a:prstGeom>
          <a:noFill/>
          <a:ln/>
        </p:spPr>
        <p:txBody>
          <a:bodyPr wrap="square" rtlCol="0" anchor="t"/>
          <a:lstStyle/>
          <a:p>
            <a:pPr indent="0" marL="0">
              <a:lnSpc>
                <a:spcPct val="120000"/>
              </a:lnSpc>
              <a:buNone/>
            </a:pPr>
            <a:r>
              <a:rPr lang="en-US" sz="1050" dirty="0">
                <a:solidFill>
                  <a:srgbClr val="2A1A0E"/>
                </a:solidFill>
                <a:latin typeface="Yu Gothic" pitchFamily="34" charset="0"/>
                <a:ea typeface="Yu Gothic" pitchFamily="34" charset="-122"/>
                <a:cs typeface="Yu Gothic" pitchFamily="34" charset="-120"/>
              </a:rPr>
              <a:t>「今日は何を作ろう」と迷っているお客様に、予算に合った献立をその場で提案できます。</a:t>
            </a:r>
            <a:endParaRPr lang="en-US" sz="10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Gợi ý ngay cho khách đang phân vân không biết hôm nay ăn gì, nấu gì — trong đúng tầm tiền họ định chi.</a:t>
            </a:r>
            <a:endParaRPr lang="en-US" sz="1050" dirty="0"/>
          </a:p>
        </p:txBody>
      </p:sp>
      <p:pic>
        <p:nvPicPr>
          <p:cNvPr id="11" name="Image 0" descr="C:\Users\minhh\AppData\Local\Temp\claude\c--Users-minhh-Documents-challenge\0b7be4ed-3567-4081-a022-ada0920f3982\scratchpad\slide-shots\03-search-budget.png">    </p:cNvPr>
          <p:cNvPicPr>
            <a:picLocks noChangeAspect="1"/>
          </p:cNvPicPr>
          <p:nvPr/>
        </p:nvPicPr>
        <p:blipFill>
          <a:blip r:embed="rId1"/>
          <a:srcRect l="0" r="0" t="0" b="0"/>
          <a:stretch/>
        </p:blipFill>
        <p:spPr>
          <a:xfrm>
            <a:off x="6693408" y="1664208"/>
            <a:ext cx="4931359" cy="4206240"/>
          </a:xfrm>
          <a:prstGeom prst="rect">
            <a:avLst/>
          </a:prstGeom>
        </p:spPr>
      </p:pic>
      <p:sp>
        <p:nvSpPr>
          <p:cNvPr id="12" name="Text 9"/>
          <p:cNvSpPr/>
          <p:nvPr/>
        </p:nvSpPr>
        <p:spPr>
          <a:xfrm>
            <a:off x="6693408" y="5907024"/>
            <a:ext cx="4931359" cy="219456"/>
          </a:xfrm>
          <a:prstGeom prst="rect">
            <a:avLst/>
          </a:prstGeom>
          <a:noFill/>
          <a:ln/>
        </p:spPr>
        <p:txBody>
          <a:bodyPr wrap="square" rtlCol="0" anchor="ctr"/>
          <a:lstStyle/>
          <a:p>
            <a:pPr algn="ctr" indent="0" marL="0">
              <a:buNone/>
            </a:pPr>
            <a:r>
              <a:rPr lang="en-US" sz="850" dirty="0">
                <a:solidFill>
                  <a:srgbClr val="877258"/>
                </a:solidFill>
                <a:latin typeface="Segoe UI" pitchFamily="34" charset="0"/>
                <a:ea typeface="Segoe UI" pitchFamily="34" charset="-122"/>
                <a:cs typeface="Segoe UI" pitchFamily="34" charset="-120"/>
              </a:rPr>
              <a:t>ベトナム語で予算を尋ねた例 ／ Hỏi bằng tiếng Việt</a:t>
            </a:r>
            <a:endParaRPr lang="en-US" sz="850" dirty="0"/>
          </a:p>
        </p:txBody>
      </p:sp>
      <p:sp>
        <p:nvSpPr>
          <p:cNvPr id="13" name="Text 10"/>
          <p:cNvSpPr/>
          <p:nvPr/>
        </p:nvSpPr>
        <p:spPr>
          <a:xfrm>
            <a:off x="8351215" y="6473952"/>
            <a:ext cx="3291840" cy="228600"/>
          </a:xfrm>
          <a:prstGeom prst="rect">
            <a:avLst/>
          </a:prstGeom>
          <a:noFill/>
          <a:ln/>
        </p:spPr>
        <p:txBody>
          <a:bodyPr wrap="square" rtlCol="0" anchor="ctr"/>
          <a:lstStyle/>
          <a:p>
            <a:pPr algn="r" indent="0" marL="0">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indent="0" marL="0">
              <a:buNone/>
            </a:pPr>
            <a:r>
              <a:rPr lang="en-US" sz="1050" b="1" spc="100" kern="0" dirty="0">
                <a:solidFill>
                  <a:srgbClr val="C7273B"/>
                </a:solidFill>
                <a:latin typeface="Yu Gothic" pitchFamily="34" charset="0"/>
                <a:ea typeface="Yu Gothic" pitchFamily="34" charset="-122"/>
                <a:cs typeface="Yu Gothic" pitchFamily="34" charset="-120"/>
              </a:rPr>
              <a:t>機能① 検索：取扱店舗</a:t>
            </a:r>
            <a:pPr indent="0" marL="0">
              <a:buNone/>
            </a:pPr>
            <a:r>
              <a:rPr lang="en-US" sz="1000" b="1" spc="100" kern="0" dirty="0">
                <a:solidFill>
                  <a:srgbClr val="877258"/>
                </a:solidFill>
                <a:latin typeface="Segoe UI" pitchFamily="34" charset="0"/>
                <a:ea typeface="Segoe UI" pitchFamily="34" charset="-122"/>
                <a:cs typeface="Segoe UI" pitchFamily="34" charset="-120"/>
              </a:rPr>
              <a:t>　／ ① TÌM KIẾM · CỬA HÀNG CÓ BÁN</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sp>
      <p:sp>
        <p:nvSpPr>
          <p:cNvPr id="4" name="Text 2"/>
          <p:cNvSpPr/>
          <p:nvPr/>
        </p:nvSpPr>
        <p:spPr>
          <a:xfrm>
            <a:off x="566928" y="713232"/>
            <a:ext cx="11057839" cy="502920"/>
          </a:xfrm>
          <a:prstGeom prst="rect">
            <a:avLst/>
          </a:prstGeom>
          <a:noFill/>
          <a:ln/>
        </p:spPr>
        <p:txBody>
          <a:bodyPr wrap="square" rtlCol="0" anchor="ctr"/>
          <a:lstStyle/>
          <a:p>
            <a:pPr indent="0" marL="0">
              <a:buNone/>
            </a:pPr>
            <a:r>
              <a:rPr lang="en-US" sz="2700" b="1" dirty="0">
                <a:solidFill>
                  <a:srgbClr val="331E0E"/>
                </a:solidFill>
                <a:latin typeface="Yu Mincho" pitchFamily="34" charset="0"/>
                <a:ea typeface="Yu Mincho" pitchFamily="34" charset="-122"/>
                <a:cs typeface="Yu Mincho" pitchFamily="34" charset="-120"/>
              </a:rPr>
              <a:t>取扱店舗と在庫を表示</a:t>
            </a:r>
            <a:endParaRPr lang="en-US" sz="2700" dirty="0"/>
          </a:p>
        </p:txBody>
      </p:sp>
      <p:sp>
        <p:nvSpPr>
          <p:cNvPr id="5" name="Text 3"/>
          <p:cNvSpPr/>
          <p:nvPr/>
        </p:nvSpPr>
        <p:spPr>
          <a:xfrm>
            <a:off x="566928" y="1225296"/>
            <a:ext cx="11057839" cy="274320"/>
          </a:xfrm>
          <a:prstGeom prst="rect">
            <a:avLst/>
          </a:prstGeom>
          <a:noFill/>
          <a:ln/>
        </p:spPr>
        <p:txBody>
          <a:bodyPr wrap="square" rtlCol="0" anchor="ctr"/>
          <a:lstStyle/>
          <a:p>
            <a:pPr indent="0" marL="0">
              <a:buNone/>
            </a:pPr>
            <a:r>
              <a:rPr lang="en-US" sz="1250" dirty="0">
                <a:solidFill>
                  <a:srgbClr val="877258"/>
                </a:solidFill>
                <a:latin typeface="Segoe UI" pitchFamily="34" charset="0"/>
                <a:ea typeface="Segoe UI" pitchFamily="34" charset="-122"/>
                <a:cs typeface="Segoe UI" pitchFamily="34" charset="-120"/>
              </a:rPr>
              <a:t>Hiển thị cửa hàng đang bán và tình trạng hàng</a:t>
            </a:r>
            <a:endParaRPr lang="en-US" sz="1250" dirty="0"/>
          </a:p>
        </p:txBody>
      </p:sp>
      <p:sp>
        <p:nvSpPr>
          <p:cNvPr id="6" name="Text 4"/>
          <p:cNvSpPr/>
          <p:nvPr/>
        </p:nvSpPr>
        <p:spPr>
          <a:xfrm>
            <a:off x="566928" y="1627632"/>
            <a:ext cx="5806440" cy="2980944"/>
          </a:xfrm>
          <a:prstGeom prst="rect">
            <a:avLst/>
          </a:prstGeom>
          <a:noFill/>
          <a:ln/>
        </p:spPr>
        <p:txBody>
          <a:bodyPr wrap="square" rtlCol="0" anchor="t"/>
          <a:lstStyle/>
          <a:p>
            <a:pPr indent="0" marL="0">
              <a:lnSpc>
                <a:spcPct val="120000"/>
              </a:lnSpc>
              <a:buNone/>
            </a:pPr>
            <a:r>
              <a:rPr lang="en-US" sz="1150" b="1" dirty="0">
                <a:solidFill>
                  <a:srgbClr val="2A1A0E"/>
                </a:solidFill>
                <a:latin typeface="Yu Gothic" pitchFamily="34" charset="0"/>
                <a:ea typeface="Yu Gothic" pitchFamily="34" charset="-122"/>
                <a:cs typeface="Yu Gothic" pitchFamily="34" charset="-120"/>
              </a:rPr>
              <a:t>■ 検索結果の下に「近くの取扱店舗」を、在庫と営業時間つきで表示</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Danh sách cửa hàng có bán, kèm tình trạng hàng và giờ mở cửa.</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「近い順に並べる」で、37店舗の位置から距離順に並び替え</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Chỉ hỏi vị trí khi khách bấm nút — không hỏi ngay lúc vào trang.</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チャットボットでも同じ質問に答えられます</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「浜松市で牛乳を買える店は？」hay “sua mua o dau?” đều trả lời được.</a:t>
            </a:r>
            <a:endParaRPr lang="en-US" sz="1150" dirty="0"/>
          </a:p>
        </p:txBody>
      </p:sp>
      <p:sp>
        <p:nvSpPr>
          <p:cNvPr id="7" name="Shape 5"/>
          <p:cNvSpPr/>
          <p:nvPr/>
        </p:nvSpPr>
        <p:spPr>
          <a:xfrm>
            <a:off x="566928" y="4681728"/>
            <a:ext cx="5806440" cy="960120"/>
          </a:xfrm>
          <a:prstGeom prst="rect">
            <a:avLst/>
          </a:prstGeom>
          <a:solidFill>
            <a:srgbClr val="FBF0F1"/>
          </a:solidFill>
          <a:ln w="12700">
            <a:solidFill>
              <a:srgbClr val="FBF0F1"/>
            </a:solidFill>
            <a:prstDash val="solid"/>
          </a:ln>
        </p:spPr>
      </p:sp>
      <p:sp>
        <p:nvSpPr>
          <p:cNvPr id="8" name="Shape 6"/>
          <p:cNvSpPr/>
          <p:nvPr/>
        </p:nvSpPr>
        <p:spPr>
          <a:xfrm>
            <a:off x="566928" y="4681728"/>
            <a:ext cx="41148" cy="960120"/>
          </a:xfrm>
          <a:prstGeom prst="rect">
            <a:avLst/>
          </a:prstGeom>
          <a:solidFill>
            <a:srgbClr val="C7273B"/>
          </a:solidFill>
          <a:ln w="12700">
            <a:solidFill>
              <a:srgbClr val="C7273B"/>
            </a:solidFill>
            <a:prstDash val="solid"/>
          </a:ln>
        </p:spPr>
      </p:sp>
      <p:sp>
        <p:nvSpPr>
          <p:cNvPr id="9" name="Text 7"/>
          <p:cNvSpPr/>
          <p:nvPr/>
        </p:nvSpPr>
        <p:spPr>
          <a:xfrm>
            <a:off x="694944" y="4782312"/>
            <a:ext cx="658368" cy="457200"/>
          </a:xfrm>
          <a:prstGeom prst="rect">
            <a:avLst/>
          </a:prstGeom>
          <a:noFill/>
          <a:ln/>
        </p:spPr>
        <p:txBody>
          <a:bodyPr wrap="square" rtlCol="0" anchor="t"/>
          <a:lstStyle/>
          <a:p>
            <a:pPr indent="0" marL="0">
              <a:buNone/>
            </a:pPr>
            <a:r>
              <a:rPr lang="en-US" sz="950" b="1" dirty="0">
                <a:solidFill>
                  <a:srgbClr val="C7273B"/>
                </a:solidFill>
                <a:latin typeface="Yu Gothic" pitchFamily="34" charset="0"/>
                <a:ea typeface="Yu Gothic" pitchFamily="34" charset="-122"/>
                <a:cs typeface="Yu Gothic" pitchFamily="34" charset="-120"/>
              </a:rPr>
              <a:t>効果</a:t>
            </a:r>
            <a:endParaRPr lang="en-US" sz="950" dirty="0"/>
          </a:p>
          <a:p>
            <a:pPr indent="0" marL="0">
              <a:buNone/>
            </a:pPr>
            <a:r>
              <a:rPr lang="en-US" sz="800" b="1" dirty="0">
                <a:solidFill>
                  <a:srgbClr val="C7273B"/>
                </a:solidFill>
                <a:latin typeface="Segoe UI" pitchFamily="34" charset="0"/>
                <a:ea typeface="Segoe UI" pitchFamily="34" charset="-122"/>
                <a:cs typeface="Segoe UI" pitchFamily="34" charset="-120"/>
              </a:rPr>
              <a:t>LỢI ÍCH</a:t>
            </a:r>
            <a:endParaRPr lang="en-US" sz="950" dirty="0"/>
          </a:p>
        </p:txBody>
      </p:sp>
      <p:sp>
        <p:nvSpPr>
          <p:cNvPr id="10" name="Text 8"/>
          <p:cNvSpPr/>
          <p:nvPr/>
        </p:nvSpPr>
        <p:spPr>
          <a:xfrm>
            <a:off x="1408176" y="4773168"/>
            <a:ext cx="4837176" cy="777240"/>
          </a:xfrm>
          <a:prstGeom prst="rect">
            <a:avLst/>
          </a:prstGeom>
          <a:noFill/>
          <a:ln/>
        </p:spPr>
        <p:txBody>
          <a:bodyPr wrap="square" rtlCol="0" anchor="t"/>
          <a:lstStyle/>
          <a:p>
            <a:pPr indent="0" marL="0">
              <a:lnSpc>
                <a:spcPct val="120000"/>
              </a:lnSpc>
              <a:buNone/>
            </a:pPr>
            <a:r>
              <a:rPr lang="en-US" sz="1050" dirty="0">
                <a:solidFill>
                  <a:srgbClr val="2A1A0E"/>
                </a:solidFill>
                <a:latin typeface="Yu Gothic" pitchFamily="34" charset="0"/>
                <a:ea typeface="Yu Gothic" pitchFamily="34" charset="-122"/>
                <a:cs typeface="Yu Gothic" pitchFamily="34" charset="-120"/>
              </a:rPr>
              <a:t>来店前に取扱店舗と在庫が分かるため、行ってみたら無かった、という無駄足を減らせます。</a:t>
            </a:r>
            <a:endParaRPr lang="en-US" sz="10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Biết trước cửa hàng nào có bán và còn hàng, khách đỡ đi uổng công.</a:t>
            </a:r>
            <a:endParaRPr lang="en-US" sz="1050" dirty="0"/>
          </a:p>
        </p:txBody>
      </p:sp>
      <p:pic>
        <p:nvPicPr>
          <p:cNvPr id="11" name="Image 0" descr="C:\Users\minhh\AppData\Local\Temp\claude\c--Users-minhh-Documents-challenge\0b7be4ed-3567-4081-a022-ada0920f3982\scratchpad\slide-shots\04-search-shops.png">    </p:cNvPr>
          <p:cNvPicPr>
            <a:picLocks noChangeAspect="1"/>
          </p:cNvPicPr>
          <p:nvPr/>
        </p:nvPicPr>
        <p:blipFill>
          <a:blip r:embed="rId1"/>
          <a:srcRect l="0" r="0" t="0" b="0"/>
          <a:stretch/>
        </p:blipFill>
        <p:spPr>
          <a:xfrm>
            <a:off x="6693408" y="1664208"/>
            <a:ext cx="4931359" cy="4206240"/>
          </a:xfrm>
          <a:prstGeom prst="rect">
            <a:avLst/>
          </a:prstGeom>
        </p:spPr>
      </p:pic>
      <p:sp>
        <p:nvSpPr>
          <p:cNvPr id="12" name="Text 9"/>
          <p:cNvSpPr/>
          <p:nvPr/>
        </p:nvSpPr>
        <p:spPr>
          <a:xfrm>
            <a:off x="6693408" y="5907024"/>
            <a:ext cx="4931359" cy="219456"/>
          </a:xfrm>
          <a:prstGeom prst="rect">
            <a:avLst/>
          </a:prstGeom>
          <a:noFill/>
          <a:ln/>
        </p:spPr>
        <p:txBody>
          <a:bodyPr wrap="square" rtlCol="0" anchor="ctr"/>
          <a:lstStyle/>
          <a:p>
            <a:pPr algn="ctr" indent="0" marL="0">
              <a:buNone/>
            </a:pPr>
            <a:r>
              <a:rPr lang="en-US" sz="850" dirty="0">
                <a:solidFill>
                  <a:srgbClr val="877258"/>
                </a:solidFill>
                <a:latin typeface="Segoe UI" pitchFamily="34" charset="0"/>
                <a:ea typeface="Segoe UI" pitchFamily="34" charset="-122"/>
                <a:cs typeface="Segoe UI" pitchFamily="34" charset="-120"/>
              </a:rPr>
              <a:t>在庫と距離つきの店舗一覧 ／ Cửa hàng kèm tồn kho và khoảng cách</a:t>
            </a:r>
            <a:endParaRPr lang="en-US" sz="850" dirty="0"/>
          </a:p>
        </p:txBody>
      </p:sp>
      <p:sp>
        <p:nvSpPr>
          <p:cNvPr id="13" name="Text 10"/>
          <p:cNvSpPr/>
          <p:nvPr/>
        </p:nvSpPr>
        <p:spPr>
          <a:xfrm>
            <a:off x="8351215" y="6473952"/>
            <a:ext cx="3291840" cy="228600"/>
          </a:xfrm>
          <a:prstGeom prst="rect">
            <a:avLst/>
          </a:prstGeom>
          <a:noFill/>
          <a:ln/>
        </p:spPr>
        <p:txBody>
          <a:bodyPr wrap="square" rtlCol="0" anchor="ctr"/>
          <a:lstStyle/>
          <a:p>
            <a:pPr algn="r" indent="0" marL="0">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indent="0" marL="0">
              <a:buNone/>
            </a:pPr>
            <a:r>
              <a:rPr lang="en-US" sz="1050" b="1" spc="100" kern="0" dirty="0">
                <a:solidFill>
                  <a:srgbClr val="C7273B"/>
                </a:solidFill>
                <a:latin typeface="Yu Gothic" pitchFamily="34" charset="0"/>
                <a:ea typeface="Yu Gothic" pitchFamily="34" charset="-122"/>
                <a:cs typeface="Yu Gothic" pitchFamily="34" charset="-120"/>
              </a:rPr>
              <a:t>機能① 検索：結果の見せ方</a:t>
            </a:r>
            <a:pPr indent="0" marL="0">
              <a:buNone/>
            </a:pPr>
            <a:r>
              <a:rPr lang="en-US" sz="1000" b="1" spc="100" kern="0" dirty="0">
                <a:solidFill>
                  <a:srgbClr val="877258"/>
                </a:solidFill>
                <a:latin typeface="Segoe UI" pitchFamily="34" charset="0"/>
                <a:ea typeface="Segoe UI" pitchFamily="34" charset="-122"/>
                <a:cs typeface="Segoe UI" pitchFamily="34" charset="-120"/>
              </a:rPr>
              <a:t>　／ ① TÌM KIẾM · HIỂN THỊ KẾT QUẢ</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sp>
      <p:sp>
        <p:nvSpPr>
          <p:cNvPr id="4" name="Text 2"/>
          <p:cNvSpPr/>
          <p:nvPr/>
        </p:nvSpPr>
        <p:spPr>
          <a:xfrm>
            <a:off x="566928" y="713232"/>
            <a:ext cx="11057839" cy="502920"/>
          </a:xfrm>
          <a:prstGeom prst="rect">
            <a:avLst/>
          </a:prstGeom>
          <a:noFill/>
          <a:ln/>
        </p:spPr>
        <p:txBody>
          <a:bodyPr wrap="square" rtlCol="0" anchor="ctr"/>
          <a:lstStyle/>
          <a:p>
            <a:pPr indent="0" marL="0">
              <a:buNone/>
            </a:pPr>
            <a:r>
              <a:rPr lang="en-US" sz="2700" b="1" dirty="0">
                <a:solidFill>
                  <a:srgbClr val="331E0E"/>
                </a:solidFill>
                <a:latin typeface="Yu Mincho" pitchFamily="34" charset="0"/>
                <a:ea typeface="Yu Mincho" pitchFamily="34" charset="-122"/>
                <a:cs typeface="Yu Mincho" pitchFamily="34" charset="-120"/>
              </a:rPr>
              <a:t>グループ表示とページ送り</a:t>
            </a:r>
            <a:endParaRPr lang="en-US" sz="2700" dirty="0"/>
          </a:p>
        </p:txBody>
      </p:sp>
      <p:sp>
        <p:nvSpPr>
          <p:cNvPr id="5" name="Text 3"/>
          <p:cNvSpPr/>
          <p:nvPr/>
        </p:nvSpPr>
        <p:spPr>
          <a:xfrm>
            <a:off x="566928" y="1225296"/>
            <a:ext cx="11057839" cy="274320"/>
          </a:xfrm>
          <a:prstGeom prst="rect">
            <a:avLst/>
          </a:prstGeom>
          <a:noFill/>
          <a:ln/>
        </p:spPr>
        <p:txBody>
          <a:bodyPr wrap="square" rtlCol="0" anchor="ctr"/>
          <a:lstStyle/>
          <a:p>
            <a:pPr indent="0" marL="0">
              <a:buNone/>
            </a:pPr>
            <a:r>
              <a:rPr lang="en-US" sz="1250" dirty="0">
                <a:solidFill>
                  <a:srgbClr val="877258"/>
                </a:solidFill>
                <a:latin typeface="Segoe UI" pitchFamily="34" charset="0"/>
                <a:ea typeface="Segoe UI" pitchFamily="34" charset="-122"/>
                <a:cs typeface="Segoe UI" pitchFamily="34" charset="-120"/>
              </a:rPr>
              <a:t>Nhóm kết quả theo loại và phân trang</a:t>
            </a:r>
            <a:endParaRPr lang="en-US" sz="1250" dirty="0"/>
          </a:p>
        </p:txBody>
      </p:sp>
      <p:sp>
        <p:nvSpPr>
          <p:cNvPr id="6" name="Text 4"/>
          <p:cNvSpPr/>
          <p:nvPr/>
        </p:nvSpPr>
        <p:spPr>
          <a:xfrm>
            <a:off x="566928" y="1627632"/>
            <a:ext cx="5806440" cy="2980944"/>
          </a:xfrm>
          <a:prstGeom prst="rect">
            <a:avLst/>
          </a:prstGeom>
          <a:noFill/>
          <a:ln/>
        </p:spPr>
        <p:txBody>
          <a:bodyPr wrap="square" rtlCol="0" anchor="t"/>
          <a:lstStyle/>
          <a:p>
            <a:pPr indent="0" marL="0">
              <a:lnSpc>
                <a:spcPct val="120000"/>
              </a:lnSpc>
              <a:buNone/>
            </a:pPr>
            <a:r>
              <a:rPr lang="en-US" sz="1150" b="1" dirty="0">
                <a:solidFill>
                  <a:srgbClr val="2A1A0E"/>
                </a:solidFill>
                <a:latin typeface="Yu Gothic" pitchFamily="34" charset="0"/>
                <a:ea typeface="Yu Gothic" pitchFamily="34" charset="-122"/>
                <a:cs typeface="Yu Gothic" pitchFamily="34" charset="-120"/>
              </a:rPr>
              <a:t>■ グループごとに独立したページ送り（1ページ10件）</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Mỗi nhóm phân trang riêng — 記事 có thể 100 mục trong khi 店舗 chỉ 3, gộp chung thì nhóm nhỏ bị đẩy đi vô lý.</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いま何件目を見ているかを「1–10 件目」と表示</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Có dòng cho biết đang xem tới mục thứ mấy.</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特売中の商品は、価格と期限をその場で表示</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Sản phẩm đang khuyến mãi hiện luôn giá và hạn ngay trong kết quả.</a:t>
            </a:r>
            <a:endParaRPr lang="en-US" sz="1150" dirty="0"/>
          </a:p>
        </p:txBody>
      </p:sp>
      <p:sp>
        <p:nvSpPr>
          <p:cNvPr id="7" name="Shape 5"/>
          <p:cNvSpPr/>
          <p:nvPr/>
        </p:nvSpPr>
        <p:spPr>
          <a:xfrm>
            <a:off x="566928" y="4681728"/>
            <a:ext cx="5806440" cy="960120"/>
          </a:xfrm>
          <a:prstGeom prst="rect">
            <a:avLst/>
          </a:prstGeom>
          <a:solidFill>
            <a:srgbClr val="FBF0F1"/>
          </a:solidFill>
          <a:ln w="12700">
            <a:solidFill>
              <a:srgbClr val="FBF0F1"/>
            </a:solidFill>
            <a:prstDash val="solid"/>
          </a:ln>
        </p:spPr>
      </p:sp>
      <p:sp>
        <p:nvSpPr>
          <p:cNvPr id="8" name="Shape 6"/>
          <p:cNvSpPr/>
          <p:nvPr/>
        </p:nvSpPr>
        <p:spPr>
          <a:xfrm>
            <a:off x="566928" y="4681728"/>
            <a:ext cx="41148" cy="960120"/>
          </a:xfrm>
          <a:prstGeom prst="rect">
            <a:avLst/>
          </a:prstGeom>
          <a:solidFill>
            <a:srgbClr val="C7273B"/>
          </a:solidFill>
          <a:ln w="12700">
            <a:solidFill>
              <a:srgbClr val="C7273B"/>
            </a:solidFill>
            <a:prstDash val="solid"/>
          </a:ln>
        </p:spPr>
      </p:sp>
      <p:sp>
        <p:nvSpPr>
          <p:cNvPr id="9" name="Text 7"/>
          <p:cNvSpPr/>
          <p:nvPr/>
        </p:nvSpPr>
        <p:spPr>
          <a:xfrm>
            <a:off x="694944" y="4782312"/>
            <a:ext cx="658368" cy="457200"/>
          </a:xfrm>
          <a:prstGeom prst="rect">
            <a:avLst/>
          </a:prstGeom>
          <a:noFill/>
          <a:ln/>
        </p:spPr>
        <p:txBody>
          <a:bodyPr wrap="square" rtlCol="0" anchor="t"/>
          <a:lstStyle/>
          <a:p>
            <a:pPr indent="0" marL="0">
              <a:buNone/>
            </a:pPr>
            <a:r>
              <a:rPr lang="en-US" sz="950" b="1" dirty="0">
                <a:solidFill>
                  <a:srgbClr val="C7273B"/>
                </a:solidFill>
                <a:latin typeface="Yu Gothic" pitchFamily="34" charset="0"/>
                <a:ea typeface="Yu Gothic" pitchFamily="34" charset="-122"/>
                <a:cs typeface="Yu Gothic" pitchFamily="34" charset="-120"/>
              </a:rPr>
              <a:t>効果</a:t>
            </a:r>
            <a:endParaRPr lang="en-US" sz="950" dirty="0"/>
          </a:p>
          <a:p>
            <a:pPr indent="0" marL="0">
              <a:buNone/>
            </a:pPr>
            <a:r>
              <a:rPr lang="en-US" sz="800" b="1" dirty="0">
                <a:solidFill>
                  <a:srgbClr val="C7273B"/>
                </a:solidFill>
                <a:latin typeface="Segoe UI" pitchFamily="34" charset="0"/>
                <a:ea typeface="Segoe UI" pitchFamily="34" charset="-122"/>
                <a:cs typeface="Segoe UI" pitchFamily="34" charset="-120"/>
              </a:rPr>
              <a:t>LỢI ÍCH</a:t>
            </a:r>
            <a:endParaRPr lang="en-US" sz="950" dirty="0"/>
          </a:p>
        </p:txBody>
      </p:sp>
      <p:sp>
        <p:nvSpPr>
          <p:cNvPr id="10" name="Text 8"/>
          <p:cNvSpPr/>
          <p:nvPr/>
        </p:nvSpPr>
        <p:spPr>
          <a:xfrm>
            <a:off x="1408176" y="4773168"/>
            <a:ext cx="4837176" cy="777240"/>
          </a:xfrm>
          <a:prstGeom prst="rect">
            <a:avLst/>
          </a:prstGeom>
          <a:noFill/>
          <a:ln/>
        </p:spPr>
        <p:txBody>
          <a:bodyPr wrap="square" rtlCol="0" anchor="t"/>
          <a:lstStyle/>
          <a:p>
            <a:pPr indent="0" marL="0">
              <a:lnSpc>
                <a:spcPct val="120000"/>
              </a:lnSpc>
              <a:buNone/>
            </a:pPr>
            <a:r>
              <a:rPr lang="en-US" sz="1050" dirty="0">
                <a:solidFill>
                  <a:srgbClr val="2A1A0E"/>
                </a:solidFill>
                <a:latin typeface="Yu Gothic" pitchFamily="34" charset="0"/>
                <a:ea typeface="Yu Gothic" pitchFamily="34" charset="-122"/>
                <a:cs typeface="Yu Gothic" pitchFamily="34" charset="-120"/>
              </a:rPr>
              <a:t>件数が多いときでも、目的の情報にたどり着くまでの迷いが少なくなります。</a:t>
            </a:r>
            <a:endParaRPr lang="en-US" sz="10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Kết quả nhiều nhưng khách vẫn đi thẳng tới thứ mình cần, không bị rối.</a:t>
            </a:r>
            <a:endParaRPr lang="en-US" sz="1050" dirty="0"/>
          </a:p>
        </p:txBody>
      </p:sp>
      <p:pic>
        <p:nvPicPr>
          <p:cNvPr id="11" name="Image 0" descr="C:\Users\minhh\AppData\Local\Temp\claude\c--Users-minhh-Documents-challenge\0b7be4ed-3567-4081-a022-ada0920f3982\scratchpad\slide-shots\05-pagination.png">    </p:cNvPr>
          <p:cNvPicPr>
            <a:picLocks noChangeAspect="1"/>
          </p:cNvPicPr>
          <p:nvPr/>
        </p:nvPicPr>
        <p:blipFill>
          <a:blip r:embed="rId1"/>
          <a:srcRect l="0" r="0" t="0" b="0"/>
          <a:stretch/>
        </p:blipFill>
        <p:spPr>
          <a:xfrm>
            <a:off x="6693408" y="1664208"/>
            <a:ext cx="4931359" cy="4206240"/>
          </a:xfrm>
          <a:prstGeom prst="rect">
            <a:avLst/>
          </a:prstGeom>
        </p:spPr>
      </p:pic>
      <p:sp>
        <p:nvSpPr>
          <p:cNvPr id="12" name="Text 9"/>
          <p:cNvSpPr/>
          <p:nvPr/>
        </p:nvSpPr>
        <p:spPr>
          <a:xfrm>
            <a:off x="6693408" y="5907024"/>
            <a:ext cx="4931359" cy="219456"/>
          </a:xfrm>
          <a:prstGeom prst="rect">
            <a:avLst/>
          </a:prstGeom>
          <a:noFill/>
          <a:ln/>
        </p:spPr>
        <p:txBody>
          <a:bodyPr wrap="square" rtlCol="0" anchor="ctr"/>
          <a:lstStyle/>
          <a:p>
            <a:pPr algn="ctr" indent="0" marL="0">
              <a:buNone/>
            </a:pPr>
            <a:r>
              <a:rPr lang="en-US" sz="850" dirty="0">
                <a:solidFill>
                  <a:srgbClr val="877258"/>
                </a:solidFill>
                <a:latin typeface="Segoe UI" pitchFamily="34" charset="0"/>
                <a:ea typeface="Segoe UI" pitchFamily="34" charset="-122"/>
                <a:cs typeface="Segoe UI" pitchFamily="34" charset="-120"/>
              </a:rPr>
              <a:t>グループごとのページ送り ／ Phân trang theo từng nhóm</a:t>
            </a:r>
            <a:endParaRPr lang="en-US" sz="850" dirty="0"/>
          </a:p>
        </p:txBody>
      </p:sp>
      <p:sp>
        <p:nvSpPr>
          <p:cNvPr id="13" name="Text 10"/>
          <p:cNvSpPr/>
          <p:nvPr/>
        </p:nvSpPr>
        <p:spPr>
          <a:xfrm>
            <a:off x="8351215" y="6473952"/>
            <a:ext cx="3291840" cy="228600"/>
          </a:xfrm>
          <a:prstGeom prst="rect">
            <a:avLst/>
          </a:prstGeom>
          <a:noFill/>
          <a:ln/>
        </p:spPr>
        <p:txBody>
          <a:bodyPr wrap="square" rtlCol="0" anchor="ctr"/>
          <a:lstStyle/>
          <a:p>
            <a:pPr algn="r" indent="0" marL="0">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indent="0" marL="0">
              <a:buNone/>
            </a:pPr>
            <a:r>
              <a:rPr lang="en-US" sz="1050" b="1" spc="100" kern="0" dirty="0">
                <a:solidFill>
                  <a:srgbClr val="C7273B"/>
                </a:solidFill>
                <a:latin typeface="Yu Gothic" pitchFamily="34" charset="0"/>
                <a:ea typeface="Yu Gothic" pitchFamily="34" charset="-122"/>
                <a:cs typeface="Yu Gothic" pitchFamily="34" charset="-120"/>
              </a:rPr>
              <a:t>機能② AIチャットボット</a:t>
            </a:r>
            <a:pPr indent="0" marL="0">
              <a:buNone/>
            </a:pPr>
            <a:r>
              <a:rPr lang="en-US" sz="1000" b="1" spc="100" kern="0" dirty="0">
                <a:solidFill>
                  <a:srgbClr val="877258"/>
                </a:solidFill>
                <a:latin typeface="Segoe UI" pitchFamily="34" charset="0"/>
                <a:ea typeface="Segoe UI" pitchFamily="34" charset="-122"/>
                <a:cs typeface="Segoe UI" pitchFamily="34" charset="-120"/>
              </a:rPr>
              <a:t>　／ TÍNH NĂNG ② · TRỢ LÝ AI</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sp>
      <p:sp>
        <p:nvSpPr>
          <p:cNvPr id="4" name="Text 2"/>
          <p:cNvSpPr/>
          <p:nvPr/>
        </p:nvSpPr>
        <p:spPr>
          <a:xfrm>
            <a:off x="566928" y="713232"/>
            <a:ext cx="11057839" cy="502920"/>
          </a:xfrm>
          <a:prstGeom prst="rect">
            <a:avLst/>
          </a:prstGeom>
          <a:noFill/>
          <a:ln/>
        </p:spPr>
        <p:txBody>
          <a:bodyPr wrap="square" rtlCol="0" anchor="ctr"/>
          <a:lstStyle/>
          <a:p>
            <a:pPr indent="0" marL="0">
              <a:buNone/>
            </a:pPr>
            <a:r>
              <a:rPr lang="en-US" sz="2700" b="1" dirty="0">
                <a:solidFill>
                  <a:srgbClr val="331E0E"/>
                </a:solidFill>
                <a:latin typeface="Yu Mincho" pitchFamily="34" charset="0"/>
                <a:ea typeface="Yu Mincho" pitchFamily="34" charset="-122"/>
                <a:cs typeface="Yu Mincho" pitchFamily="34" charset="-120"/>
              </a:rPr>
              <a:t>AIチャットボットによる質問対応</a:t>
            </a:r>
            <a:endParaRPr lang="en-US" sz="2700" dirty="0"/>
          </a:p>
        </p:txBody>
      </p:sp>
      <p:sp>
        <p:nvSpPr>
          <p:cNvPr id="5" name="Text 3"/>
          <p:cNvSpPr/>
          <p:nvPr/>
        </p:nvSpPr>
        <p:spPr>
          <a:xfrm>
            <a:off x="566928" y="1225296"/>
            <a:ext cx="11057839" cy="274320"/>
          </a:xfrm>
          <a:prstGeom prst="rect">
            <a:avLst/>
          </a:prstGeom>
          <a:noFill/>
          <a:ln/>
        </p:spPr>
        <p:txBody>
          <a:bodyPr wrap="square" rtlCol="0" anchor="ctr"/>
          <a:lstStyle/>
          <a:p>
            <a:pPr indent="0" marL="0">
              <a:buNone/>
            </a:pPr>
            <a:r>
              <a:rPr lang="en-US" sz="1250" dirty="0">
                <a:solidFill>
                  <a:srgbClr val="877258"/>
                </a:solidFill>
                <a:latin typeface="Segoe UI" pitchFamily="34" charset="0"/>
                <a:ea typeface="Segoe UI" pitchFamily="34" charset="-122"/>
                <a:cs typeface="Segoe UI" pitchFamily="34" charset="-120"/>
              </a:rPr>
              <a:t>Trợ lý AI trả lời câu hỏi của khách hàng</a:t>
            </a:r>
            <a:endParaRPr lang="en-US" sz="1250" dirty="0"/>
          </a:p>
        </p:txBody>
      </p:sp>
      <p:sp>
        <p:nvSpPr>
          <p:cNvPr id="6" name="Text 4"/>
          <p:cNvSpPr/>
          <p:nvPr/>
        </p:nvSpPr>
        <p:spPr>
          <a:xfrm>
            <a:off x="566928" y="1627632"/>
            <a:ext cx="5806440" cy="2980944"/>
          </a:xfrm>
          <a:prstGeom prst="rect">
            <a:avLst/>
          </a:prstGeom>
          <a:noFill/>
          <a:ln/>
        </p:spPr>
        <p:txBody>
          <a:bodyPr wrap="square" rtlCol="0" anchor="t"/>
          <a:lstStyle/>
          <a:p>
            <a:pPr indent="0" marL="0">
              <a:lnSpc>
                <a:spcPct val="120000"/>
              </a:lnSpc>
              <a:buNone/>
            </a:pPr>
            <a:r>
              <a:rPr lang="en-US" sz="1150" b="1" dirty="0">
                <a:solidFill>
                  <a:srgbClr val="2A1A0E"/>
                </a:solidFill>
                <a:latin typeface="Yu Gothic" pitchFamily="34" charset="0"/>
                <a:ea typeface="Yu Gothic" pitchFamily="34" charset="-122"/>
                <a:cs typeface="Yu Gothic" pitchFamily="34" charset="-120"/>
              </a:rPr>
              <a:t>■ 「うなぎの特売はいつまで？」のように、ふだんの言葉で質問できます</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Khách hỏi bằng lời nói thường ngày, không cần nghĩ ra từ khoá.</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回答は一覧の貼り付けではなく、要点をまとめた文章でお返しします</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Trả lời gọn trong vài câu, không dán một danh sách dài.</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日本語・ベトナム語・英語・中国語・韓国語・タイ語を自動で判定し、同じ言語でお答えします</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Tự nhận diện 6 ngôn ngữ và trả lời đúng ngôn ngữ khách dùng.</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価格・在庫・アレルギー・賞味期限は推測せず、店舗へのお問い合わせをご案内します</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Không đoán những điều có thể gây hại nếu sai; mỗi câu trả lời đều kèm liên kết nguồn.</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AIが使えない状況でも、同じ機能がそのまま動き続けます</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Nếu AI ngừng hoạt động, hệ thống vẫn trả lời đầy đủ bằng cơ chế sẵn có.</a:t>
            </a:r>
            <a:endParaRPr lang="en-US" sz="1150" dirty="0"/>
          </a:p>
        </p:txBody>
      </p:sp>
      <p:sp>
        <p:nvSpPr>
          <p:cNvPr id="7" name="Shape 5"/>
          <p:cNvSpPr/>
          <p:nvPr/>
        </p:nvSpPr>
        <p:spPr>
          <a:xfrm>
            <a:off x="566928" y="4681728"/>
            <a:ext cx="5806440" cy="960120"/>
          </a:xfrm>
          <a:prstGeom prst="rect">
            <a:avLst/>
          </a:prstGeom>
          <a:solidFill>
            <a:srgbClr val="FBF0F1"/>
          </a:solidFill>
          <a:ln w="12700">
            <a:solidFill>
              <a:srgbClr val="FBF0F1"/>
            </a:solidFill>
            <a:prstDash val="solid"/>
          </a:ln>
        </p:spPr>
      </p:sp>
      <p:sp>
        <p:nvSpPr>
          <p:cNvPr id="8" name="Shape 6"/>
          <p:cNvSpPr/>
          <p:nvPr/>
        </p:nvSpPr>
        <p:spPr>
          <a:xfrm>
            <a:off x="566928" y="4681728"/>
            <a:ext cx="41148" cy="960120"/>
          </a:xfrm>
          <a:prstGeom prst="rect">
            <a:avLst/>
          </a:prstGeom>
          <a:solidFill>
            <a:srgbClr val="C7273B"/>
          </a:solidFill>
          <a:ln w="12700">
            <a:solidFill>
              <a:srgbClr val="C7273B"/>
            </a:solidFill>
            <a:prstDash val="solid"/>
          </a:ln>
        </p:spPr>
      </p:sp>
      <p:sp>
        <p:nvSpPr>
          <p:cNvPr id="9" name="Text 7"/>
          <p:cNvSpPr/>
          <p:nvPr/>
        </p:nvSpPr>
        <p:spPr>
          <a:xfrm>
            <a:off x="694944" y="4782312"/>
            <a:ext cx="658368" cy="457200"/>
          </a:xfrm>
          <a:prstGeom prst="rect">
            <a:avLst/>
          </a:prstGeom>
          <a:noFill/>
          <a:ln/>
        </p:spPr>
        <p:txBody>
          <a:bodyPr wrap="square" rtlCol="0" anchor="t"/>
          <a:lstStyle/>
          <a:p>
            <a:pPr indent="0" marL="0">
              <a:buNone/>
            </a:pPr>
            <a:r>
              <a:rPr lang="en-US" sz="950" b="1" dirty="0">
                <a:solidFill>
                  <a:srgbClr val="C7273B"/>
                </a:solidFill>
                <a:latin typeface="Yu Gothic" pitchFamily="34" charset="0"/>
                <a:ea typeface="Yu Gothic" pitchFamily="34" charset="-122"/>
                <a:cs typeface="Yu Gothic" pitchFamily="34" charset="-120"/>
              </a:rPr>
              <a:t>効果</a:t>
            </a:r>
            <a:endParaRPr lang="en-US" sz="950" dirty="0"/>
          </a:p>
          <a:p>
            <a:pPr indent="0" marL="0">
              <a:buNone/>
            </a:pPr>
            <a:r>
              <a:rPr lang="en-US" sz="800" b="1" dirty="0">
                <a:solidFill>
                  <a:srgbClr val="C7273B"/>
                </a:solidFill>
                <a:latin typeface="Segoe UI" pitchFamily="34" charset="0"/>
                <a:ea typeface="Segoe UI" pitchFamily="34" charset="-122"/>
                <a:cs typeface="Segoe UI" pitchFamily="34" charset="-120"/>
              </a:rPr>
              <a:t>LỢI ÍCH</a:t>
            </a:r>
            <a:endParaRPr lang="en-US" sz="950" dirty="0"/>
          </a:p>
        </p:txBody>
      </p:sp>
      <p:sp>
        <p:nvSpPr>
          <p:cNvPr id="10" name="Text 8"/>
          <p:cNvSpPr/>
          <p:nvPr/>
        </p:nvSpPr>
        <p:spPr>
          <a:xfrm>
            <a:off x="1408176" y="4773168"/>
            <a:ext cx="4837176" cy="777240"/>
          </a:xfrm>
          <a:prstGeom prst="rect">
            <a:avLst/>
          </a:prstGeom>
          <a:noFill/>
          <a:ln/>
        </p:spPr>
        <p:txBody>
          <a:bodyPr wrap="square" rtlCol="0" anchor="t"/>
          <a:lstStyle/>
          <a:p>
            <a:pPr indent="0" marL="0">
              <a:lnSpc>
                <a:spcPct val="120000"/>
              </a:lnSpc>
              <a:buNone/>
            </a:pPr>
            <a:r>
              <a:rPr lang="en-US" sz="1050" dirty="0">
                <a:solidFill>
                  <a:srgbClr val="2A1A0E"/>
                </a:solidFill>
                <a:latin typeface="Yu Gothic" pitchFamily="34" charset="0"/>
                <a:ea typeface="Yu Gothic" pitchFamily="34" charset="-122"/>
                <a:cs typeface="Yu Gothic" pitchFamily="34" charset="-120"/>
              </a:rPr>
              <a:t>検索の操作に慣れていないお客様でも、話しかけるだけで必要な情報にたどり着けます。</a:t>
            </a:r>
            <a:endParaRPr lang="en-US" sz="10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Khách không quen thao tác tìm kiếm vẫn lấy được thông tin chỉ bằng cách hỏi.</a:t>
            </a:r>
            <a:endParaRPr lang="en-US" sz="1050" dirty="0"/>
          </a:p>
        </p:txBody>
      </p:sp>
      <p:pic>
        <p:nvPicPr>
          <p:cNvPr id="11" name="Image 0" descr="C:\Users\minhh\AppData\Local\Temp\claude\c--Users-minhh-Documents-challenge\0b7be4ed-3567-4081-a022-ada0920f3982\scratchpad\slide-shots\16-chatbot-ja.png">    </p:cNvPr>
          <p:cNvPicPr>
            <a:picLocks noChangeAspect="1"/>
          </p:cNvPicPr>
          <p:nvPr/>
        </p:nvPicPr>
        <p:blipFill>
          <a:blip r:embed="rId1"/>
          <a:srcRect l="0" r="0" t="0" b="0"/>
          <a:stretch/>
        </p:blipFill>
        <p:spPr>
          <a:xfrm>
            <a:off x="6693408" y="1664208"/>
            <a:ext cx="2374240" cy="4023360"/>
          </a:xfrm>
          <a:prstGeom prst="rect">
            <a:avLst/>
          </a:prstGeom>
        </p:spPr>
      </p:pic>
      <p:sp>
        <p:nvSpPr>
          <p:cNvPr id="12" name="Text 9"/>
          <p:cNvSpPr/>
          <p:nvPr/>
        </p:nvSpPr>
        <p:spPr>
          <a:xfrm>
            <a:off x="6693408" y="5724144"/>
            <a:ext cx="2374240" cy="219456"/>
          </a:xfrm>
          <a:prstGeom prst="rect">
            <a:avLst/>
          </a:prstGeom>
          <a:noFill/>
          <a:ln/>
        </p:spPr>
        <p:txBody>
          <a:bodyPr wrap="square" rtlCol="0" anchor="ctr"/>
          <a:lstStyle/>
          <a:p>
            <a:pPr algn="ctr" indent="0" marL="0">
              <a:buNone/>
            </a:pPr>
            <a:r>
              <a:rPr lang="en-US" sz="850" dirty="0">
                <a:solidFill>
                  <a:srgbClr val="877258"/>
                </a:solidFill>
                <a:latin typeface="Segoe UI" pitchFamily="34" charset="0"/>
                <a:ea typeface="Segoe UI" pitchFamily="34" charset="-122"/>
                <a:cs typeface="Segoe UI" pitchFamily="34" charset="-120"/>
              </a:rPr>
              <a:t>特売の期限を尋ねる ／ Hỏi hạn KM</a:t>
            </a:r>
            <a:endParaRPr lang="en-US" sz="850" dirty="0"/>
          </a:p>
        </p:txBody>
      </p:sp>
      <p:pic>
        <p:nvPicPr>
          <p:cNvPr id="13" name="Image 1" descr="C:\Users\minhh\AppData\Local\Temp\claude\c--Users-minhh-Documents-challenge\0b7be4ed-3567-4081-a022-ada0920f3982\scratchpad\slide-shots\13-chatbot-vi.png">    </p:cNvPr>
          <p:cNvPicPr>
            <a:picLocks noChangeAspect="1"/>
          </p:cNvPicPr>
          <p:nvPr/>
        </p:nvPicPr>
        <p:blipFill>
          <a:blip r:embed="rId2"/>
          <a:srcRect l="0" r="0" t="0" b="0"/>
          <a:stretch/>
        </p:blipFill>
        <p:spPr>
          <a:xfrm>
            <a:off x="9250528" y="1664208"/>
            <a:ext cx="2374240" cy="4023360"/>
          </a:xfrm>
          <a:prstGeom prst="rect">
            <a:avLst/>
          </a:prstGeom>
        </p:spPr>
      </p:pic>
      <p:sp>
        <p:nvSpPr>
          <p:cNvPr id="14" name="Text 10"/>
          <p:cNvSpPr/>
          <p:nvPr/>
        </p:nvSpPr>
        <p:spPr>
          <a:xfrm>
            <a:off x="9250528" y="5724144"/>
            <a:ext cx="2374240" cy="219456"/>
          </a:xfrm>
          <a:prstGeom prst="rect">
            <a:avLst/>
          </a:prstGeom>
          <a:noFill/>
          <a:ln/>
        </p:spPr>
        <p:txBody>
          <a:bodyPr wrap="square" rtlCol="0" anchor="ctr"/>
          <a:lstStyle/>
          <a:p>
            <a:pPr algn="ctr" indent="0" marL="0">
              <a:buNone/>
            </a:pPr>
            <a:r>
              <a:rPr lang="en-US" sz="850" dirty="0">
                <a:solidFill>
                  <a:srgbClr val="877258"/>
                </a:solidFill>
                <a:latin typeface="Segoe UI" pitchFamily="34" charset="0"/>
                <a:ea typeface="Segoe UI" pitchFamily="34" charset="-122"/>
                <a:cs typeface="Segoe UI" pitchFamily="34" charset="-120"/>
              </a:rPr>
              <a:t>“sua mua o dau?” ／ Không dấu vẫn hiểu</a:t>
            </a:r>
            <a:endParaRPr lang="en-US" sz="850" dirty="0"/>
          </a:p>
        </p:txBody>
      </p:sp>
      <p:sp>
        <p:nvSpPr>
          <p:cNvPr id="15" name="Text 11"/>
          <p:cNvSpPr/>
          <p:nvPr/>
        </p:nvSpPr>
        <p:spPr>
          <a:xfrm>
            <a:off x="8351215" y="6473952"/>
            <a:ext cx="3291840" cy="228600"/>
          </a:xfrm>
          <a:prstGeom prst="rect">
            <a:avLst/>
          </a:prstGeom>
          <a:noFill/>
          <a:ln/>
        </p:spPr>
        <p:txBody>
          <a:bodyPr wrap="square" rtlCol="0" anchor="ctr"/>
          <a:lstStyle/>
          <a:p>
            <a:pPr algn="r" indent="0" marL="0">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indent="0" marL="0">
              <a:buNone/>
            </a:pPr>
            <a:r>
              <a:rPr lang="en-US" sz="1050" b="1" spc="100" kern="0" dirty="0">
                <a:solidFill>
                  <a:srgbClr val="C7273B"/>
                </a:solidFill>
                <a:latin typeface="Yu Gothic" pitchFamily="34" charset="0"/>
                <a:ea typeface="Yu Gothic" pitchFamily="34" charset="-122"/>
                <a:cs typeface="Yu Gothic" pitchFamily="34" charset="-120"/>
              </a:rPr>
              <a:t>機能③ AI音声読み上げ</a:t>
            </a:r>
            <a:pPr indent="0" marL="0">
              <a:buNone/>
            </a:pPr>
            <a:r>
              <a:rPr lang="en-US" sz="1000" b="1" spc="100" kern="0" dirty="0">
                <a:solidFill>
                  <a:srgbClr val="877258"/>
                </a:solidFill>
                <a:latin typeface="Segoe UI" pitchFamily="34" charset="0"/>
                <a:ea typeface="Segoe UI" pitchFamily="34" charset="-122"/>
                <a:cs typeface="Segoe UI" pitchFamily="34" charset="-120"/>
              </a:rPr>
              <a:t>　／ TÍNH NĂNG ③ · AI ĐỌC CÔNG THỨC</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sp>
      <p:sp>
        <p:nvSpPr>
          <p:cNvPr id="4" name="Text 2"/>
          <p:cNvSpPr/>
          <p:nvPr/>
        </p:nvSpPr>
        <p:spPr>
          <a:xfrm>
            <a:off x="566928" y="713232"/>
            <a:ext cx="11057839" cy="502920"/>
          </a:xfrm>
          <a:prstGeom prst="rect">
            <a:avLst/>
          </a:prstGeom>
          <a:noFill/>
          <a:ln/>
        </p:spPr>
        <p:txBody>
          <a:bodyPr wrap="square" rtlCol="0" anchor="ctr"/>
          <a:lstStyle/>
          <a:p>
            <a:pPr indent="0" marL="0">
              <a:buNone/>
            </a:pPr>
            <a:r>
              <a:rPr lang="en-US" sz="2700" b="1" dirty="0">
                <a:solidFill>
                  <a:srgbClr val="331E0E"/>
                </a:solidFill>
                <a:latin typeface="Yu Mincho" pitchFamily="34" charset="0"/>
                <a:ea typeface="Yu Mincho" pitchFamily="34" charset="-122"/>
                <a:cs typeface="Yu Mincho" pitchFamily="34" charset="-120"/>
              </a:rPr>
              <a:t>AI音声によるレシピ読み上げ</a:t>
            </a:r>
            <a:endParaRPr lang="en-US" sz="2700" dirty="0"/>
          </a:p>
        </p:txBody>
      </p:sp>
      <p:sp>
        <p:nvSpPr>
          <p:cNvPr id="5" name="Text 3"/>
          <p:cNvSpPr/>
          <p:nvPr/>
        </p:nvSpPr>
        <p:spPr>
          <a:xfrm>
            <a:off x="566928" y="1225296"/>
            <a:ext cx="11057839" cy="274320"/>
          </a:xfrm>
          <a:prstGeom prst="rect">
            <a:avLst/>
          </a:prstGeom>
          <a:noFill/>
          <a:ln/>
        </p:spPr>
        <p:txBody>
          <a:bodyPr wrap="square" rtlCol="0" anchor="ctr"/>
          <a:lstStyle/>
          <a:p>
            <a:pPr indent="0" marL="0">
              <a:buNone/>
            </a:pPr>
            <a:r>
              <a:rPr lang="en-US" sz="1250" dirty="0">
                <a:solidFill>
                  <a:srgbClr val="877258"/>
                </a:solidFill>
                <a:latin typeface="Segoe UI" pitchFamily="34" charset="0"/>
                <a:ea typeface="Segoe UI" pitchFamily="34" charset="-122"/>
                <a:cs typeface="Segoe UI" pitchFamily="34" charset="-120"/>
              </a:rPr>
              <a:t>AI đọc công thức bằng giọng nói</a:t>
            </a:r>
            <a:endParaRPr lang="en-US" sz="1250" dirty="0"/>
          </a:p>
        </p:txBody>
      </p:sp>
      <p:sp>
        <p:nvSpPr>
          <p:cNvPr id="6" name="Text 4"/>
          <p:cNvSpPr/>
          <p:nvPr/>
        </p:nvSpPr>
        <p:spPr>
          <a:xfrm>
            <a:off x="566928" y="1627632"/>
            <a:ext cx="5806440" cy="2980944"/>
          </a:xfrm>
          <a:prstGeom prst="rect">
            <a:avLst/>
          </a:prstGeom>
          <a:noFill/>
          <a:ln/>
        </p:spPr>
        <p:txBody>
          <a:bodyPr wrap="square" rtlCol="0" anchor="t"/>
          <a:lstStyle/>
          <a:p>
            <a:pPr indent="0" marL="0">
              <a:lnSpc>
                <a:spcPct val="120000"/>
              </a:lnSpc>
              <a:buNone/>
            </a:pPr>
            <a:r>
              <a:rPr lang="en-US" sz="1150" b="1" dirty="0">
                <a:solidFill>
                  <a:srgbClr val="2A1A0E"/>
                </a:solidFill>
                <a:latin typeface="Yu Gothic" pitchFamily="34" charset="0"/>
                <a:ea typeface="Yu Gothic" pitchFamily="34" charset="-122"/>
                <a:cs typeface="Yu Gothic" pitchFamily="34" charset="-120"/>
              </a:rPr>
              <a:t>■ ボタン1つで、材料 → 手順 の順に読み上げます</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Một nút bấm: đọc nguyên liệu trước, rồi tới từng bước nấu.</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読み上げ中の手順は画面上でも色が変わります</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Bước đang đọc được tô sáng — nhìn là biết đang tới đâu.</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いつでも停止でき、途中から聞き直せます</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Dừng lúc nào cũng được, nghe lại từ giữa chừng.</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ブラウザ内蔵の音声を使うため、追加費用も外部送信もありません</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Dùng giọng đọc có sẵn của trình duyệt — không tốn thêm chi phí, không gửi dữ liệu ra ngoài.</a:t>
            </a:r>
            <a:endParaRPr lang="en-US" sz="1150" dirty="0"/>
          </a:p>
        </p:txBody>
      </p:sp>
      <p:sp>
        <p:nvSpPr>
          <p:cNvPr id="7" name="Shape 5"/>
          <p:cNvSpPr/>
          <p:nvPr/>
        </p:nvSpPr>
        <p:spPr>
          <a:xfrm>
            <a:off x="566928" y="4681728"/>
            <a:ext cx="5806440" cy="1143000"/>
          </a:xfrm>
          <a:prstGeom prst="rect">
            <a:avLst/>
          </a:prstGeom>
          <a:solidFill>
            <a:srgbClr val="FBF0F1"/>
          </a:solidFill>
          <a:ln w="12700">
            <a:solidFill>
              <a:srgbClr val="FBF0F1"/>
            </a:solidFill>
            <a:prstDash val="solid"/>
          </a:ln>
        </p:spPr>
      </p:sp>
      <p:sp>
        <p:nvSpPr>
          <p:cNvPr id="8" name="Shape 6"/>
          <p:cNvSpPr/>
          <p:nvPr/>
        </p:nvSpPr>
        <p:spPr>
          <a:xfrm>
            <a:off x="566928" y="4681728"/>
            <a:ext cx="41148" cy="1143000"/>
          </a:xfrm>
          <a:prstGeom prst="rect">
            <a:avLst/>
          </a:prstGeom>
          <a:solidFill>
            <a:srgbClr val="C7273B"/>
          </a:solidFill>
          <a:ln w="12700">
            <a:solidFill>
              <a:srgbClr val="C7273B"/>
            </a:solidFill>
            <a:prstDash val="solid"/>
          </a:ln>
        </p:spPr>
      </p:sp>
      <p:sp>
        <p:nvSpPr>
          <p:cNvPr id="9" name="Text 7"/>
          <p:cNvSpPr/>
          <p:nvPr/>
        </p:nvSpPr>
        <p:spPr>
          <a:xfrm>
            <a:off x="694944" y="4782312"/>
            <a:ext cx="658368" cy="457200"/>
          </a:xfrm>
          <a:prstGeom prst="rect">
            <a:avLst/>
          </a:prstGeom>
          <a:noFill/>
          <a:ln/>
        </p:spPr>
        <p:txBody>
          <a:bodyPr wrap="square" rtlCol="0" anchor="t"/>
          <a:lstStyle/>
          <a:p>
            <a:pPr indent="0" marL="0">
              <a:buNone/>
            </a:pPr>
            <a:r>
              <a:rPr lang="en-US" sz="950" b="1" dirty="0">
                <a:solidFill>
                  <a:srgbClr val="C7273B"/>
                </a:solidFill>
                <a:latin typeface="Yu Gothic" pitchFamily="34" charset="0"/>
                <a:ea typeface="Yu Gothic" pitchFamily="34" charset="-122"/>
                <a:cs typeface="Yu Gothic" pitchFamily="34" charset="-120"/>
              </a:rPr>
              <a:t>効果</a:t>
            </a:r>
            <a:endParaRPr lang="en-US" sz="950" dirty="0"/>
          </a:p>
          <a:p>
            <a:pPr indent="0" marL="0">
              <a:buNone/>
            </a:pPr>
            <a:r>
              <a:rPr lang="en-US" sz="800" b="1" dirty="0">
                <a:solidFill>
                  <a:srgbClr val="C7273B"/>
                </a:solidFill>
                <a:latin typeface="Segoe UI" pitchFamily="34" charset="0"/>
                <a:ea typeface="Segoe UI" pitchFamily="34" charset="-122"/>
                <a:cs typeface="Segoe UI" pitchFamily="34" charset="-120"/>
              </a:rPr>
              <a:t>LỢI ÍCH</a:t>
            </a:r>
            <a:endParaRPr lang="en-US" sz="950" dirty="0"/>
          </a:p>
        </p:txBody>
      </p:sp>
      <p:sp>
        <p:nvSpPr>
          <p:cNvPr id="10" name="Text 8"/>
          <p:cNvSpPr/>
          <p:nvPr/>
        </p:nvSpPr>
        <p:spPr>
          <a:xfrm>
            <a:off x="1408176" y="4773168"/>
            <a:ext cx="4837176" cy="960120"/>
          </a:xfrm>
          <a:prstGeom prst="rect">
            <a:avLst/>
          </a:prstGeom>
          <a:noFill/>
          <a:ln/>
        </p:spPr>
        <p:txBody>
          <a:bodyPr wrap="square" rtlCol="0" anchor="t"/>
          <a:lstStyle/>
          <a:p>
            <a:pPr indent="0" marL="0">
              <a:lnSpc>
                <a:spcPct val="120000"/>
              </a:lnSpc>
              <a:buNone/>
            </a:pPr>
            <a:r>
              <a:rPr lang="en-US" sz="1050" dirty="0">
                <a:solidFill>
                  <a:srgbClr val="2A1A0E"/>
                </a:solidFill>
                <a:latin typeface="Yu Gothic" pitchFamily="34" charset="0"/>
                <a:ea typeface="Yu Gothic" pitchFamily="34" charset="-122"/>
                <a:cs typeface="Yu Gothic" pitchFamily="34" charset="-120"/>
              </a:rPr>
              <a:t>調理中で手が離せないときも画面に触れずに進められ、小さな文字が読みにくいお客様にもお使いいただけます。</a:t>
            </a:r>
            <a:endParaRPr lang="en-US" sz="10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Đang nấu bận tay vẫn theo được công thức; khách lớn tuổi hoặc khó đọc chữ nhỏ cũng dùng được.</a:t>
            </a:r>
            <a:endParaRPr lang="en-US" sz="1050" dirty="0"/>
          </a:p>
        </p:txBody>
      </p:sp>
      <p:pic>
        <p:nvPicPr>
          <p:cNvPr id="11" name="Image 0" descr="C:\Users\minhh\AppData\Local\Temp\claude\c--Users-minhh-Documents-challenge\0b7be4ed-3567-4081-a022-ada0920f3982\scratchpad\slide-shots\10-recipe.png">    </p:cNvPr>
          <p:cNvPicPr>
            <a:picLocks noChangeAspect="1"/>
          </p:cNvPicPr>
          <p:nvPr/>
        </p:nvPicPr>
        <p:blipFill>
          <a:blip r:embed="rId1"/>
          <a:srcRect l="0" r="0" t="0" b="0"/>
          <a:stretch/>
        </p:blipFill>
        <p:spPr>
          <a:xfrm>
            <a:off x="6693408" y="1664208"/>
            <a:ext cx="4931359" cy="4206240"/>
          </a:xfrm>
          <a:prstGeom prst="rect">
            <a:avLst/>
          </a:prstGeom>
        </p:spPr>
      </p:pic>
      <p:sp>
        <p:nvSpPr>
          <p:cNvPr id="12" name="Text 9"/>
          <p:cNvSpPr/>
          <p:nvPr/>
        </p:nvSpPr>
        <p:spPr>
          <a:xfrm>
            <a:off x="6693408" y="5907024"/>
            <a:ext cx="4931359" cy="219456"/>
          </a:xfrm>
          <a:prstGeom prst="rect">
            <a:avLst/>
          </a:prstGeom>
          <a:noFill/>
          <a:ln/>
        </p:spPr>
        <p:txBody>
          <a:bodyPr wrap="square" rtlCol="0" anchor="ctr"/>
          <a:lstStyle/>
          <a:p>
            <a:pPr algn="ctr" indent="0" marL="0">
              <a:buNone/>
            </a:pPr>
            <a:r>
              <a:rPr lang="en-US" sz="850" dirty="0">
                <a:solidFill>
                  <a:srgbClr val="877258"/>
                </a:solidFill>
                <a:latin typeface="Segoe UI" pitchFamily="34" charset="0"/>
                <a:ea typeface="Segoe UI" pitchFamily="34" charset="-122"/>
                <a:cs typeface="Segoe UI" pitchFamily="34" charset="-120"/>
              </a:rPr>
              <a:t>レシピ詳細ページ ／ Trang chi tiết công thức</a:t>
            </a:r>
            <a:endParaRPr lang="en-US" sz="850" dirty="0"/>
          </a:p>
        </p:txBody>
      </p:sp>
      <p:sp>
        <p:nvSpPr>
          <p:cNvPr id="13" name="Text 10"/>
          <p:cNvSpPr/>
          <p:nvPr/>
        </p:nvSpPr>
        <p:spPr>
          <a:xfrm>
            <a:off x="8351215" y="6473952"/>
            <a:ext cx="3291840" cy="228600"/>
          </a:xfrm>
          <a:prstGeom prst="rect">
            <a:avLst/>
          </a:prstGeom>
          <a:noFill/>
          <a:ln/>
        </p:spPr>
        <p:txBody>
          <a:bodyPr wrap="square" rtlCol="0" anchor="ctr"/>
          <a:lstStyle/>
          <a:p>
            <a:pPr algn="r" indent="0" marL="0">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indent="0" marL="0">
              <a:buNone/>
            </a:pPr>
            <a:r>
              <a:rPr lang="en-US" sz="1050" b="1" spc="100" kern="0" dirty="0">
                <a:solidFill>
                  <a:srgbClr val="C7273B"/>
                </a:solidFill>
                <a:latin typeface="Yu Gothic" pitchFamily="34" charset="0"/>
                <a:ea typeface="Yu Gothic" pitchFamily="34" charset="-122"/>
                <a:cs typeface="Yu Gothic" pitchFamily="34" charset="-120"/>
              </a:rPr>
              <a:t>機能④ お店で買う</a:t>
            </a:r>
            <a:pPr indent="0" marL="0">
              <a:buNone/>
            </a:pPr>
            <a:r>
              <a:rPr lang="en-US" sz="1000" b="1" spc="100" kern="0" dirty="0">
                <a:solidFill>
                  <a:srgbClr val="877258"/>
                </a:solidFill>
                <a:latin typeface="Segoe UI" pitchFamily="34" charset="0"/>
                <a:ea typeface="Segoe UI" pitchFamily="34" charset="-122"/>
                <a:cs typeface="Segoe UI" pitchFamily="34" charset="-120"/>
              </a:rPr>
              <a:t>　／ TÍNH NĂNG ④ · MUA TẠI SIÊU THỊ</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sp>
      <p:sp>
        <p:nvSpPr>
          <p:cNvPr id="4" name="Text 2"/>
          <p:cNvSpPr/>
          <p:nvPr/>
        </p:nvSpPr>
        <p:spPr>
          <a:xfrm>
            <a:off x="566928" y="713232"/>
            <a:ext cx="11057839" cy="502920"/>
          </a:xfrm>
          <a:prstGeom prst="rect">
            <a:avLst/>
          </a:prstGeom>
          <a:noFill/>
          <a:ln/>
        </p:spPr>
        <p:txBody>
          <a:bodyPr wrap="square" rtlCol="0" anchor="ctr"/>
          <a:lstStyle/>
          <a:p>
            <a:pPr indent="0" marL="0">
              <a:buNone/>
            </a:pPr>
            <a:r>
              <a:rPr lang="en-US" sz="2700" b="1" dirty="0">
                <a:solidFill>
                  <a:srgbClr val="331E0E"/>
                </a:solidFill>
                <a:latin typeface="Yu Mincho" pitchFamily="34" charset="0"/>
                <a:ea typeface="Yu Mincho" pitchFamily="34" charset="-122"/>
                <a:cs typeface="Yu Mincho" pitchFamily="34" charset="-120"/>
              </a:rPr>
              <a:t>売場順の買い物リストと売場マップ</a:t>
            </a:r>
            <a:endParaRPr lang="en-US" sz="2700" dirty="0"/>
          </a:p>
        </p:txBody>
      </p:sp>
      <p:sp>
        <p:nvSpPr>
          <p:cNvPr id="5" name="Text 3"/>
          <p:cNvSpPr/>
          <p:nvPr/>
        </p:nvSpPr>
        <p:spPr>
          <a:xfrm>
            <a:off x="566928" y="1225296"/>
            <a:ext cx="11057839" cy="274320"/>
          </a:xfrm>
          <a:prstGeom prst="rect">
            <a:avLst/>
          </a:prstGeom>
          <a:noFill/>
          <a:ln/>
        </p:spPr>
        <p:txBody>
          <a:bodyPr wrap="square" rtlCol="0" anchor="ctr"/>
          <a:lstStyle/>
          <a:p>
            <a:pPr indent="0" marL="0">
              <a:buNone/>
            </a:pPr>
            <a:r>
              <a:rPr lang="en-US" sz="1250" dirty="0">
                <a:solidFill>
                  <a:srgbClr val="877258"/>
                </a:solidFill>
                <a:latin typeface="Segoe UI" pitchFamily="34" charset="0"/>
                <a:ea typeface="Segoe UI" pitchFamily="34" charset="-122"/>
                <a:cs typeface="Segoe UI" pitchFamily="34" charset="-120"/>
              </a:rPr>
              <a:t>Danh sách đi chợ theo quầy và sơ đồ siêu thị</a:t>
            </a:r>
            <a:endParaRPr lang="en-US" sz="1250" dirty="0"/>
          </a:p>
        </p:txBody>
      </p:sp>
      <p:sp>
        <p:nvSpPr>
          <p:cNvPr id="6" name="Text 4"/>
          <p:cNvSpPr/>
          <p:nvPr/>
        </p:nvSpPr>
        <p:spPr>
          <a:xfrm>
            <a:off x="566928" y="1627632"/>
            <a:ext cx="5806440" cy="2980944"/>
          </a:xfrm>
          <a:prstGeom prst="rect">
            <a:avLst/>
          </a:prstGeom>
          <a:noFill/>
          <a:ln/>
        </p:spPr>
        <p:txBody>
          <a:bodyPr wrap="square" rtlCol="0" anchor="t"/>
          <a:lstStyle/>
          <a:p>
            <a:pPr indent="0" marL="0">
              <a:lnSpc>
                <a:spcPct val="120000"/>
              </a:lnSpc>
              <a:buNone/>
            </a:pPr>
            <a:r>
              <a:rPr lang="en-US" sz="1150" b="1" dirty="0">
                <a:solidFill>
                  <a:srgbClr val="2A1A0E"/>
                </a:solidFill>
                <a:latin typeface="Yu Gothic" pitchFamily="34" charset="0"/>
                <a:ea typeface="Yu Gothic" pitchFamily="34" charset="-122"/>
                <a:cs typeface="Yu Gothic" pitchFamily="34" charset="-120"/>
              </a:rPr>
              <a:t>■ レシピの「お店で買う」から、材料をまとめて買い物リストへ</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Từ trang công thức, thêm cả loạt nguyên liệu vào danh sách đi chợ.</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並び順は売場の動線どおり（青果 → 鮮魚 → 精肉 → 日配 …）</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Thứ tự bám theo lối đi thật trong siêu thị — đi một vòng là mua đủ.</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売場マップが該当の売場だけを光らせます</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Sơ đồ chỉ tô sáng những quầy cần ghé.</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どのレシピの材料か併記。買った物はその場でチェックでき、合計も表示</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Ghi rõ nguyên liệu thuộc món nào; mua xong tích luôn, có cả tổng tiền tạm tính.</a:t>
            </a:r>
            <a:endParaRPr lang="en-US" sz="1150" dirty="0"/>
          </a:p>
        </p:txBody>
      </p:sp>
      <p:sp>
        <p:nvSpPr>
          <p:cNvPr id="7" name="Shape 5"/>
          <p:cNvSpPr/>
          <p:nvPr/>
        </p:nvSpPr>
        <p:spPr>
          <a:xfrm>
            <a:off x="566928" y="4681728"/>
            <a:ext cx="5806440" cy="960120"/>
          </a:xfrm>
          <a:prstGeom prst="rect">
            <a:avLst/>
          </a:prstGeom>
          <a:solidFill>
            <a:srgbClr val="FBF0F1"/>
          </a:solidFill>
          <a:ln w="12700">
            <a:solidFill>
              <a:srgbClr val="FBF0F1"/>
            </a:solidFill>
            <a:prstDash val="solid"/>
          </a:ln>
        </p:spPr>
      </p:sp>
      <p:sp>
        <p:nvSpPr>
          <p:cNvPr id="8" name="Shape 6"/>
          <p:cNvSpPr/>
          <p:nvPr/>
        </p:nvSpPr>
        <p:spPr>
          <a:xfrm>
            <a:off x="566928" y="4681728"/>
            <a:ext cx="41148" cy="960120"/>
          </a:xfrm>
          <a:prstGeom prst="rect">
            <a:avLst/>
          </a:prstGeom>
          <a:solidFill>
            <a:srgbClr val="C7273B"/>
          </a:solidFill>
          <a:ln w="12700">
            <a:solidFill>
              <a:srgbClr val="C7273B"/>
            </a:solidFill>
            <a:prstDash val="solid"/>
          </a:ln>
        </p:spPr>
      </p:sp>
      <p:sp>
        <p:nvSpPr>
          <p:cNvPr id="9" name="Text 7"/>
          <p:cNvSpPr/>
          <p:nvPr/>
        </p:nvSpPr>
        <p:spPr>
          <a:xfrm>
            <a:off x="694944" y="4782312"/>
            <a:ext cx="658368" cy="457200"/>
          </a:xfrm>
          <a:prstGeom prst="rect">
            <a:avLst/>
          </a:prstGeom>
          <a:noFill/>
          <a:ln/>
        </p:spPr>
        <p:txBody>
          <a:bodyPr wrap="square" rtlCol="0" anchor="t"/>
          <a:lstStyle/>
          <a:p>
            <a:pPr indent="0" marL="0">
              <a:buNone/>
            </a:pPr>
            <a:r>
              <a:rPr lang="en-US" sz="950" b="1" dirty="0">
                <a:solidFill>
                  <a:srgbClr val="C7273B"/>
                </a:solidFill>
                <a:latin typeface="Yu Gothic" pitchFamily="34" charset="0"/>
                <a:ea typeface="Yu Gothic" pitchFamily="34" charset="-122"/>
                <a:cs typeface="Yu Gothic" pitchFamily="34" charset="-120"/>
              </a:rPr>
              <a:t>効果</a:t>
            </a:r>
            <a:endParaRPr lang="en-US" sz="950" dirty="0"/>
          </a:p>
          <a:p>
            <a:pPr indent="0" marL="0">
              <a:buNone/>
            </a:pPr>
            <a:r>
              <a:rPr lang="en-US" sz="800" b="1" dirty="0">
                <a:solidFill>
                  <a:srgbClr val="C7273B"/>
                </a:solidFill>
                <a:latin typeface="Segoe UI" pitchFamily="34" charset="0"/>
                <a:ea typeface="Segoe UI" pitchFamily="34" charset="-122"/>
                <a:cs typeface="Segoe UI" pitchFamily="34" charset="-120"/>
              </a:rPr>
              <a:t>LỢI ÍCH</a:t>
            </a:r>
            <a:endParaRPr lang="en-US" sz="950" dirty="0"/>
          </a:p>
        </p:txBody>
      </p:sp>
      <p:sp>
        <p:nvSpPr>
          <p:cNvPr id="10" name="Text 8"/>
          <p:cNvSpPr/>
          <p:nvPr/>
        </p:nvSpPr>
        <p:spPr>
          <a:xfrm>
            <a:off x="1408176" y="4773168"/>
            <a:ext cx="4837176" cy="777240"/>
          </a:xfrm>
          <a:prstGeom prst="rect">
            <a:avLst/>
          </a:prstGeom>
          <a:noFill/>
          <a:ln/>
        </p:spPr>
        <p:txBody>
          <a:bodyPr wrap="square" rtlCol="0" anchor="t"/>
          <a:lstStyle/>
          <a:p>
            <a:pPr indent="0" marL="0">
              <a:lnSpc>
                <a:spcPct val="120000"/>
              </a:lnSpc>
              <a:buNone/>
            </a:pPr>
            <a:r>
              <a:rPr lang="en-US" sz="1050" dirty="0">
                <a:solidFill>
                  <a:srgbClr val="2A1A0E"/>
                </a:solidFill>
                <a:latin typeface="Yu Gothic" pitchFamily="34" charset="0"/>
                <a:ea typeface="Yu Gothic" pitchFamily="34" charset="-122"/>
                <a:cs typeface="Yu Gothic" pitchFamily="34" charset="-120"/>
              </a:rPr>
              <a:t>店内で売場を探し回る時間が減り、買い忘れも防げます。</a:t>
            </a:r>
            <a:endParaRPr lang="en-US" sz="10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Giảm thời gian đi tìm quầy trong siêu thị và tránh mua thiếu nguyên liệu.</a:t>
            </a:r>
            <a:endParaRPr lang="en-US" sz="1050" dirty="0"/>
          </a:p>
        </p:txBody>
      </p:sp>
      <p:pic>
        <p:nvPicPr>
          <p:cNvPr id="11" name="Image 0" descr="C:\Users\minhh\AppData\Local\Temp\claude\c--Users-minhh-Documents-challenge\0b7be4ed-3567-4081-a022-ada0920f3982\scratchpad\slide-shots\17-list.png">    </p:cNvPr>
          <p:cNvPicPr>
            <a:picLocks noChangeAspect="1"/>
          </p:cNvPicPr>
          <p:nvPr/>
        </p:nvPicPr>
        <p:blipFill>
          <a:blip r:embed="rId1"/>
          <a:srcRect l="0" r="0" t="0" b="0"/>
          <a:stretch/>
        </p:blipFill>
        <p:spPr>
          <a:xfrm>
            <a:off x="6693408" y="1664208"/>
            <a:ext cx="2374240" cy="4023360"/>
          </a:xfrm>
          <a:prstGeom prst="rect">
            <a:avLst/>
          </a:prstGeom>
        </p:spPr>
      </p:pic>
      <p:sp>
        <p:nvSpPr>
          <p:cNvPr id="12" name="Text 9"/>
          <p:cNvSpPr/>
          <p:nvPr/>
        </p:nvSpPr>
        <p:spPr>
          <a:xfrm>
            <a:off x="6693408" y="5724144"/>
            <a:ext cx="2374240" cy="219456"/>
          </a:xfrm>
          <a:prstGeom prst="rect">
            <a:avLst/>
          </a:prstGeom>
          <a:noFill/>
          <a:ln/>
        </p:spPr>
        <p:txBody>
          <a:bodyPr wrap="square" rtlCol="0" anchor="ctr"/>
          <a:lstStyle/>
          <a:p>
            <a:pPr algn="ctr" indent="0" marL="0">
              <a:buNone/>
            </a:pPr>
            <a:r>
              <a:rPr lang="en-US" sz="850" dirty="0">
                <a:solidFill>
                  <a:srgbClr val="877258"/>
                </a:solidFill>
                <a:latin typeface="Segoe UI" pitchFamily="34" charset="0"/>
                <a:ea typeface="Segoe UI" pitchFamily="34" charset="-122"/>
                <a:cs typeface="Segoe UI" pitchFamily="34" charset="-120"/>
              </a:rPr>
              <a:t>買い物リスト ／ Danh sách theo quầy</a:t>
            </a:r>
            <a:endParaRPr lang="en-US" sz="850" dirty="0"/>
          </a:p>
        </p:txBody>
      </p:sp>
      <p:pic>
        <p:nvPicPr>
          <p:cNvPr id="13" name="Image 1" descr="C:\Users\minhh\AppData\Local\Temp\claude\c--Users-minhh-Documents-challenge\0b7be4ed-3567-4081-a022-ada0920f3982\scratchpad\slide-shots\11-uriba-map.png">    </p:cNvPr>
          <p:cNvPicPr>
            <a:picLocks noChangeAspect="1"/>
          </p:cNvPicPr>
          <p:nvPr/>
        </p:nvPicPr>
        <p:blipFill>
          <a:blip r:embed="rId2"/>
          <a:srcRect l="0" r="0" t="0" b="0"/>
          <a:stretch/>
        </p:blipFill>
        <p:spPr>
          <a:xfrm>
            <a:off x="9250528" y="1664208"/>
            <a:ext cx="2374240" cy="4023360"/>
          </a:xfrm>
          <a:prstGeom prst="rect">
            <a:avLst/>
          </a:prstGeom>
        </p:spPr>
      </p:pic>
      <p:sp>
        <p:nvSpPr>
          <p:cNvPr id="14" name="Text 10"/>
          <p:cNvSpPr/>
          <p:nvPr/>
        </p:nvSpPr>
        <p:spPr>
          <a:xfrm>
            <a:off x="9250528" y="5724144"/>
            <a:ext cx="2374240" cy="219456"/>
          </a:xfrm>
          <a:prstGeom prst="rect">
            <a:avLst/>
          </a:prstGeom>
          <a:noFill/>
          <a:ln/>
        </p:spPr>
        <p:txBody>
          <a:bodyPr wrap="square" rtlCol="0" anchor="ctr"/>
          <a:lstStyle/>
          <a:p>
            <a:pPr algn="ctr" indent="0" marL="0">
              <a:buNone/>
            </a:pPr>
            <a:r>
              <a:rPr lang="en-US" sz="850" dirty="0">
                <a:solidFill>
                  <a:srgbClr val="877258"/>
                </a:solidFill>
                <a:latin typeface="Segoe UI" pitchFamily="34" charset="0"/>
                <a:ea typeface="Segoe UI" pitchFamily="34" charset="-122"/>
                <a:cs typeface="Segoe UI" pitchFamily="34" charset="-120"/>
              </a:rPr>
              <a:t>売場マップ ／ Sơ đồ quầy hàng</a:t>
            </a:r>
            <a:endParaRPr lang="en-US" sz="850" dirty="0"/>
          </a:p>
        </p:txBody>
      </p:sp>
      <p:sp>
        <p:nvSpPr>
          <p:cNvPr id="15" name="Text 11"/>
          <p:cNvSpPr/>
          <p:nvPr/>
        </p:nvSpPr>
        <p:spPr>
          <a:xfrm>
            <a:off x="8351215" y="6473952"/>
            <a:ext cx="3291840" cy="228600"/>
          </a:xfrm>
          <a:prstGeom prst="rect">
            <a:avLst/>
          </a:prstGeom>
          <a:noFill/>
          <a:ln/>
        </p:spPr>
        <p:txBody>
          <a:bodyPr wrap="square" rtlCol="0" anchor="ctr"/>
          <a:lstStyle/>
          <a:p>
            <a:pPr algn="r" indent="0" marL="0">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indent="0" marL="0">
              <a:buNone/>
            </a:pPr>
            <a:r>
              <a:rPr lang="en-US" sz="1050" b="1" spc="100" kern="0" dirty="0">
                <a:solidFill>
                  <a:srgbClr val="C7273B"/>
                </a:solidFill>
                <a:latin typeface="Yu Gothic" pitchFamily="34" charset="0"/>
                <a:ea typeface="Yu Gothic" pitchFamily="34" charset="-122"/>
                <a:cs typeface="Yu Gothic" pitchFamily="34" charset="-120"/>
              </a:rPr>
              <a:t>機能⑤ ネットで買う</a:t>
            </a:r>
            <a:pPr indent="0" marL="0">
              <a:buNone/>
            </a:pPr>
            <a:r>
              <a:rPr lang="en-US" sz="1000" b="1" spc="100" kern="0" dirty="0">
                <a:solidFill>
                  <a:srgbClr val="877258"/>
                </a:solidFill>
                <a:latin typeface="Segoe UI" pitchFamily="34" charset="0"/>
                <a:ea typeface="Segoe UI" pitchFamily="34" charset="-122"/>
                <a:cs typeface="Segoe UI" pitchFamily="34" charset="-120"/>
              </a:rPr>
              <a:t>　／ TÍNH NĂNG ⑤ · MUA ONLINE</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sp>
      <p:sp>
        <p:nvSpPr>
          <p:cNvPr id="4" name="Text 2"/>
          <p:cNvSpPr/>
          <p:nvPr/>
        </p:nvSpPr>
        <p:spPr>
          <a:xfrm>
            <a:off x="566928" y="713232"/>
            <a:ext cx="11057839" cy="502920"/>
          </a:xfrm>
          <a:prstGeom prst="rect">
            <a:avLst/>
          </a:prstGeom>
          <a:noFill/>
          <a:ln/>
        </p:spPr>
        <p:txBody>
          <a:bodyPr wrap="square" rtlCol="0" anchor="ctr"/>
          <a:lstStyle/>
          <a:p>
            <a:pPr indent="0" marL="0">
              <a:buNone/>
            </a:pPr>
            <a:r>
              <a:rPr lang="en-US" sz="2700" b="1" dirty="0">
                <a:solidFill>
                  <a:srgbClr val="331E0E"/>
                </a:solidFill>
                <a:latin typeface="Yu Mincho" pitchFamily="34" charset="0"/>
                <a:ea typeface="Yu Mincho" pitchFamily="34" charset="-122"/>
                <a:cs typeface="Yu Mincho" pitchFamily="34" charset="-120"/>
              </a:rPr>
              <a:t>カートと、既存ネット通販への連携</a:t>
            </a:r>
            <a:endParaRPr lang="en-US" sz="2700" dirty="0"/>
          </a:p>
        </p:txBody>
      </p:sp>
      <p:sp>
        <p:nvSpPr>
          <p:cNvPr id="5" name="Text 3"/>
          <p:cNvSpPr/>
          <p:nvPr/>
        </p:nvSpPr>
        <p:spPr>
          <a:xfrm>
            <a:off x="566928" y="1225296"/>
            <a:ext cx="11057839" cy="274320"/>
          </a:xfrm>
          <a:prstGeom prst="rect">
            <a:avLst/>
          </a:prstGeom>
          <a:noFill/>
          <a:ln/>
        </p:spPr>
        <p:txBody>
          <a:bodyPr wrap="square" rtlCol="0" anchor="ctr"/>
          <a:lstStyle/>
          <a:p>
            <a:pPr indent="0" marL="0">
              <a:buNone/>
            </a:pPr>
            <a:r>
              <a:rPr lang="en-US" sz="1250" dirty="0">
                <a:solidFill>
                  <a:srgbClr val="877258"/>
                </a:solidFill>
                <a:latin typeface="Segoe UI" pitchFamily="34" charset="0"/>
                <a:ea typeface="Segoe UI" pitchFamily="34" charset="-122"/>
                <a:cs typeface="Segoe UI" pitchFamily="34" charset="-120"/>
              </a:rPr>
              <a:t>Giỏ hàng và kết nối sang trang bán hàng online sẵn có</a:t>
            </a:r>
            <a:endParaRPr lang="en-US" sz="1250" dirty="0"/>
          </a:p>
        </p:txBody>
      </p:sp>
      <p:sp>
        <p:nvSpPr>
          <p:cNvPr id="6" name="Text 4"/>
          <p:cNvSpPr/>
          <p:nvPr/>
        </p:nvSpPr>
        <p:spPr>
          <a:xfrm>
            <a:off x="566928" y="1627632"/>
            <a:ext cx="5806440" cy="2340864"/>
          </a:xfrm>
          <a:prstGeom prst="rect">
            <a:avLst/>
          </a:prstGeom>
          <a:noFill/>
          <a:ln/>
        </p:spPr>
        <p:txBody>
          <a:bodyPr wrap="square" rtlCol="0" anchor="t"/>
          <a:lstStyle/>
          <a:p>
            <a:pPr indent="0" marL="0">
              <a:lnSpc>
                <a:spcPct val="120000"/>
              </a:lnSpc>
              <a:buNone/>
            </a:pPr>
            <a:r>
              <a:rPr lang="en-US" sz="1150" b="1" dirty="0">
                <a:solidFill>
                  <a:srgbClr val="2A1A0E"/>
                </a:solidFill>
                <a:latin typeface="Yu Gothic" pitchFamily="34" charset="0"/>
                <a:ea typeface="Yu Gothic" pitchFamily="34" charset="-122"/>
                <a:cs typeface="Yu Gothic" pitchFamily="34" charset="-120"/>
              </a:rPr>
              <a:t>■ 商品一覧・検索結果・レシピの材料、どこからでもカートへ</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Thêm vào giỏ từ bất cứ đâu: danh sách sản phẩm, kết quả tìm kiếm, nguyên liệu công thức.</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特売中なら割引価格を自動で適用し、いくら得したかを表示</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Tự áp giá khuyến mãi và hiện số tiền tiết kiệm được.</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購入手続きは作り直さず、shop.entstore.co.jp にお任せします</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Không làm lại khâu thanh toán — trang EC đã hoàn chỉnh rồi.</a:t>
            </a:r>
            <a:endParaRPr lang="en-US" sz="1150" dirty="0"/>
          </a:p>
        </p:txBody>
      </p:sp>
      <p:sp>
        <p:nvSpPr>
          <p:cNvPr id="7" name="Shape 5"/>
          <p:cNvSpPr/>
          <p:nvPr/>
        </p:nvSpPr>
        <p:spPr>
          <a:xfrm>
            <a:off x="566928" y="4041648"/>
            <a:ext cx="5806440" cy="960120"/>
          </a:xfrm>
          <a:prstGeom prst="rect">
            <a:avLst/>
          </a:prstGeom>
          <a:solidFill>
            <a:srgbClr val="FBF0F1"/>
          </a:solidFill>
          <a:ln w="12700">
            <a:solidFill>
              <a:srgbClr val="FBF0F1"/>
            </a:solidFill>
            <a:prstDash val="solid"/>
          </a:ln>
        </p:spPr>
      </p:sp>
      <p:sp>
        <p:nvSpPr>
          <p:cNvPr id="8" name="Shape 6"/>
          <p:cNvSpPr/>
          <p:nvPr/>
        </p:nvSpPr>
        <p:spPr>
          <a:xfrm>
            <a:off x="566928" y="4041648"/>
            <a:ext cx="41148" cy="960120"/>
          </a:xfrm>
          <a:prstGeom prst="rect">
            <a:avLst/>
          </a:prstGeom>
          <a:solidFill>
            <a:srgbClr val="C7273B"/>
          </a:solidFill>
          <a:ln w="12700">
            <a:solidFill>
              <a:srgbClr val="C7273B"/>
            </a:solidFill>
            <a:prstDash val="solid"/>
          </a:ln>
        </p:spPr>
      </p:sp>
      <p:sp>
        <p:nvSpPr>
          <p:cNvPr id="9" name="Text 7"/>
          <p:cNvSpPr/>
          <p:nvPr/>
        </p:nvSpPr>
        <p:spPr>
          <a:xfrm>
            <a:off x="694944" y="4142232"/>
            <a:ext cx="658368" cy="457200"/>
          </a:xfrm>
          <a:prstGeom prst="rect">
            <a:avLst/>
          </a:prstGeom>
          <a:noFill/>
          <a:ln/>
        </p:spPr>
        <p:txBody>
          <a:bodyPr wrap="square" rtlCol="0" anchor="t"/>
          <a:lstStyle/>
          <a:p>
            <a:pPr indent="0" marL="0">
              <a:buNone/>
            </a:pPr>
            <a:r>
              <a:rPr lang="en-US" sz="950" b="1" dirty="0">
                <a:solidFill>
                  <a:srgbClr val="C7273B"/>
                </a:solidFill>
                <a:latin typeface="Yu Gothic" pitchFamily="34" charset="0"/>
                <a:ea typeface="Yu Gothic" pitchFamily="34" charset="-122"/>
                <a:cs typeface="Yu Gothic" pitchFamily="34" charset="-120"/>
              </a:rPr>
              <a:t>効果</a:t>
            </a:r>
            <a:endParaRPr lang="en-US" sz="950" dirty="0"/>
          </a:p>
          <a:p>
            <a:pPr indent="0" marL="0">
              <a:buNone/>
            </a:pPr>
            <a:r>
              <a:rPr lang="en-US" sz="800" b="1" dirty="0">
                <a:solidFill>
                  <a:srgbClr val="C7273B"/>
                </a:solidFill>
                <a:latin typeface="Segoe UI" pitchFamily="34" charset="0"/>
                <a:ea typeface="Segoe UI" pitchFamily="34" charset="-122"/>
                <a:cs typeface="Segoe UI" pitchFamily="34" charset="-120"/>
              </a:rPr>
              <a:t>LỢI ÍCH</a:t>
            </a:r>
            <a:endParaRPr lang="en-US" sz="950" dirty="0"/>
          </a:p>
        </p:txBody>
      </p:sp>
      <p:sp>
        <p:nvSpPr>
          <p:cNvPr id="10" name="Text 8"/>
          <p:cNvSpPr/>
          <p:nvPr/>
        </p:nvSpPr>
        <p:spPr>
          <a:xfrm>
            <a:off x="1408176" y="4133088"/>
            <a:ext cx="4837176" cy="777240"/>
          </a:xfrm>
          <a:prstGeom prst="rect">
            <a:avLst/>
          </a:prstGeom>
          <a:noFill/>
          <a:ln/>
        </p:spPr>
        <p:txBody>
          <a:bodyPr wrap="square" rtlCol="0" anchor="t"/>
          <a:lstStyle/>
          <a:p>
            <a:pPr indent="0" marL="0">
              <a:lnSpc>
                <a:spcPct val="120000"/>
              </a:lnSpc>
              <a:buNone/>
            </a:pPr>
            <a:r>
              <a:rPr lang="en-US" sz="1050" dirty="0">
                <a:solidFill>
                  <a:srgbClr val="2A1A0E"/>
                </a:solidFill>
                <a:latin typeface="Yu Gothic" pitchFamily="34" charset="0"/>
                <a:ea typeface="Yu Gothic" pitchFamily="34" charset="-122"/>
                <a:cs typeface="Yu Gothic" pitchFamily="34" charset="-120"/>
              </a:rPr>
              <a:t>気になった商品をその場で押さえられ、本サイトからネット通販へ自然にお客様をお送りできます。</a:t>
            </a:r>
            <a:endParaRPr lang="en-US" sz="10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Khách giữ được món vừa xem, và web chính dẫn khách sang trang bán hàng online một cách tự nhiên.</a:t>
            </a:r>
            <a:endParaRPr lang="en-US" sz="1050" dirty="0"/>
          </a:p>
        </p:txBody>
      </p:sp>
      <p:sp>
        <p:nvSpPr>
          <p:cNvPr id="11" name="Shape 9"/>
          <p:cNvSpPr/>
          <p:nvPr/>
        </p:nvSpPr>
        <p:spPr>
          <a:xfrm>
            <a:off x="566928" y="5148072"/>
            <a:ext cx="5806440" cy="914400"/>
          </a:xfrm>
          <a:prstGeom prst="rect">
            <a:avLst/>
          </a:prstGeom>
          <a:solidFill>
            <a:srgbClr val="F9F3ED"/>
          </a:solidFill>
          <a:ln w="12700">
            <a:solidFill>
              <a:srgbClr val="F9F3ED"/>
            </a:solidFill>
            <a:prstDash val="solid"/>
          </a:ln>
        </p:spPr>
      </p:sp>
      <p:sp>
        <p:nvSpPr>
          <p:cNvPr id="12" name="Shape 10"/>
          <p:cNvSpPr/>
          <p:nvPr/>
        </p:nvSpPr>
        <p:spPr>
          <a:xfrm>
            <a:off x="566928" y="5148072"/>
            <a:ext cx="41148" cy="914400"/>
          </a:xfrm>
          <a:prstGeom prst="rect">
            <a:avLst/>
          </a:prstGeom>
          <a:solidFill>
            <a:srgbClr val="B0651C"/>
          </a:solidFill>
          <a:ln w="12700">
            <a:solidFill>
              <a:srgbClr val="B0651C"/>
            </a:solidFill>
            <a:prstDash val="solid"/>
          </a:ln>
        </p:spPr>
      </p:sp>
      <p:sp>
        <p:nvSpPr>
          <p:cNvPr id="13" name="Text 11"/>
          <p:cNvSpPr/>
          <p:nvPr/>
        </p:nvSpPr>
        <p:spPr>
          <a:xfrm>
            <a:off x="731520" y="5239512"/>
            <a:ext cx="5495544" cy="731520"/>
          </a:xfrm>
          <a:prstGeom prst="rect">
            <a:avLst/>
          </a:prstGeom>
          <a:noFill/>
          <a:ln/>
        </p:spPr>
        <p:txBody>
          <a:bodyPr wrap="square" rtlCol="0" anchor="t"/>
          <a:lstStyle/>
          <a:p>
            <a:pPr indent="0" marL="0">
              <a:lnSpc>
                <a:spcPct val="120000"/>
              </a:lnSpc>
              <a:buNone/>
            </a:pPr>
            <a:r>
              <a:rPr lang="en-US" sz="1000" dirty="0">
                <a:solidFill>
                  <a:srgbClr val="2A1A0E"/>
                </a:solidFill>
                <a:latin typeface="Yu Gothic" pitchFamily="34" charset="0"/>
                <a:ea typeface="Yu Gothic" pitchFamily="34" charset="-122"/>
                <a:cs typeface="Yu Gothic" pitchFamily="34" charset="-120"/>
              </a:rPr>
              <a:t>カートの引き継ぎは今後の課題です。ドメインが異なるため、現状は通販サイトのカート画面を開くところまでです。</a:t>
            </a:r>
            <a:endParaRPr lang="en-US" sz="1000" dirty="0"/>
          </a:p>
          <a:p>
            <a:pPr indent="0" marL="0">
              <a:lnSpc>
                <a:spcPct val="115000"/>
              </a:lnSpc>
              <a:buNone/>
            </a:pPr>
            <a:r>
              <a:rPr lang="en-US" sz="900" dirty="0">
                <a:solidFill>
                  <a:srgbClr val="877258"/>
                </a:solidFill>
                <a:latin typeface="Segoe UI" pitchFamily="34" charset="0"/>
                <a:ea typeface="Segoe UI" pitchFamily="34" charset="-122"/>
                <a:cs typeface="Segoe UI" pitchFamily="34" charset="-120"/>
              </a:rPr>
              <a:t>Khác tên miền nên giỏ chưa tự chuyển được — cần bên EC mở kết nối giỏ hàng.</a:t>
            </a:r>
            <a:endParaRPr lang="en-US" sz="1000" dirty="0"/>
          </a:p>
        </p:txBody>
      </p:sp>
      <p:pic>
        <p:nvPicPr>
          <p:cNvPr id="14" name="Image 0" descr="C:\Users\minhh\AppData\Local\Temp\claude\c--Users-minhh-Documents-challenge\0b7be4ed-3567-4081-a022-ada0920f3982\scratchpad\slide-shots\18-buy-two-ways.png">    </p:cNvPr>
          <p:cNvPicPr>
            <a:picLocks noChangeAspect="1"/>
          </p:cNvPicPr>
          <p:nvPr/>
        </p:nvPicPr>
        <p:blipFill>
          <a:blip r:embed="rId1"/>
          <a:srcRect l="0" r="0" t="0" b="0"/>
          <a:stretch/>
        </p:blipFill>
        <p:spPr>
          <a:xfrm>
            <a:off x="6693408" y="1664208"/>
            <a:ext cx="2374240" cy="4023360"/>
          </a:xfrm>
          <a:prstGeom prst="rect">
            <a:avLst/>
          </a:prstGeom>
        </p:spPr>
      </p:pic>
      <p:sp>
        <p:nvSpPr>
          <p:cNvPr id="15" name="Text 12"/>
          <p:cNvSpPr/>
          <p:nvPr/>
        </p:nvSpPr>
        <p:spPr>
          <a:xfrm>
            <a:off x="6693408" y="5724144"/>
            <a:ext cx="2374240" cy="219456"/>
          </a:xfrm>
          <a:prstGeom prst="rect">
            <a:avLst/>
          </a:prstGeom>
          <a:noFill/>
          <a:ln/>
        </p:spPr>
        <p:txBody>
          <a:bodyPr wrap="square" rtlCol="0" anchor="ctr"/>
          <a:lstStyle/>
          <a:p>
            <a:pPr algn="ctr" indent="0" marL="0">
              <a:buNone/>
            </a:pPr>
            <a:r>
              <a:rPr lang="en-US" sz="850" dirty="0">
                <a:solidFill>
                  <a:srgbClr val="877258"/>
                </a:solidFill>
                <a:latin typeface="Segoe UI" pitchFamily="34" charset="0"/>
                <a:ea typeface="Segoe UI" pitchFamily="34" charset="-122"/>
                <a:cs typeface="Segoe UI" pitchFamily="34" charset="-120"/>
              </a:rPr>
              <a:t>2つの買い方 ／ Hai cách mua</a:t>
            </a:r>
            <a:endParaRPr lang="en-US" sz="850" dirty="0"/>
          </a:p>
        </p:txBody>
      </p:sp>
      <p:pic>
        <p:nvPicPr>
          <p:cNvPr id="16" name="Image 1" descr="C:\Users\minhh\AppData\Local\Temp\claude\c--Users-minhh-Documents-challenge\0b7be4ed-3567-4081-a022-ada0920f3982\scratchpad\slide-shots\08-cart.png">    </p:cNvPr>
          <p:cNvPicPr>
            <a:picLocks noChangeAspect="1"/>
          </p:cNvPicPr>
          <p:nvPr/>
        </p:nvPicPr>
        <p:blipFill>
          <a:blip r:embed="rId2"/>
          <a:srcRect l="0" r="0" t="0" b="0"/>
          <a:stretch/>
        </p:blipFill>
        <p:spPr>
          <a:xfrm>
            <a:off x="9250528" y="1664208"/>
            <a:ext cx="2374240" cy="4023360"/>
          </a:xfrm>
          <a:prstGeom prst="rect">
            <a:avLst/>
          </a:prstGeom>
        </p:spPr>
      </p:pic>
      <p:sp>
        <p:nvSpPr>
          <p:cNvPr id="17" name="Text 13"/>
          <p:cNvSpPr/>
          <p:nvPr/>
        </p:nvSpPr>
        <p:spPr>
          <a:xfrm>
            <a:off x="9250528" y="5724144"/>
            <a:ext cx="2374240" cy="219456"/>
          </a:xfrm>
          <a:prstGeom prst="rect">
            <a:avLst/>
          </a:prstGeom>
          <a:noFill/>
          <a:ln/>
        </p:spPr>
        <p:txBody>
          <a:bodyPr wrap="square" rtlCol="0" anchor="ctr"/>
          <a:lstStyle/>
          <a:p>
            <a:pPr algn="ctr" indent="0" marL="0">
              <a:buNone/>
            </a:pPr>
            <a:r>
              <a:rPr lang="en-US" sz="850" dirty="0">
                <a:solidFill>
                  <a:srgbClr val="877258"/>
                </a:solidFill>
                <a:latin typeface="Segoe UI" pitchFamily="34" charset="0"/>
                <a:ea typeface="Segoe UI" pitchFamily="34" charset="-122"/>
                <a:cs typeface="Segoe UI" pitchFamily="34" charset="-120"/>
              </a:rPr>
              <a:t>カート ／ Giỏ hàng</a:t>
            </a:r>
            <a:endParaRPr lang="en-US" sz="850" dirty="0"/>
          </a:p>
        </p:txBody>
      </p:sp>
      <p:sp>
        <p:nvSpPr>
          <p:cNvPr id="18" name="Text 14"/>
          <p:cNvSpPr/>
          <p:nvPr/>
        </p:nvSpPr>
        <p:spPr>
          <a:xfrm>
            <a:off x="8351215" y="6473952"/>
            <a:ext cx="3291840" cy="228600"/>
          </a:xfrm>
          <a:prstGeom prst="rect">
            <a:avLst/>
          </a:prstGeom>
          <a:noFill/>
          <a:ln/>
        </p:spPr>
        <p:txBody>
          <a:bodyPr wrap="square" rtlCol="0" anchor="ctr"/>
          <a:lstStyle/>
          <a:p>
            <a:pPr algn="r" indent="0" marL="0">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indent="0" marL="0">
              <a:buNone/>
            </a:pPr>
            <a:r>
              <a:rPr lang="en-US" sz="1050" b="1" spc="100" kern="0" dirty="0">
                <a:solidFill>
                  <a:srgbClr val="C7273B"/>
                </a:solidFill>
                <a:latin typeface="Yu Gothic" pitchFamily="34" charset="0"/>
                <a:ea typeface="Yu Gothic" pitchFamily="34" charset="-122"/>
                <a:cs typeface="Yu Gothic" pitchFamily="34" charset="-120"/>
              </a:rPr>
              <a:t>補助機能：特売情報</a:t>
            </a:r>
            <a:pPr indent="0" marL="0">
              <a:buNone/>
            </a:pPr>
            <a:r>
              <a:rPr lang="en-US" sz="1000" b="1" spc="100" kern="0" dirty="0">
                <a:solidFill>
                  <a:srgbClr val="877258"/>
                </a:solidFill>
                <a:latin typeface="Segoe UI" pitchFamily="34" charset="0"/>
                <a:ea typeface="Segoe UI" pitchFamily="34" charset="-122"/>
                <a:cs typeface="Segoe UI" pitchFamily="34" charset="-120"/>
              </a:rPr>
              <a:t>　／ TÍNH NĂNG PHỤ · KHUYẾN MÃI</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sp>
      <p:sp>
        <p:nvSpPr>
          <p:cNvPr id="4" name="Text 2"/>
          <p:cNvSpPr/>
          <p:nvPr/>
        </p:nvSpPr>
        <p:spPr>
          <a:xfrm>
            <a:off x="566928" y="713232"/>
            <a:ext cx="11057839" cy="502920"/>
          </a:xfrm>
          <a:prstGeom prst="rect">
            <a:avLst/>
          </a:prstGeom>
          <a:noFill/>
          <a:ln/>
        </p:spPr>
        <p:txBody>
          <a:bodyPr wrap="square" rtlCol="0" anchor="ctr"/>
          <a:lstStyle/>
          <a:p>
            <a:pPr indent="0" marL="0">
              <a:buNone/>
            </a:pPr>
            <a:r>
              <a:rPr lang="en-US" sz="2700" b="1" dirty="0">
                <a:solidFill>
                  <a:srgbClr val="331E0E"/>
                </a:solidFill>
                <a:latin typeface="Yu Mincho" pitchFamily="34" charset="0"/>
                <a:ea typeface="Yu Mincho" pitchFamily="34" charset="-122"/>
                <a:cs typeface="Yu Mincho" pitchFamily="34" charset="-120"/>
              </a:rPr>
              <a:t>特売情報の掲載と管理</a:t>
            </a:r>
            <a:endParaRPr lang="en-US" sz="2700" dirty="0"/>
          </a:p>
        </p:txBody>
      </p:sp>
      <p:sp>
        <p:nvSpPr>
          <p:cNvPr id="5" name="Text 3"/>
          <p:cNvSpPr/>
          <p:nvPr/>
        </p:nvSpPr>
        <p:spPr>
          <a:xfrm>
            <a:off x="566928" y="1225296"/>
            <a:ext cx="11057839" cy="274320"/>
          </a:xfrm>
          <a:prstGeom prst="rect">
            <a:avLst/>
          </a:prstGeom>
          <a:noFill/>
          <a:ln/>
        </p:spPr>
        <p:txBody>
          <a:bodyPr wrap="square" rtlCol="0" anchor="ctr"/>
          <a:lstStyle/>
          <a:p>
            <a:pPr indent="0" marL="0">
              <a:buNone/>
            </a:pPr>
            <a:r>
              <a:rPr lang="en-US" sz="1250" dirty="0">
                <a:solidFill>
                  <a:srgbClr val="877258"/>
                </a:solidFill>
                <a:latin typeface="Segoe UI" pitchFamily="34" charset="0"/>
                <a:ea typeface="Segoe UI" pitchFamily="34" charset="-122"/>
                <a:cs typeface="Segoe UI" pitchFamily="34" charset="-120"/>
              </a:rPr>
              <a:t>Đăng và quản lý thông tin khuyến mãi</a:t>
            </a:r>
            <a:endParaRPr lang="en-US" sz="1250" dirty="0"/>
          </a:p>
        </p:txBody>
      </p:sp>
      <p:sp>
        <p:nvSpPr>
          <p:cNvPr id="6" name="Text 4"/>
          <p:cNvSpPr/>
          <p:nvPr/>
        </p:nvSpPr>
        <p:spPr>
          <a:xfrm>
            <a:off x="566928" y="1627632"/>
            <a:ext cx="5806440" cy="2980944"/>
          </a:xfrm>
          <a:prstGeom prst="rect">
            <a:avLst/>
          </a:prstGeom>
          <a:noFill/>
          <a:ln/>
        </p:spPr>
        <p:txBody>
          <a:bodyPr wrap="square" rtlCol="0" anchor="t"/>
          <a:lstStyle/>
          <a:p>
            <a:pPr indent="0" marL="0">
              <a:lnSpc>
                <a:spcPct val="120000"/>
              </a:lnSpc>
              <a:buNone/>
            </a:pPr>
            <a:r>
              <a:rPr lang="en-US" sz="1150" b="1" dirty="0">
                <a:solidFill>
                  <a:srgbClr val="2A1A0E"/>
                </a:solidFill>
                <a:latin typeface="Yu Gothic" pitchFamily="34" charset="0"/>
                <a:ea typeface="Yu Gothic" pitchFamily="34" charset="-122"/>
                <a:cs typeface="Yu Gothic" pitchFamily="34" charset="-120"/>
              </a:rPr>
              <a:t>■ 元になるのは、トップページのバナーとチラシの特売情報です</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Nguồn là chính các banner và tờ rơi khuyến mãi trên trang chủ.</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売場ごとに並べ、「あと3日」と残り日数を表示</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Nhóm theo quầy, đếm ngược số ngày còn lại.</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終了日を過ぎた特売は、全ページから自動で外れます（手作業の削除は不要）</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Hết hạn là tự biến mất khỏi mọi trang — không phải xoá tay.</a:t>
            </a:r>
            <a:endParaRPr lang="en-US" sz="1150" dirty="0"/>
          </a:p>
          <a:p>
            <a:pPr indent="0" marL="0">
              <a:lnSpc>
                <a:spcPct val="120000"/>
              </a:lnSpc>
              <a:spcBef>
                <a:spcPts val="900"/>
              </a:spcBef>
              <a:buNone/>
            </a:pPr>
            <a:r>
              <a:rPr lang="en-US" sz="1150" b="1" dirty="0">
                <a:solidFill>
                  <a:srgbClr val="2A1A0E"/>
                </a:solidFill>
                <a:latin typeface="Yu Gothic" pitchFamily="34" charset="0"/>
                <a:ea typeface="Yu Gothic" pitchFamily="34" charset="-122"/>
                <a:cs typeface="Yu Gothic" pitchFamily="34" charset="-120"/>
              </a:rPr>
              <a:t>■ 担当者はフォームのほか、お使いのExcelのまま登録できます</a:t>
            </a:r>
            <a:endParaRPr lang="en-US" sz="11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　　Nhân viên đăng bằng form, hoặc tải thẳng file Excel đang dùng.</a:t>
            </a:r>
            <a:endParaRPr lang="en-US" sz="1150" dirty="0"/>
          </a:p>
        </p:txBody>
      </p:sp>
      <p:sp>
        <p:nvSpPr>
          <p:cNvPr id="7" name="Shape 5"/>
          <p:cNvSpPr/>
          <p:nvPr/>
        </p:nvSpPr>
        <p:spPr>
          <a:xfrm>
            <a:off x="566928" y="4681728"/>
            <a:ext cx="5806440" cy="1143000"/>
          </a:xfrm>
          <a:prstGeom prst="rect">
            <a:avLst/>
          </a:prstGeom>
          <a:solidFill>
            <a:srgbClr val="FBF0F1"/>
          </a:solidFill>
          <a:ln w="12700">
            <a:solidFill>
              <a:srgbClr val="FBF0F1"/>
            </a:solidFill>
            <a:prstDash val="solid"/>
          </a:ln>
        </p:spPr>
      </p:sp>
      <p:sp>
        <p:nvSpPr>
          <p:cNvPr id="8" name="Shape 6"/>
          <p:cNvSpPr/>
          <p:nvPr/>
        </p:nvSpPr>
        <p:spPr>
          <a:xfrm>
            <a:off x="566928" y="4681728"/>
            <a:ext cx="41148" cy="1143000"/>
          </a:xfrm>
          <a:prstGeom prst="rect">
            <a:avLst/>
          </a:prstGeom>
          <a:solidFill>
            <a:srgbClr val="C7273B"/>
          </a:solidFill>
          <a:ln w="12700">
            <a:solidFill>
              <a:srgbClr val="C7273B"/>
            </a:solidFill>
            <a:prstDash val="solid"/>
          </a:ln>
        </p:spPr>
      </p:sp>
      <p:sp>
        <p:nvSpPr>
          <p:cNvPr id="9" name="Text 7"/>
          <p:cNvSpPr/>
          <p:nvPr/>
        </p:nvSpPr>
        <p:spPr>
          <a:xfrm>
            <a:off x="694944" y="4782312"/>
            <a:ext cx="658368" cy="457200"/>
          </a:xfrm>
          <a:prstGeom prst="rect">
            <a:avLst/>
          </a:prstGeom>
          <a:noFill/>
          <a:ln/>
        </p:spPr>
        <p:txBody>
          <a:bodyPr wrap="square" rtlCol="0" anchor="t"/>
          <a:lstStyle/>
          <a:p>
            <a:pPr indent="0" marL="0">
              <a:buNone/>
            </a:pPr>
            <a:r>
              <a:rPr lang="en-US" sz="950" b="1" dirty="0">
                <a:solidFill>
                  <a:srgbClr val="C7273B"/>
                </a:solidFill>
                <a:latin typeface="Yu Gothic" pitchFamily="34" charset="0"/>
                <a:ea typeface="Yu Gothic" pitchFamily="34" charset="-122"/>
                <a:cs typeface="Yu Gothic" pitchFamily="34" charset="-120"/>
              </a:rPr>
              <a:t>効果</a:t>
            </a:r>
            <a:endParaRPr lang="en-US" sz="950" dirty="0"/>
          </a:p>
          <a:p>
            <a:pPr indent="0" marL="0">
              <a:buNone/>
            </a:pPr>
            <a:r>
              <a:rPr lang="en-US" sz="800" b="1" dirty="0">
                <a:solidFill>
                  <a:srgbClr val="C7273B"/>
                </a:solidFill>
                <a:latin typeface="Segoe UI" pitchFamily="34" charset="0"/>
                <a:ea typeface="Segoe UI" pitchFamily="34" charset="-122"/>
                <a:cs typeface="Segoe UI" pitchFamily="34" charset="-120"/>
              </a:rPr>
              <a:t>LỢI ÍCH</a:t>
            </a:r>
            <a:endParaRPr lang="en-US" sz="950" dirty="0"/>
          </a:p>
        </p:txBody>
      </p:sp>
      <p:sp>
        <p:nvSpPr>
          <p:cNvPr id="10" name="Text 8"/>
          <p:cNvSpPr/>
          <p:nvPr/>
        </p:nvSpPr>
        <p:spPr>
          <a:xfrm>
            <a:off x="1408176" y="4773168"/>
            <a:ext cx="4837176" cy="960120"/>
          </a:xfrm>
          <a:prstGeom prst="rect">
            <a:avLst/>
          </a:prstGeom>
          <a:noFill/>
          <a:ln/>
        </p:spPr>
        <p:txBody>
          <a:bodyPr wrap="square" rtlCol="0" anchor="t"/>
          <a:lstStyle/>
          <a:p>
            <a:pPr indent="0" marL="0">
              <a:lnSpc>
                <a:spcPct val="120000"/>
              </a:lnSpc>
              <a:buNone/>
            </a:pPr>
            <a:r>
              <a:rPr lang="en-US" sz="1050" dirty="0">
                <a:solidFill>
                  <a:srgbClr val="2A1A0E"/>
                </a:solidFill>
                <a:latin typeface="Yu Gothic" pitchFamily="34" charset="0"/>
                <a:ea typeface="Yu Gothic" pitchFamily="34" charset="-122"/>
                <a:cs typeface="Yu Gothic" pitchFamily="34" charset="-120"/>
              </a:rPr>
              <a:t>チラシの特売が検索やチャットボットからも見つかるようになり、期限切れの情報が残り続ける事故も防げます。</a:t>
            </a:r>
            <a:endParaRPr lang="en-US" sz="1050" dirty="0"/>
          </a:p>
          <a:p>
            <a:pPr indent="0" marL="0">
              <a:lnSpc>
                <a:spcPct val="115000"/>
              </a:lnSpc>
              <a:buNone/>
            </a:pPr>
            <a:r>
              <a:rPr lang="en-US" sz="950" dirty="0">
                <a:solidFill>
                  <a:srgbClr val="877258"/>
                </a:solidFill>
                <a:latin typeface="Segoe UI" pitchFamily="34" charset="0"/>
                <a:ea typeface="Segoe UI" pitchFamily="34" charset="-122"/>
                <a:cs typeface="Segoe UI" pitchFamily="34" charset="-120"/>
              </a:rPr>
              <a:t>Khuyến mãi trên tờ rơi cũng tìm được bằng ô tìm kiếm và chatbot; tránh việc thông tin hết hạn còn sót lại trên web.</a:t>
            </a:r>
            <a:endParaRPr lang="en-US" sz="1050" dirty="0"/>
          </a:p>
        </p:txBody>
      </p:sp>
      <p:pic>
        <p:nvPicPr>
          <p:cNvPr id="11" name="Image 0" descr="C:\Users\minhh\AppData\Local\Temp\claude\c--Users-minhh-Documents-challenge\0b7be4ed-3567-4081-a022-ada0920f3982\scratchpad\slide-shots\09-promo.png">    </p:cNvPr>
          <p:cNvPicPr>
            <a:picLocks noChangeAspect="1"/>
          </p:cNvPicPr>
          <p:nvPr/>
        </p:nvPicPr>
        <p:blipFill>
          <a:blip r:embed="rId1"/>
          <a:srcRect l="0" r="0" t="0" b="0"/>
          <a:stretch/>
        </p:blipFill>
        <p:spPr>
          <a:xfrm>
            <a:off x="6693408" y="1664208"/>
            <a:ext cx="2374240" cy="4023360"/>
          </a:xfrm>
          <a:prstGeom prst="rect">
            <a:avLst/>
          </a:prstGeom>
        </p:spPr>
      </p:pic>
      <p:sp>
        <p:nvSpPr>
          <p:cNvPr id="12" name="Text 9"/>
          <p:cNvSpPr/>
          <p:nvPr/>
        </p:nvSpPr>
        <p:spPr>
          <a:xfrm>
            <a:off x="6693408" y="5724144"/>
            <a:ext cx="2374240" cy="219456"/>
          </a:xfrm>
          <a:prstGeom prst="rect">
            <a:avLst/>
          </a:prstGeom>
          <a:noFill/>
          <a:ln/>
        </p:spPr>
        <p:txBody>
          <a:bodyPr wrap="square" rtlCol="0" anchor="ctr"/>
          <a:lstStyle/>
          <a:p>
            <a:pPr algn="ctr" indent="0" marL="0">
              <a:buNone/>
            </a:pPr>
            <a:r>
              <a:rPr lang="en-US" sz="850" dirty="0">
                <a:solidFill>
                  <a:srgbClr val="877258"/>
                </a:solidFill>
                <a:latin typeface="Segoe UI" pitchFamily="34" charset="0"/>
                <a:ea typeface="Segoe UI" pitchFamily="34" charset="-122"/>
                <a:cs typeface="Segoe UI" pitchFamily="34" charset="-120"/>
              </a:rPr>
              <a:t>特売情報ページ ／ Trang khuyến mãi</a:t>
            </a:r>
            <a:endParaRPr lang="en-US" sz="850" dirty="0"/>
          </a:p>
        </p:txBody>
      </p:sp>
      <p:pic>
        <p:nvPicPr>
          <p:cNvPr id="13" name="Image 1" descr="C:\Users\minhh\AppData\Local\Temp\claude\c--Users-minhh-Documents-challenge\0b7be4ed-3567-4081-a022-ada0920f3982\scratchpad\slide-shots\15-admin-import.png">    </p:cNvPr>
          <p:cNvPicPr>
            <a:picLocks noChangeAspect="1"/>
          </p:cNvPicPr>
          <p:nvPr/>
        </p:nvPicPr>
        <p:blipFill>
          <a:blip r:embed="rId2"/>
          <a:srcRect l="0" r="0" t="0" b="0"/>
          <a:stretch/>
        </p:blipFill>
        <p:spPr>
          <a:xfrm>
            <a:off x="9250528" y="1664208"/>
            <a:ext cx="2374240" cy="4023360"/>
          </a:xfrm>
          <a:prstGeom prst="rect">
            <a:avLst/>
          </a:prstGeom>
        </p:spPr>
      </p:pic>
      <p:sp>
        <p:nvSpPr>
          <p:cNvPr id="14" name="Text 10"/>
          <p:cNvSpPr/>
          <p:nvPr/>
        </p:nvSpPr>
        <p:spPr>
          <a:xfrm>
            <a:off x="9250528" y="5724144"/>
            <a:ext cx="2374240" cy="219456"/>
          </a:xfrm>
          <a:prstGeom prst="rect">
            <a:avLst/>
          </a:prstGeom>
          <a:noFill/>
          <a:ln/>
        </p:spPr>
        <p:txBody>
          <a:bodyPr wrap="square" rtlCol="0" anchor="ctr"/>
          <a:lstStyle/>
          <a:p>
            <a:pPr algn="ctr" indent="0" marL="0">
              <a:buNone/>
            </a:pPr>
            <a:r>
              <a:rPr lang="en-US" sz="850" dirty="0">
                <a:solidFill>
                  <a:srgbClr val="877258"/>
                </a:solidFill>
                <a:latin typeface="Segoe UI" pitchFamily="34" charset="0"/>
                <a:ea typeface="Segoe UI" pitchFamily="34" charset="-122"/>
                <a:cs typeface="Segoe UI" pitchFamily="34" charset="-120"/>
              </a:rPr>
              <a:t>管理画面 ／ Màn hình quản lý</a:t>
            </a:r>
            <a:endParaRPr lang="en-US" sz="850" dirty="0"/>
          </a:p>
        </p:txBody>
      </p:sp>
      <p:sp>
        <p:nvSpPr>
          <p:cNvPr id="15" name="Text 11"/>
          <p:cNvSpPr/>
          <p:nvPr/>
        </p:nvSpPr>
        <p:spPr>
          <a:xfrm>
            <a:off x="8351215" y="6473952"/>
            <a:ext cx="3291840" cy="228600"/>
          </a:xfrm>
          <a:prstGeom prst="rect">
            <a:avLst/>
          </a:prstGeom>
          <a:noFill/>
          <a:ln/>
        </p:spPr>
        <p:txBody>
          <a:bodyPr wrap="square" rtlCol="0" anchor="ctr"/>
          <a:lstStyle/>
          <a:p>
            <a:pPr algn="r" indent="0" marL="0">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indent="0" marL="0">
              <a:buNone/>
            </a:pPr>
            <a:r>
              <a:rPr lang="en-US" sz="1050" b="1" spc="100" kern="0" dirty="0">
                <a:solidFill>
                  <a:srgbClr val="C7273B"/>
                </a:solidFill>
                <a:latin typeface="Yu Gothic" pitchFamily="34" charset="0"/>
                <a:ea typeface="Yu Gothic" pitchFamily="34" charset="-122"/>
                <a:cs typeface="Yu Gothic" pitchFamily="34" charset="-120"/>
              </a:rPr>
              <a:t>今後の課題</a:t>
            </a:r>
            <a:pPr indent="0" marL="0">
              <a:buNone/>
            </a:pPr>
            <a:r>
              <a:rPr lang="en-US" sz="1000" b="1" spc="100" kern="0" dirty="0">
                <a:solidFill>
                  <a:srgbClr val="877258"/>
                </a:solidFill>
                <a:latin typeface="Segoe UI" pitchFamily="34" charset="0"/>
                <a:ea typeface="Segoe UI" pitchFamily="34" charset="-122"/>
                <a:cs typeface="Segoe UI" pitchFamily="34" charset="-120"/>
              </a:rPr>
              <a:t>　／ VIỆC CẦN LÀM TIẾP</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sp>
      <p:sp>
        <p:nvSpPr>
          <p:cNvPr id="4" name="Text 2"/>
          <p:cNvSpPr/>
          <p:nvPr/>
        </p:nvSpPr>
        <p:spPr>
          <a:xfrm>
            <a:off x="566928" y="713232"/>
            <a:ext cx="11057839" cy="502920"/>
          </a:xfrm>
          <a:prstGeom prst="rect">
            <a:avLst/>
          </a:prstGeom>
          <a:noFill/>
          <a:ln/>
        </p:spPr>
        <p:txBody>
          <a:bodyPr wrap="square" rtlCol="0" anchor="ctr"/>
          <a:lstStyle/>
          <a:p>
            <a:pPr indent="0" marL="0">
              <a:buNone/>
            </a:pPr>
            <a:r>
              <a:rPr lang="en-US" sz="2700" b="1" dirty="0">
                <a:solidFill>
                  <a:srgbClr val="331E0E"/>
                </a:solidFill>
                <a:latin typeface="Yu Mincho" pitchFamily="34" charset="0"/>
                <a:ea typeface="Yu Mincho" pitchFamily="34" charset="-122"/>
                <a:cs typeface="Yu Mincho" pitchFamily="34" charset="-120"/>
              </a:rPr>
              <a:t>実運用に向けて必要な作業</a:t>
            </a:r>
            <a:endParaRPr lang="en-US" sz="2700" dirty="0"/>
          </a:p>
        </p:txBody>
      </p:sp>
      <p:sp>
        <p:nvSpPr>
          <p:cNvPr id="5" name="Text 3"/>
          <p:cNvSpPr/>
          <p:nvPr/>
        </p:nvSpPr>
        <p:spPr>
          <a:xfrm>
            <a:off x="566928" y="1225296"/>
            <a:ext cx="11057839" cy="274320"/>
          </a:xfrm>
          <a:prstGeom prst="rect">
            <a:avLst/>
          </a:prstGeom>
          <a:noFill/>
          <a:ln/>
        </p:spPr>
        <p:txBody>
          <a:bodyPr wrap="square" rtlCol="0" anchor="ctr"/>
          <a:lstStyle/>
          <a:p>
            <a:pPr indent="0" marL="0">
              <a:buNone/>
            </a:pPr>
            <a:r>
              <a:rPr lang="en-US" sz="1250" dirty="0">
                <a:solidFill>
                  <a:srgbClr val="877258"/>
                </a:solidFill>
                <a:latin typeface="Segoe UI" pitchFamily="34" charset="0"/>
                <a:ea typeface="Segoe UI" pitchFamily="34" charset="-122"/>
                <a:cs typeface="Segoe UI" pitchFamily="34" charset="-120"/>
              </a:rPr>
              <a:t>Những việc cần chuẩn bị trước khi đưa vào vận hành thật</a:t>
            </a:r>
            <a:endParaRPr lang="en-US" sz="1250" dirty="0"/>
          </a:p>
        </p:txBody>
      </p:sp>
      <p:sp>
        <p:nvSpPr>
          <p:cNvPr id="6" name="Shape 4"/>
          <p:cNvSpPr/>
          <p:nvPr/>
        </p:nvSpPr>
        <p:spPr>
          <a:xfrm>
            <a:off x="566928" y="1700784"/>
            <a:ext cx="5437480" cy="1572768"/>
          </a:xfrm>
          <a:prstGeom prst="rect">
            <a:avLst/>
          </a:prstGeom>
          <a:solidFill>
            <a:srgbClr val="FFFFFF"/>
          </a:solidFill>
          <a:ln w="9525">
            <a:solidFill>
              <a:srgbClr val="E4D9C6"/>
            </a:solidFill>
            <a:prstDash val="solid"/>
          </a:ln>
        </p:spPr>
      </p:sp>
      <p:sp>
        <p:nvSpPr>
          <p:cNvPr id="7" name="Text 5"/>
          <p:cNvSpPr/>
          <p:nvPr/>
        </p:nvSpPr>
        <p:spPr>
          <a:xfrm>
            <a:off x="731520" y="1810512"/>
            <a:ext cx="5108296" cy="1353312"/>
          </a:xfrm>
          <a:prstGeom prst="rect">
            <a:avLst/>
          </a:prstGeom>
          <a:noFill/>
          <a:ln/>
        </p:spPr>
        <p:txBody>
          <a:bodyPr wrap="square" rtlCol="0" anchor="t"/>
          <a:lstStyle/>
          <a:p>
            <a:pPr indent="0" marL="0">
              <a:buNone/>
            </a:pPr>
            <a:r>
              <a:rPr lang="en-US" sz="950" b="1" spc="100" kern="0" dirty="0">
                <a:solidFill>
                  <a:srgbClr val="C7273B"/>
                </a:solidFill>
                <a:latin typeface="Yu Mincho" pitchFamily="34" charset="0"/>
                <a:ea typeface="Yu Mincho" pitchFamily="34" charset="-122"/>
                <a:cs typeface="Yu Mincho" pitchFamily="34" charset="-120"/>
              </a:rPr>
              <a:t>課題 ①</a:t>
            </a:r>
            <a:endParaRPr lang="en-US" sz="950" dirty="0"/>
          </a:p>
          <a:p>
            <a:pPr indent="0" marL="0">
              <a:buNone/>
            </a:pPr>
            <a:r>
              <a:rPr lang="en-US" sz="1350" b="1" dirty="0">
                <a:solidFill>
                  <a:srgbClr val="331E0E"/>
                </a:solidFill>
                <a:latin typeface="Yu Mincho" pitchFamily="34" charset="0"/>
                <a:ea typeface="Yu Mincho" pitchFamily="34" charset="-122"/>
                <a:cs typeface="Yu Mincho" pitchFamily="34" charset="-120"/>
              </a:rPr>
              <a:t>商品・在庫データの連携</a:t>
            </a:r>
            <a:endParaRPr lang="en-US" sz="950" dirty="0"/>
          </a:p>
          <a:p>
            <a:pPr indent="0" marL="0">
              <a:buNone/>
            </a:pPr>
            <a:r>
              <a:rPr lang="en-US" sz="850" dirty="0">
                <a:solidFill>
                  <a:srgbClr val="877258"/>
                </a:solidFill>
                <a:latin typeface="Segoe UI" pitchFamily="34" charset="0"/>
                <a:ea typeface="Segoe UI" pitchFamily="34" charset="-122"/>
                <a:cs typeface="Segoe UI" pitchFamily="34" charset="-120"/>
              </a:rPr>
              <a:t>Kết nối dữ liệu sản phẩm và tồn kho</a:t>
            </a:r>
            <a:endParaRPr lang="en-US" sz="950" dirty="0"/>
          </a:p>
          <a:p>
            <a:pPr indent="0" marL="0">
              <a:lnSpc>
                <a:spcPct val="120000"/>
              </a:lnSpc>
              <a:buNone/>
            </a:pPr>
            <a:endParaRPr lang="en-US" sz="950" dirty="0"/>
          </a:p>
          <a:p>
            <a:pPr indent="0" marL="0">
              <a:lnSpc>
                <a:spcPct val="120000"/>
              </a:lnSpc>
              <a:buNone/>
            </a:pPr>
            <a:r>
              <a:rPr lang="en-US" sz="950" dirty="0">
                <a:solidFill>
                  <a:srgbClr val="2A1A0E"/>
                </a:solidFill>
                <a:latin typeface="Yu Gothic" pitchFamily="34" charset="0"/>
                <a:ea typeface="Yu Gothic" pitchFamily="34" charset="-122"/>
                <a:cs typeface="Yu Gothic" pitchFamily="34" charset="-120"/>
              </a:rPr>
              <a:t>現在の価格・在庫はデモ用の数値です。ネット通販側の商品データとつなぐことで、実際の値を表示できます。</a:t>
            </a:r>
            <a:endParaRPr lang="en-US" sz="950" dirty="0"/>
          </a:p>
          <a:p>
            <a:pPr indent="0" marL="0">
              <a:lnSpc>
                <a:spcPct val="115000"/>
              </a:lnSpc>
              <a:buNone/>
            </a:pPr>
            <a:r>
              <a:rPr lang="en-US" sz="850" dirty="0">
                <a:solidFill>
                  <a:srgbClr val="877258"/>
                </a:solidFill>
                <a:latin typeface="Segoe UI" pitchFamily="34" charset="0"/>
                <a:ea typeface="Segoe UI" pitchFamily="34" charset="-122"/>
                <a:cs typeface="Segoe UI" pitchFamily="34" charset="-120"/>
              </a:rPr>
              <a:t>Giá và tồn kho hiện là số demo. Nối với dữ liệu sản phẩm của trang EC là hiển thị được số thật.</a:t>
            </a:r>
            <a:endParaRPr lang="en-US" sz="950" dirty="0"/>
          </a:p>
        </p:txBody>
      </p:sp>
      <p:sp>
        <p:nvSpPr>
          <p:cNvPr id="8" name="Shape 6"/>
          <p:cNvSpPr/>
          <p:nvPr/>
        </p:nvSpPr>
        <p:spPr>
          <a:xfrm>
            <a:off x="6187288" y="1700784"/>
            <a:ext cx="5437480" cy="1572768"/>
          </a:xfrm>
          <a:prstGeom prst="rect">
            <a:avLst/>
          </a:prstGeom>
          <a:solidFill>
            <a:srgbClr val="FFFFFF"/>
          </a:solidFill>
          <a:ln w="9525">
            <a:solidFill>
              <a:srgbClr val="E4D9C6"/>
            </a:solidFill>
            <a:prstDash val="solid"/>
          </a:ln>
        </p:spPr>
      </p:sp>
      <p:sp>
        <p:nvSpPr>
          <p:cNvPr id="9" name="Text 7"/>
          <p:cNvSpPr/>
          <p:nvPr/>
        </p:nvSpPr>
        <p:spPr>
          <a:xfrm>
            <a:off x="6351880" y="1810512"/>
            <a:ext cx="5108296" cy="1353312"/>
          </a:xfrm>
          <a:prstGeom prst="rect">
            <a:avLst/>
          </a:prstGeom>
          <a:noFill/>
          <a:ln/>
        </p:spPr>
        <p:txBody>
          <a:bodyPr wrap="square" rtlCol="0" anchor="t"/>
          <a:lstStyle/>
          <a:p>
            <a:pPr indent="0" marL="0">
              <a:buNone/>
            </a:pPr>
            <a:r>
              <a:rPr lang="en-US" sz="950" b="1" spc="100" kern="0" dirty="0">
                <a:solidFill>
                  <a:srgbClr val="C7273B"/>
                </a:solidFill>
                <a:latin typeface="Yu Mincho" pitchFamily="34" charset="0"/>
                <a:ea typeface="Yu Mincho" pitchFamily="34" charset="-122"/>
                <a:cs typeface="Yu Mincho" pitchFamily="34" charset="-120"/>
              </a:rPr>
              <a:t>課題 ②</a:t>
            </a:r>
            <a:endParaRPr lang="en-US" sz="950" dirty="0"/>
          </a:p>
          <a:p>
            <a:pPr indent="0" marL="0">
              <a:buNone/>
            </a:pPr>
            <a:r>
              <a:rPr lang="en-US" sz="1350" b="1" dirty="0">
                <a:solidFill>
                  <a:srgbClr val="331E0E"/>
                </a:solidFill>
                <a:latin typeface="Yu Mincho" pitchFamily="34" charset="0"/>
                <a:ea typeface="Yu Mincho" pitchFamily="34" charset="-122"/>
                <a:cs typeface="Yu Mincho" pitchFamily="34" charset="-120"/>
              </a:rPr>
              <a:t>カートの引き継ぎ</a:t>
            </a:r>
            <a:endParaRPr lang="en-US" sz="950" dirty="0"/>
          </a:p>
          <a:p>
            <a:pPr indent="0" marL="0">
              <a:buNone/>
            </a:pPr>
            <a:r>
              <a:rPr lang="en-US" sz="850" dirty="0">
                <a:solidFill>
                  <a:srgbClr val="877258"/>
                </a:solidFill>
                <a:latin typeface="Segoe UI" pitchFamily="34" charset="0"/>
                <a:ea typeface="Segoe UI" pitchFamily="34" charset="-122"/>
                <a:cs typeface="Segoe UI" pitchFamily="34" charset="-120"/>
              </a:rPr>
              <a:t>Chuyển giỏ hàng sang trang EC</a:t>
            </a:r>
            <a:endParaRPr lang="en-US" sz="950" dirty="0"/>
          </a:p>
          <a:p>
            <a:pPr indent="0" marL="0">
              <a:lnSpc>
                <a:spcPct val="120000"/>
              </a:lnSpc>
              <a:buNone/>
            </a:pPr>
            <a:endParaRPr lang="en-US" sz="950" dirty="0"/>
          </a:p>
          <a:p>
            <a:pPr indent="0" marL="0">
              <a:lnSpc>
                <a:spcPct val="120000"/>
              </a:lnSpc>
              <a:buNone/>
            </a:pPr>
            <a:r>
              <a:rPr lang="en-US" sz="950" dirty="0">
                <a:solidFill>
                  <a:srgbClr val="2A1A0E"/>
                </a:solidFill>
                <a:latin typeface="Yu Gothic" pitchFamily="34" charset="0"/>
                <a:ea typeface="Yu Gothic" pitchFamily="34" charset="-122"/>
                <a:cs typeface="Yu Gothic" pitchFamily="34" charset="-120"/>
              </a:rPr>
              <a:t>ドメインが異なるため、いまは通販のカート画面を開くところまでです。中身を引き継ぐには通販側との連携が必要です。</a:t>
            </a:r>
            <a:endParaRPr lang="en-US" sz="950" dirty="0"/>
          </a:p>
          <a:p>
            <a:pPr indent="0" marL="0">
              <a:lnSpc>
                <a:spcPct val="115000"/>
              </a:lnSpc>
              <a:buNone/>
            </a:pPr>
            <a:r>
              <a:rPr lang="en-US" sz="850" dirty="0">
                <a:solidFill>
                  <a:srgbClr val="877258"/>
                </a:solidFill>
                <a:latin typeface="Segoe UI" pitchFamily="34" charset="0"/>
                <a:ea typeface="Segoe UI" pitchFamily="34" charset="-122"/>
                <a:cs typeface="Segoe UI" pitchFamily="34" charset="-120"/>
              </a:rPr>
              <a:t>Do khác tên miền nên hiện mới chỉ mở được trang giỏ hàng. Muốn giữ nguyên hàng đã chọn thì cần bên EC mở kết nối.</a:t>
            </a:r>
            <a:endParaRPr lang="en-US" sz="950" dirty="0"/>
          </a:p>
        </p:txBody>
      </p:sp>
      <p:sp>
        <p:nvSpPr>
          <p:cNvPr id="10" name="Shape 8"/>
          <p:cNvSpPr/>
          <p:nvPr/>
        </p:nvSpPr>
        <p:spPr>
          <a:xfrm>
            <a:off x="566928" y="3456432"/>
            <a:ext cx="5437480" cy="1572768"/>
          </a:xfrm>
          <a:prstGeom prst="rect">
            <a:avLst/>
          </a:prstGeom>
          <a:solidFill>
            <a:srgbClr val="FFFFFF"/>
          </a:solidFill>
          <a:ln w="9525">
            <a:solidFill>
              <a:srgbClr val="E4D9C6"/>
            </a:solidFill>
            <a:prstDash val="solid"/>
          </a:ln>
        </p:spPr>
      </p:sp>
      <p:sp>
        <p:nvSpPr>
          <p:cNvPr id="11" name="Text 9"/>
          <p:cNvSpPr/>
          <p:nvPr/>
        </p:nvSpPr>
        <p:spPr>
          <a:xfrm>
            <a:off x="731520" y="3566160"/>
            <a:ext cx="5108296" cy="1353312"/>
          </a:xfrm>
          <a:prstGeom prst="rect">
            <a:avLst/>
          </a:prstGeom>
          <a:noFill/>
          <a:ln/>
        </p:spPr>
        <p:txBody>
          <a:bodyPr wrap="square" rtlCol="0" anchor="t"/>
          <a:lstStyle/>
          <a:p>
            <a:pPr indent="0" marL="0">
              <a:buNone/>
            </a:pPr>
            <a:r>
              <a:rPr lang="en-US" sz="950" b="1" spc="100" kern="0" dirty="0">
                <a:solidFill>
                  <a:srgbClr val="C7273B"/>
                </a:solidFill>
                <a:latin typeface="Yu Mincho" pitchFamily="34" charset="0"/>
                <a:ea typeface="Yu Mincho" pitchFamily="34" charset="-122"/>
                <a:cs typeface="Yu Mincho" pitchFamily="34" charset="-120"/>
              </a:rPr>
              <a:t>課題 ③</a:t>
            </a:r>
            <a:endParaRPr lang="en-US" sz="950" dirty="0"/>
          </a:p>
          <a:p>
            <a:pPr indent="0" marL="0">
              <a:buNone/>
            </a:pPr>
            <a:r>
              <a:rPr lang="en-US" sz="1350" b="1" dirty="0">
                <a:solidFill>
                  <a:srgbClr val="331E0E"/>
                </a:solidFill>
                <a:latin typeface="Yu Mincho" pitchFamily="34" charset="0"/>
                <a:ea typeface="Yu Mincho" pitchFamily="34" charset="-122"/>
                <a:cs typeface="Yu Mincho" pitchFamily="34" charset="-120"/>
              </a:rPr>
              <a:t>管理画面の認証</a:t>
            </a:r>
            <a:endParaRPr lang="en-US" sz="950" dirty="0"/>
          </a:p>
          <a:p>
            <a:pPr indent="0" marL="0">
              <a:buNone/>
            </a:pPr>
            <a:r>
              <a:rPr lang="en-US" sz="850" dirty="0">
                <a:solidFill>
                  <a:srgbClr val="877258"/>
                </a:solidFill>
                <a:latin typeface="Segoe UI" pitchFamily="34" charset="0"/>
                <a:ea typeface="Segoe UI" pitchFamily="34" charset="-122"/>
                <a:cs typeface="Segoe UI" pitchFamily="34" charset="-120"/>
              </a:rPr>
              <a:t>Xác thực cho màn hình quản lý</a:t>
            </a:r>
            <a:endParaRPr lang="en-US" sz="950" dirty="0"/>
          </a:p>
          <a:p>
            <a:pPr indent="0" marL="0">
              <a:lnSpc>
                <a:spcPct val="120000"/>
              </a:lnSpc>
              <a:buNone/>
            </a:pPr>
            <a:endParaRPr lang="en-US" sz="950" dirty="0"/>
          </a:p>
          <a:p>
            <a:pPr indent="0" marL="0">
              <a:lnSpc>
                <a:spcPct val="120000"/>
              </a:lnSpc>
              <a:buNone/>
            </a:pPr>
            <a:r>
              <a:rPr lang="en-US" sz="950" dirty="0">
                <a:solidFill>
                  <a:srgbClr val="2A1A0E"/>
                </a:solidFill>
                <a:latin typeface="Yu Gothic" pitchFamily="34" charset="0"/>
                <a:ea typeface="Yu Gothic" pitchFamily="34" charset="-122"/>
                <a:cs typeface="Yu Gothic" pitchFamily="34" charset="-120"/>
              </a:rPr>
              <a:t>特売の登録・削除は現在ログイン不要です。公開前に認証を追加する必要があります。</a:t>
            </a:r>
            <a:endParaRPr lang="en-US" sz="950" dirty="0"/>
          </a:p>
          <a:p>
            <a:pPr indent="0" marL="0">
              <a:lnSpc>
                <a:spcPct val="115000"/>
              </a:lnSpc>
              <a:buNone/>
            </a:pPr>
            <a:r>
              <a:rPr lang="en-US" sz="850" dirty="0">
                <a:solidFill>
                  <a:srgbClr val="877258"/>
                </a:solidFill>
                <a:latin typeface="Segoe UI" pitchFamily="34" charset="0"/>
                <a:ea typeface="Segoe UI" pitchFamily="34" charset="-122"/>
                <a:cs typeface="Segoe UI" pitchFamily="34" charset="-120"/>
              </a:rPr>
              <a:t>Việc đăng và xoá khuyến mãi hiện chưa cần đăng nhập — bắt buộc phải thêm xác thực trước khi công bố.</a:t>
            </a:r>
            <a:endParaRPr lang="en-US" sz="950" dirty="0"/>
          </a:p>
        </p:txBody>
      </p:sp>
      <p:sp>
        <p:nvSpPr>
          <p:cNvPr id="12" name="Shape 10"/>
          <p:cNvSpPr/>
          <p:nvPr/>
        </p:nvSpPr>
        <p:spPr>
          <a:xfrm>
            <a:off x="6187288" y="3456432"/>
            <a:ext cx="5437480" cy="1572768"/>
          </a:xfrm>
          <a:prstGeom prst="rect">
            <a:avLst/>
          </a:prstGeom>
          <a:solidFill>
            <a:srgbClr val="FFFFFF"/>
          </a:solidFill>
          <a:ln w="9525">
            <a:solidFill>
              <a:srgbClr val="E4D9C6"/>
            </a:solidFill>
            <a:prstDash val="solid"/>
          </a:ln>
        </p:spPr>
      </p:sp>
      <p:sp>
        <p:nvSpPr>
          <p:cNvPr id="13" name="Text 11"/>
          <p:cNvSpPr/>
          <p:nvPr/>
        </p:nvSpPr>
        <p:spPr>
          <a:xfrm>
            <a:off x="6351880" y="3566160"/>
            <a:ext cx="5108296" cy="1353312"/>
          </a:xfrm>
          <a:prstGeom prst="rect">
            <a:avLst/>
          </a:prstGeom>
          <a:noFill/>
          <a:ln/>
        </p:spPr>
        <p:txBody>
          <a:bodyPr wrap="square" rtlCol="0" anchor="t"/>
          <a:lstStyle/>
          <a:p>
            <a:pPr indent="0" marL="0">
              <a:buNone/>
            </a:pPr>
            <a:r>
              <a:rPr lang="en-US" sz="950" b="1" spc="100" kern="0" dirty="0">
                <a:solidFill>
                  <a:srgbClr val="C7273B"/>
                </a:solidFill>
                <a:latin typeface="Yu Mincho" pitchFamily="34" charset="0"/>
                <a:ea typeface="Yu Mincho" pitchFamily="34" charset="-122"/>
                <a:cs typeface="Yu Mincho" pitchFamily="34" charset="-120"/>
              </a:rPr>
              <a:t>課題 ④</a:t>
            </a:r>
            <a:endParaRPr lang="en-US" sz="950" dirty="0"/>
          </a:p>
          <a:p>
            <a:pPr indent="0" marL="0">
              <a:buNone/>
            </a:pPr>
            <a:r>
              <a:rPr lang="en-US" sz="1350" b="1" dirty="0">
                <a:solidFill>
                  <a:srgbClr val="331E0E"/>
                </a:solidFill>
                <a:latin typeface="Yu Mincho" pitchFamily="34" charset="0"/>
                <a:ea typeface="Yu Mincho" pitchFamily="34" charset="-122"/>
                <a:cs typeface="Yu Mincho" pitchFamily="34" charset="-120"/>
              </a:rPr>
              <a:t>売場マップの店舗別対応</a:t>
            </a:r>
            <a:endParaRPr lang="en-US" sz="950" dirty="0"/>
          </a:p>
          <a:p>
            <a:pPr indent="0" marL="0">
              <a:buNone/>
            </a:pPr>
            <a:r>
              <a:rPr lang="en-US" sz="850" dirty="0">
                <a:solidFill>
                  <a:srgbClr val="877258"/>
                </a:solidFill>
                <a:latin typeface="Segoe UI" pitchFamily="34" charset="0"/>
                <a:ea typeface="Segoe UI" pitchFamily="34" charset="-122"/>
                <a:cs typeface="Segoe UI" pitchFamily="34" charset="-120"/>
              </a:rPr>
              <a:t>Sơ đồ quầy riêng cho từng cửa hàng</a:t>
            </a:r>
            <a:endParaRPr lang="en-US" sz="950" dirty="0"/>
          </a:p>
          <a:p>
            <a:pPr indent="0" marL="0">
              <a:lnSpc>
                <a:spcPct val="120000"/>
              </a:lnSpc>
              <a:buNone/>
            </a:pPr>
            <a:endParaRPr lang="en-US" sz="950" dirty="0"/>
          </a:p>
          <a:p>
            <a:pPr indent="0" marL="0">
              <a:lnSpc>
                <a:spcPct val="120000"/>
              </a:lnSpc>
              <a:buNone/>
            </a:pPr>
            <a:r>
              <a:rPr lang="en-US" sz="950" dirty="0">
                <a:solidFill>
                  <a:srgbClr val="2A1A0E"/>
                </a:solidFill>
                <a:latin typeface="Yu Gothic" pitchFamily="34" charset="0"/>
                <a:ea typeface="Yu Gothic" pitchFamily="34" charset="-122"/>
                <a:cs typeface="Yu Gothic" pitchFamily="34" charset="-120"/>
              </a:rPr>
              <a:t>いまは代表的なレイアウトです。店舗ごとの実レイアウトを反映すると、より正確にご案内できます。</a:t>
            </a:r>
            <a:endParaRPr lang="en-US" sz="950" dirty="0"/>
          </a:p>
          <a:p>
            <a:pPr indent="0" marL="0">
              <a:lnSpc>
                <a:spcPct val="115000"/>
              </a:lnSpc>
              <a:buNone/>
            </a:pPr>
            <a:r>
              <a:rPr lang="en-US" sz="850" dirty="0">
                <a:solidFill>
                  <a:srgbClr val="877258"/>
                </a:solidFill>
                <a:latin typeface="Segoe UI" pitchFamily="34" charset="0"/>
                <a:ea typeface="Segoe UI" pitchFamily="34" charset="-122"/>
                <a:cs typeface="Segoe UI" pitchFamily="34" charset="-120"/>
              </a:rPr>
              <a:t>Hiện dùng một sơ đồ chung. Nếu áp sơ đồ thật của từng cửa hàng thì chỉ dẫn sẽ chính xác hơn.</a:t>
            </a:r>
            <a:endParaRPr lang="en-US" sz="950" dirty="0"/>
          </a:p>
        </p:txBody>
      </p:sp>
      <p:sp>
        <p:nvSpPr>
          <p:cNvPr id="14" name="Shape 12"/>
          <p:cNvSpPr/>
          <p:nvPr/>
        </p:nvSpPr>
        <p:spPr>
          <a:xfrm>
            <a:off x="566928" y="5138928"/>
            <a:ext cx="11057839" cy="841248"/>
          </a:xfrm>
          <a:prstGeom prst="rect">
            <a:avLst/>
          </a:prstGeom>
          <a:solidFill>
            <a:srgbClr val="F9F3ED"/>
          </a:solidFill>
          <a:ln w="12700">
            <a:solidFill>
              <a:srgbClr val="F9F3ED"/>
            </a:solidFill>
            <a:prstDash val="solid"/>
          </a:ln>
        </p:spPr>
      </p:sp>
      <p:sp>
        <p:nvSpPr>
          <p:cNvPr id="15" name="Shape 13"/>
          <p:cNvSpPr/>
          <p:nvPr/>
        </p:nvSpPr>
        <p:spPr>
          <a:xfrm>
            <a:off x="566928" y="5138928"/>
            <a:ext cx="41148" cy="841248"/>
          </a:xfrm>
          <a:prstGeom prst="rect">
            <a:avLst/>
          </a:prstGeom>
          <a:solidFill>
            <a:srgbClr val="B0651C"/>
          </a:solidFill>
          <a:ln w="12700">
            <a:solidFill>
              <a:srgbClr val="B0651C"/>
            </a:solidFill>
            <a:prstDash val="solid"/>
          </a:ln>
        </p:spPr>
      </p:sp>
      <p:sp>
        <p:nvSpPr>
          <p:cNvPr id="16" name="Text 14"/>
          <p:cNvSpPr/>
          <p:nvPr/>
        </p:nvSpPr>
        <p:spPr>
          <a:xfrm>
            <a:off x="731520" y="5230368"/>
            <a:ext cx="10746943" cy="658368"/>
          </a:xfrm>
          <a:prstGeom prst="rect">
            <a:avLst/>
          </a:prstGeom>
          <a:noFill/>
          <a:ln/>
        </p:spPr>
        <p:txBody>
          <a:bodyPr wrap="square" rtlCol="0" anchor="t"/>
          <a:lstStyle/>
          <a:p>
            <a:pPr indent="0" marL="0">
              <a:lnSpc>
                <a:spcPct val="120000"/>
              </a:lnSpc>
              <a:buNone/>
            </a:pPr>
            <a:r>
              <a:rPr lang="en-US" sz="1000" dirty="0">
                <a:solidFill>
                  <a:srgbClr val="2A1A0E"/>
                </a:solidFill>
                <a:latin typeface="Yu Gothic" pitchFamily="34" charset="0"/>
                <a:ea typeface="Yu Gothic" pitchFamily="34" charset="-122"/>
                <a:cs typeface="Yu Gothic" pitchFamily="34" charset="-120"/>
              </a:rPr>
              <a:t>いずれも、遠鉄ストア様の既存システムとつなぐことで解決できる内容です。ご相談のうえ、順に進めさせていただければと考えております。</a:t>
            </a:r>
            <a:endParaRPr lang="en-US" sz="1000" dirty="0"/>
          </a:p>
          <a:p>
            <a:pPr indent="0" marL="0">
              <a:lnSpc>
                <a:spcPct val="115000"/>
              </a:lnSpc>
              <a:buNone/>
            </a:pPr>
            <a:r>
              <a:rPr lang="en-US" sz="900" dirty="0">
                <a:solidFill>
                  <a:srgbClr val="877258"/>
                </a:solidFill>
                <a:latin typeface="Segoe UI" pitchFamily="34" charset="0"/>
                <a:ea typeface="Segoe UI" pitchFamily="34" charset="-122"/>
                <a:cs typeface="Segoe UI" pitchFamily="34" charset="-120"/>
              </a:rPr>
              <a:t>Tất cả đều có thể giải quyết bằng cách kết nối với hệ thống sẵn có của Entetsu Store — rất mong được trao đổi để triển khai từng bước.</a:t>
            </a:r>
            <a:endParaRPr lang="en-US" sz="1000" dirty="0"/>
          </a:p>
        </p:txBody>
      </p:sp>
      <p:sp>
        <p:nvSpPr>
          <p:cNvPr id="17" name="Text 15"/>
          <p:cNvSpPr/>
          <p:nvPr/>
        </p:nvSpPr>
        <p:spPr>
          <a:xfrm>
            <a:off x="8351215" y="6473952"/>
            <a:ext cx="3291840" cy="228600"/>
          </a:xfrm>
          <a:prstGeom prst="rect">
            <a:avLst/>
          </a:prstGeom>
          <a:noFill/>
          <a:ln/>
        </p:spPr>
        <p:txBody>
          <a:bodyPr wrap="square" rtlCol="0" anchor="ctr"/>
          <a:lstStyle/>
          <a:p>
            <a:pPr algn="r" indent="0" marL="0">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1057839" cy="256032"/>
          </a:xfrm>
          <a:prstGeom prst="rect">
            <a:avLst/>
          </a:prstGeom>
          <a:noFill/>
          <a:ln/>
        </p:spPr>
        <p:txBody>
          <a:bodyPr wrap="square" rtlCol="0" anchor="ctr"/>
          <a:lstStyle/>
          <a:p>
            <a:pPr indent="0" marL="0">
              <a:buNone/>
            </a:pPr>
            <a:r>
              <a:rPr lang="en-US" sz="1050" b="1" spc="100" kern="0" dirty="0">
                <a:solidFill>
                  <a:srgbClr val="C7273B"/>
                </a:solidFill>
                <a:latin typeface="Yu Gothic" pitchFamily="34" charset="0"/>
                <a:ea typeface="Yu Gothic" pitchFamily="34" charset="-122"/>
                <a:cs typeface="Yu Gothic" pitchFamily="34" charset="-120"/>
              </a:rPr>
              <a:t>まとめ</a:t>
            </a:r>
            <a:pPr indent="0" marL="0">
              <a:buNone/>
            </a:pPr>
            <a:r>
              <a:rPr lang="en-US" sz="1000" b="1" spc="100" kern="0" dirty="0">
                <a:solidFill>
                  <a:srgbClr val="877258"/>
                </a:solidFill>
                <a:latin typeface="Segoe UI" pitchFamily="34" charset="0"/>
                <a:ea typeface="Segoe UI" pitchFamily="34" charset="-122"/>
                <a:cs typeface="Segoe UI" pitchFamily="34" charset="-120"/>
              </a:rPr>
              <a:t>　／ TỔNG KẾT</a:t>
            </a:r>
            <a:endParaRPr lang="en-US" sz="1050" dirty="0"/>
          </a:p>
        </p:txBody>
      </p:sp>
      <p:sp>
        <p:nvSpPr>
          <p:cNvPr id="3" name="Shape 1"/>
          <p:cNvSpPr/>
          <p:nvPr/>
        </p:nvSpPr>
        <p:spPr>
          <a:xfrm>
            <a:off x="566928" y="621792"/>
            <a:ext cx="11057839" cy="0"/>
          </a:xfrm>
          <a:prstGeom prst="line">
            <a:avLst/>
          </a:prstGeom>
          <a:noFill/>
          <a:ln w="9525">
            <a:solidFill>
              <a:srgbClr val="E4D9C6"/>
            </a:solidFill>
            <a:prstDash val="solid"/>
          </a:ln>
        </p:spPr>
      </p:sp>
      <p:sp>
        <p:nvSpPr>
          <p:cNvPr id="4" name="Text 2"/>
          <p:cNvSpPr/>
          <p:nvPr/>
        </p:nvSpPr>
        <p:spPr>
          <a:xfrm>
            <a:off x="566928" y="713232"/>
            <a:ext cx="11057839" cy="502920"/>
          </a:xfrm>
          <a:prstGeom prst="rect">
            <a:avLst/>
          </a:prstGeom>
          <a:noFill/>
          <a:ln/>
        </p:spPr>
        <p:txBody>
          <a:bodyPr wrap="square" rtlCol="0" anchor="ctr"/>
          <a:lstStyle/>
          <a:p>
            <a:pPr indent="0" marL="0">
              <a:buNone/>
            </a:pPr>
            <a:r>
              <a:rPr lang="en-US" sz="2700" b="1" dirty="0">
                <a:solidFill>
                  <a:srgbClr val="331E0E"/>
                </a:solidFill>
                <a:latin typeface="Yu Mincho" pitchFamily="34" charset="0"/>
                <a:ea typeface="Yu Mincho" pitchFamily="34" charset="-122"/>
                <a:cs typeface="Yu Mincho" pitchFamily="34" charset="-120"/>
              </a:rPr>
              <a:t>検索から購入までの導線</a:t>
            </a:r>
            <a:endParaRPr lang="en-US" sz="2700" dirty="0"/>
          </a:p>
        </p:txBody>
      </p:sp>
      <p:sp>
        <p:nvSpPr>
          <p:cNvPr id="5" name="Text 3"/>
          <p:cNvSpPr/>
          <p:nvPr/>
        </p:nvSpPr>
        <p:spPr>
          <a:xfrm>
            <a:off x="566928" y="1225296"/>
            <a:ext cx="11057839" cy="274320"/>
          </a:xfrm>
          <a:prstGeom prst="rect">
            <a:avLst/>
          </a:prstGeom>
          <a:noFill/>
          <a:ln/>
        </p:spPr>
        <p:txBody>
          <a:bodyPr wrap="square" rtlCol="0" anchor="ctr"/>
          <a:lstStyle/>
          <a:p>
            <a:pPr indent="0" marL="0">
              <a:buNone/>
            </a:pPr>
            <a:r>
              <a:rPr lang="en-US" sz="1250" dirty="0">
                <a:solidFill>
                  <a:srgbClr val="877258"/>
                </a:solidFill>
                <a:latin typeface="Segoe UI" pitchFamily="34" charset="0"/>
                <a:ea typeface="Segoe UI" pitchFamily="34" charset="-122"/>
                <a:cs typeface="Segoe UI" pitchFamily="34" charset="-120"/>
              </a:rPr>
              <a:t>Luồng từ tìm kiếm đến khi mua hàng</a:t>
            </a:r>
            <a:endParaRPr lang="en-US" sz="1250" dirty="0"/>
          </a:p>
        </p:txBody>
      </p:sp>
      <p:sp>
        <p:nvSpPr>
          <p:cNvPr id="6" name="Shape 4"/>
          <p:cNvSpPr/>
          <p:nvPr/>
        </p:nvSpPr>
        <p:spPr>
          <a:xfrm>
            <a:off x="566928" y="1664208"/>
            <a:ext cx="2545004" cy="1572768"/>
          </a:xfrm>
          <a:prstGeom prst="rect">
            <a:avLst/>
          </a:prstGeom>
          <a:solidFill>
            <a:srgbClr val="FFFFFF"/>
          </a:solidFill>
          <a:ln w="9525">
            <a:solidFill>
              <a:srgbClr val="E4D9C6"/>
            </a:solidFill>
            <a:prstDash val="solid"/>
          </a:ln>
        </p:spPr>
      </p:sp>
      <p:sp>
        <p:nvSpPr>
          <p:cNvPr id="7" name="Text 5"/>
          <p:cNvSpPr/>
          <p:nvPr/>
        </p:nvSpPr>
        <p:spPr>
          <a:xfrm>
            <a:off x="704088" y="1773936"/>
            <a:ext cx="2270684" cy="1353312"/>
          </a:xfrm>
          <a:prstGeom prst="rect">
            <a:avLst/>
          </a:prstGeom>
          <a:noFill/>
          <a:ln/>
        </p:spPr>
        <p:txBody>
          <a:bodyPr wrap="square" rtlCol="0" anchor="t"/>
          <a:lstStyle/>
          <a:p>
            <a:pPr indent="0" marL="0">
              <a:buNone/>
            </a:pPr>
            <a:r>
              <a:rPr lang="en-US" sz="950" b="1" dirty="0">
                <a:solidFill>
                  <a:srgbClr val="C7273B"/>
                </a:solidFill>
                <a:latin typeface="Yu Mincho" pitchFamily="34" charset="0"/>
                <a:ea typeface="Yu Mincho" pitchFamily="34" charset="-122"/>
                <a:cs typeface="Yu Mincho" pitchFamily="34" charset="-120"/>
              </a:rPr>
              <a:t>① 探す</a:t>
            </a:r>
            <a:endParaRPr lang="en-US" sz="950" dirty="0"/>
          </a:p>
          <a:p>
            <a:pPr indent="0" marL="0">
              <a:buNone/>
            </a:pPr>
            <a:r>
              <a:rPr lang="en-US" sz="1250" b="1" dirty="0">
                <a:solidFill>
                  <a:srgbClr val="331E0E"/>
                </a:solidFill>
                <a:latin typeface="Yu Mincho" pitchFamily="34" charset="0"/>
                <a:ea typeface="Yu Mincho" pitchFamily="34" charset="-122"/>
                <a:cs typeface="Yu Mincho" pitchFamily="34" charset="-120"/>
              </a:rPr>
              <a:t>なんでも検索</a:t>
            </a:r>
            <a:endParaRPr lang="en-US" sz="950" dirty="0"/>
          </a:p>
          <a:p>
            <a:pPr indent="0" marL="0">
              <a:lnSpc>
                <a:spcPct val="115000"/>
              </a:lnSpc>
              <a:buNone/>
            </a:pPr>
            <a:endParaRPr lang="en-US" sz="950" dirty="0"/>
          </a:p>
          <a:p>
            <a:pPr indent="0" marL="0">
              <a:lnSpc>
                <a:spcPct val="115000"/>
              </a:lnSpc>
              <a:buNone/>
            </a:pPr>
            <a:r>
              <a:rPr lang="en-US" sz="900" dirty="0">
                <a:solidFill>
                  <a:srgbClr val="2A1A0E"/>
                </a:solidFill>
                <a:latin typeface="Yu Gothic" pitchFamily="34" charset="0"/>
                <a:ea typeface="Yu Gothic" pitchFamily="34" charset="-122"/>
                <a:cs typeface="Yu Gothic" pitchFamily="34" charset="-120"/>
              </a:rPr>
              <a:t>商品・レシピ・特売・記事・店舗を横断。予算や外国語でも。</a:t>
            </a:r>
            <a:endParaRPr lang="en-US" sz="950" dirty="0"/>
          </a:p>
          <a:p>
            <a:pPr indent="0" marL="0">
              <a:lnSpc>
                <a:spcPct val="110000"/>
              </a:lnSpc>
              <a:buNone/>
            </a:pPr>
            <a:r>
              <a:rPr lang="en-US" sz="800" dirty="0">
                <a:solidFill>
                  <a:srgbClr val="877258"/>
                </a:solidFill>
                <a:latin typeface="Segoe UI" pitchFamily="34" charset="0"/>
                <a:ea typeface="Segoe UI" pitchFamily="34" charset="-122"/>
                <a:cs typeface="Segoe UI" pitchFamily="34" charset="-120"/>
              </a:rPr>
              <a:t>Tìm xuyên suốt sản phẩm, công thức, khuyến mãi, bài viết, cửa hàng.</a:t>
            </a:r>
            <a:endParaRPr lang="en-US" sz="950" dirty="0"/>
          </a:p>
        </p:txBody>
      </p:sp>
      <p:sp>
        <p:nvSpPr>
          <p:cNvPr id="8" name="Text 6"/>
          <p:cNvSpPr/>
          <p:nvPr/>
        </p:nvSpPr>
        <p:spPr>
          <a:xfrm>
            <a:off x="3111932" y="2194560"/>
            <a:ext cx="292608" cy="365760"/>
          </a:xfrm>
          <a:prstGeom prst="rect">
            <a:avLst/>
          </a:prstGeom>
          <a:noFill/>
          <a:ln/>
        </p:spPr>
        <p:txBody>
          <a:bodyPr wrap="square" rtlCol="0" anchor="ctr"/>
          <a:lstStyle/>
          <a:p>
            <a:pPr algn="ctr" indent="0" marL="0">
              <a:buNone/>
            </a:pPr>
            <a:r>
              <a:rPr lang="en-US" sz="1800" dirty="0">
                <a:solidFill>
                  <a:srgbClr val="C7273B"/>
                </a:solidFill>
                <a:latin typeface="Yu Gothic" pitchFamily="34" charset="0"/>
                <a:ea typeface="Yu Gothic" pitchFamily="34" charset="-122"/>
                <a:cs typeface="Yu Gothic" pitchFamily="34" charset="-120"/>
              </a:rPr>
              <a:t>›</a:t>
            </a:r>
            <a:endParaRPr lang="en-US" sz="1800" dirty="0"/>
          </a:p>
        </p:txBody>
      </p:sp>
      <p:sp>
        <p:nvSpPr>
          <p:cNvPr id="9" name="Shape 7"/>
          <p:cNvSpPr/>
          <p:nvPr/>
        </p:nvSpPr>
        <p:spPr>
          <a:xfrm>
            <a:off x="3404540" y="1664208"/>
            <a:ext cx="2545004" cy="1572768"/>
          </a:xfrm>
          <a:prstGeom prst="rect">
            <a:avLst/>
          </a:prstGeom>
          <a:solidFill>
            <a:srgbClr val="FFFFFF"/>
          </a:solidFill>
          <a:ln w="9525">
            <a:solidFill>
              <a:srgbClr val="E4D9C6"/>
            </a:solidFill>
            <a:prstDash val="solid"/>
          </a:ln>
        </p:spPr>
      </p:sp>
      <p:sp>
        <p:nvSpPr>
          <p:cNvPr id="10" name="Text 8"/>
          <p:cNvSpPr/>
          <p:nvPr/>
        </p:nvSpPr>
        <p:spPr>
          <a:xfrm>
            <a:off x="3541700" y="1773936"/>
            <a:ext cx="2270684" cy="1353312"/>
          </a:xfrm>
          <a:prstGeom prst="rect">
            <a:avLst/>
          </a:prstGeom>
          <a:noFill/>
          <a:ln/>
        </p:spPr>
        <p:txBody>
          <a:bodyPr wrap="square" rtlCol="0" anchor="t"/>
          <a:lstStyle/>
          <a:p>
            <a:pPr indent="0" marL="0">
              <a:buNone/>
            </a:pPr>
            <a:r>
              <a:rPr lang="en-US" sz="950" b="1" dirty="0">
                <a:solidFill>
                  <a:srgbClr val="C7273B"/>
                </a:solidFill>
                <a:latin typeface="Yu Mincho" pitchFamily="34" charset="0"/>
                <a:ea typeface="Yu Mincho" pitchFamily="34" charset="-122"/>
                <a:cs typeface="Yu Mincho" pitchFamily="34" charset="-120"/>
              </a:rPr>
              <a:t>② 確かめる</a:t>
            </a:r>
            <a:endParaRPr lang="en-US" sz="950" dirty="0"/>
          </a:p>
          <a:p>
            <a:pPr indent="0" marL="0">
              <a:buNone/>
            </a:pPr>
            <a:r>
              <a:rPr lang="en-US" sz="1250" b="1" dirty="0">
                <a:solidFill>
                  <a:srgbClr val="331E0E"/>
                </a:solidFill>
                <a:latin typeface="Yu Mincho" pitchFamily="34" charset="0"/>
                <a:ea typeface="Yu Mincho" pitchFamily="34" charset="-122"/>
                <a:cs typeface="Yu Mincho" pitchFamily="34" charset="-120"/>
              </a:rPr>
              <a:t>サイトの情報 ＋ チャットボット</a:t>
            </a:r>
            <a:endParaRPr lang="en-US" sz="950" dirty="0"/>
          </a:p>
          <a:p>
            <a:pPr indent="0" marL="0">
              <a:lnSpc>
                <a:spcPct val="115000"/>
              </a:lnSpc>
              <a:buNone/>
            </a:pPr>
            <a:endParaRPr lang="en-US" sz="950" dirty="0"/>
          </a:p>
          <a:p>
            <a:pPr indent="0" marL="0">
              <a:lnSpc>
                <a:spcPct val="115000"/>
              </a:lnSpc>
              <a:buNone/>
            </a:pPr>
            <a:r>
              <a:rPr lang="en-US" sz="900" dirty="0">
                <a:solidFill>
                  <a:srgbClr val="2A1A0E"/>
                </a:solidFill>
                <a:latin typeface="Yu Gothic" pitchFamily="34" charset="0"/>
                <a:ea typeface="Yu Gothic" pitchFamily="34" charset="-122"/>
                <a:cs typeface="Yu Gothic" pitchFamily="34" charset="-120"/>
              </a:rPr>
              <a:t>価格・売場・期限・店舗を、その場で確認できる。</a:t>
            </a:r>
            <a:endParaRPr lang="en-US" sz="950" dirty="0"/>
          </a:p>
          <a:p>
            <a:pPr indent="0" marL="0">
              <a:lnSpc>
                <a:spcPct val="110000"/>
              </a:lnSpc>
              <a:buNone/>
            </a:pPr>
            <a:r>
              <a:rPr lang="en-US" sz="800" dirty="0">
                <a:solidFill>
                  <a:srgbClr val="877258"/>
                </a:solidFill>
                <a:latin typeface="Segoe UI" pitchFamily="34" charset="0"/>
                <a:ea typeface="Segoe UI" pitchFamily="34" charset="-122"/>
                <a:cs typeface="Segoe UI" pitchFamily="34" charset="-120"/>
              </a:rPr>
              <a:t>Thông tin trên web và trợ lý hỏi đáp cùng làm rõ giá, quầy, hạn, cửa hàng.</a:t>
            </a:r>
            <a:endParaRPr lang="en-US" sz="950" dirty="0"/>
          </a:p>
        </p:txBody>
      </p:sp>
      <p:sp>
        <p:nvSpPr>
          <p:cNvPr id="11" name="Text 9"/>
          <p:cNvSpPr/>
          <p:nvPr/>
        </p:nvSpPr>
        <p:spPr>
          <a:xfrm>
            <a:off x="5949544" y="2194560"/>
            <a:ext cx="292608" cy="365760"/>
          </a:xfrm>
          <a:prstGeom prst="rect">
            <a:avLst/>
          </a:prstGeom>
          <a:noFill/>
          <a:ln/>
        </p:spPr>
        <p:txBody>
          <a:bodyPr wrap="square" rtlCol="0" anchor="ctr"/>
          <a:lstStyle/>
          <a:p>
            <a:pPr algn="ctr" indent="0" marL="0">
              <a:buNone/>
            </a:pPr>
            <a:r>
              <a:rPr lang="en-US" sz="1800" dirty="0">
                <a:solidFill>
                  <a:srgbClr val="C7273B"/>
                </a:solidFill>
                <a:latin typeface="Yu Gothic" pitchFamily="34" charset="0"/>
                <a:ea typeface="Yu Gothic" pitchFamily="34" charset="-122"/>
                <a:cs typeface="Yu Gothic" pitchFamily="34" charset="-120"/>
              </a:rPr>
              <a:t>›</a:t>
            </a:r>
            <a:endParaRPr lang="en-US" sz="1800" dirty="0"/>
          </a:p>
        </p:txBody>
      </p:sp>
      <p:sp>
        <p:nvSpPr>
          <p:cNvPr id="12" name="Shape 10"/>
          <p:cNvSpPr/>
          <p:nvPr/>
        </p:nvSpPr>
        <p:spPr>
          <a:xfrm>
            <a:off x="6242152" y="1664208"/>
            <a:ext cx="2545004" cy="1572768"/>
          </a:xfrm>
          <a:prstGeom prst="rect">
            <a:avLst/>
          </a:prstGeom>
          <a:solidFill>
            <a:srgbClr val="FFFFFF"/>
          </a:solidFill>
          <a:ln w="9525">
            <a:solidFill>
              <a:srgbClr val="E4D9C6"/>
            </a:solidFill>
            <a:prstDash val="solid"/>
          </a:ln>
        </p:spPr>
      </p:sp>
      <p:sp>
        <p:nvSpPr>
          <p:cNvPr id="13" name="Text 11"/>
          <p:cNvSpPr/>
          <p:nvPr/>
        </p:nvSpPr>
        <p:spPr>
          <a:xfrm>
            <a:off x="6379312" y="1773936"/>
            <a:ext cx="2270684" cy="1353312"/>
          </a:xfrm>
          <a:prstGeom prst="rect">
            <a:avLst/>
          </a:prstGeom>
          <a:noFill/>
          <a:ln/>
        </p:spPr>
        <p:txBody>
          <a:bodyPr wrap="square" rtlCol="0" anchor="t"/>
          <a:lstStyle/>
          <a:p>
            <a:pPr indent="0" marL="0">
              <a:buNone/>
            </a:pPr>
            <a:r>
              <a:rPr lang="en-US" sz="950" b="1" dirty="0">
                <a:solidFill>
                  <a:srgbClr val="C7273B"/>
                </a:solidFill>
                <a:latin typeface="Yu Mincho" pitchFamily="34" charset="0"/>
                <a:ea typeface="Yu Mincho" pitchFamily="34" charset="-122"/>
                <a:cs typeface="Yu Mincho" pitchFamily="34" charset="-120"/>
              </a:rPr>
              <a:t>③ 選ぶ</a:t>
            </a:r>
            <a:endParaRPr lang="en-US" sz="950" dirty="0"/>
          </a:p>
          <a:p>
            <a:pPr indent="0" marL="0">
              <a:buNone/>
            </a:pPr>
            <a:r>
              <a:rPr lang="en-US" sz="1250" b="1" dirty="0">
                <a:solidFill>
                  <a:srgbClr val="331E0E"/>
                </a:solidFill>
                <a:latin typeface="Yu Mincho" pitchFamily="34" charset="0"/>
                <a:ea typeface="Yu Mincho" pitchFamily="34" charset="-122"/>
                <a:cs typeface="Yu Mincho" pitchFamily="34" charset="-120"/>
              </a:rPr>
              <a:t>買い物リスト ／ カート</a:t>
            </a:r>
            <a:endParaRPr lang="en-US" sz="950" dirty="0"/>
          </a:p>
          <a:p>
            <a:pPr indent="0" marL="0">
              <a:lnSpc>
                <a:spcPct val="115000"/>
              </a:lnSpc>
              <a:buNone/>
            </a:pPr>
            <a:endParaRPr lang="en-US" sz="950" dirty="0"/>
          </a:p>
          <a:p>
            <a:pPr indent="0" marL="0">
              <a:lnSpc>
                <a:spcPct val="115000"/>
              </a:lnSpc>
              <a:buNone/>
            </a:pPr>
            <a:r>
              <a:rPr lang="en-US" sz="900" dirty="0">
                <a:solidFill>
                  <a:srgbClr val="2A1A0E"/>
                </a:solidFill>
                <a:latin typeface="Yu Gothic" pitchFamily="34" charset="0"/>
                <a:ea typeface="Yu Gothic" pitchFamily="34" charset="-122"/>
                <a:cs typeface="Yu Gothic" pitchFamily="34" charset="-120"/>
              </a:rPr>
              <a:t>お店で買うなら売場順に。ネットで買うならカートへ。</a:t>
            </a:r>
            <a:endParaRPr lang="en-US" sz="950" dirty="0"/>
          </a:p>
          <a:p>
            <a:pPr indent="0" marL="0">
              <a:lnSpc>
                <a:spcPct val="110000"/>
              </a:lnSpc>
              <a:buNone/>
            </a:pPr>
            <a:r>
              <a:rPr lang="en-US" sz="800" dirty="0">
                <a:solidFill>
                  <a:srgbClr val="877258"/>
                </a:solidFill>
                <a:latin typeface="Segoe UI" pitchFamily="34" charset="0"/>
                <a:ea typeface="Segoe UI" pitchFamily="34" charset="-122"/>
                <a:cs typeface="Segoe UI" pitchFamily="34" charset="-120"/>
              </a:rPr>
              <a:t>Mua tại siêu thị thì xếp theo quầy; mua online thì bỏ vào giỏ.</a:t>
            </a:r>
            <a:endParaRPr lang="en-US" sz="950" dirty="0"/>
          </a:p>
        </p:txBody>
      </p:sp>
      <p:sp>
        <p:nvSpPr>
          <p:cNvPr id="14" name="Text 12"/>
          <p:cNvSpPr/>
          <p:nvPr/>
        </p:nvSpPr>
        <p:spPr>
          <a:xfrm>
            <a:off x="8787155" y="2194560"/>
            <a:ext cx="292608" cy="365760"/>
          </a:xfrm>
          <a:prstGeom prst="rect">
            <a:avLst/>
          </a:prstGeom>
          <a:noFill/>
          <a:ln/>
        </p:spPr>
        <p:txBody>
          <a:bodyPr wrap="square" rtlCol="0" anchor="ctr"/>
          <a:lstStyle/>
          <a:p>
            <a:pPr algn="ctr" indent="0" marL="0">
              <a:buNone/>
            </a:pPr>
            <a:r>
              <a:rPr lang="en-US" sz="1800" dirty="0">
                <a:solidFill>
                  <a:srgbClr val="C7273B"/>
                </a:solidFill>
                <a:latin typeface="Yu Gothic" pitchFamily="34" charset="0"/>
                <a:ea typeface="Yu Gothic" pitchFamily="34" charset="-122"/>
                <a:cs typeface="Yu Gothic" pitchFamily="34" charset="-120"/>
              </a:rPr>
              <a:t>›</a:t>
            </a:r>
            <a:endParaRPr lang="en-US" sz="1800" dirty="0"/>
          </a:p>
        </p:txBody>
      </p:sp>
      <p:sp>
        <p:nvSpPr>
          <p:cNvPr id="15" name="Shape 13"/>
          <p:cNvSpPr/>
          <p:nvPr/>
        </p:nvSpPr>
        <p:spPr>
          <a:xfrm>
            <a:off x="9079763" y="1664208"/>
            <a:ext cx="2545004" cy="1572768"/>
          </a:xfrm>
          <a:prstGeom prst="rect">
            <a:avLst/>
          </a:prstGeom>
          <a:solidFill>
            <a:srgbClr val="FBF0F1"/>
          </a:solidFill>
          <a:ln w="9525">
            <a:solidFill>
              <a:srgbClr val="C7273B"/>
            </a:solidFill>
            <a:prstDash val="solid"/>
          </a:ln>
        </p:spPr>
      </p:sp>
      <p:sp>
        <p:nvSpPr>
          <p:cNvPr id="16" name="Text 14"/>
          <p:cNvSpPr/>
          <p:nvPr/>
        </p:nvSpPr>
        <p:spPr>
          <a:xfrm>
            <a:off x="9216923" y="1773936"/>
            <a:ext cx="2270684" cy="1353312"/>
          </a:xfrm>
          <a:prstGeom prst="rect">
            <a:avLst/>
          </a:prstGeom>
          <a:noFill/>
          <a:ln/>
        </p:spPr>
        <p:txBody>
          <a:bodyPr wrap="square" rtlCol="0" anchor="t"/>
          <a:lstStyle/>
          <a:p>
            <a:pPr indent="0" marL="0">
              <a:buNone/>
            </a:pPr>
            <a:r>
              <a:rPr lang="en-US" sz="950" b="1" dirty="0">
                <a:solidFill>
                  <a:srgbClr val="C7273B"/>
                </a:solidFill>
                <a:latin typeface="Yu Mincho" pitchFamily="34" charset="0"/>
                <a:ea typeface="Yu Mincho" pitchFamily="34" charset="-122"/>
                <a:cs typeface="Yu Mincho" pitchFamily="34" charset="-120"/>
              </a:rPr>
              <a:t>④ 買う</a:t>
            </a:r>
            <a:endParaRPr lang="en-US" sz="950" dirty="0"/>
          </a:p>
          <a:p>
            <a:pPr indent="0" marL="0">
              <a:buNone/>
            </a:pPr>
            <a:r>
              <a:rPr lang="en-US" sz="1250" b="1" dirty="0">
                <a:solidFill>
                  <a:srgbClr val="331E0E"/>
                </a:solidFill>
                <a:latin typeface="Yu Mincho" pitchFamily="34" charset="0"/>
                <a:ea typeface="Yu Mincho" pitchFamily="34" charset="-122"/>
                <a:cs typeface="Yu Mincho" pitchFamily="34" charset="-120"/>
              </a:rPr>
              <a:t>既存のネット通販へ</a:t>
            </a:r>
            <a:endParaRPr lang="en-US" sz="950" dirty="0"/>
          </a:p>
          <a:p>
            <a:pPr indent="0" marL="0">
              <a:lnSpc>
                <a:spcPct val="115000"/>
              </a:lnSpc>
              <a:buNone/>
            </a:pPr>
            <a:endParaRPr lang="en-US" sz="950" dirty="0"/>
          </a:p>
          <a:p>
            <a:pPr indent="0" marL="0">
              <a:lnSpc>
                <a:spcPct val="115000"/>
              </a:lnSpc>
              <a:buNone/>
            </a:pPr>
            <a:r>
              <a:rPr lang="en-US" sz="900" dirty="0">
                <a:solidFill>
                  <a:srgbClr val="2A1A0E"/>
                </a:solidFill>
                <a:latin typeface="Yu Gothic" pitchFamily="34" charset="0"/>
                <a:ea typeface="Yu Gothic" pitchFamily="34" charset="-122"/>
                <a:cs typeface="Yu Gothic" pitchFamily="34" charset="-120"/>
              </a:rPr>
              <a:t>shop.entstore.co.jp に引き継ぎ、作り直さない。</a:t>
            </a:r>
            <a:endParaRPr lang="en-US" sz="950" dirty="0"/>
          </a:p>
          <a:p>
            <a:pPr indent="0" marL="0">
              <a:lnSpc>
                <a:spcPct val="110000"/>
              </a:lnSpc>
              <a:buNone/>
            </a:pPr>
            <a:r>
              <a:rPr lang="en-US" sz="800" dirty="0">
                <a:solidFill>
                  <a:srgbClr val="877258"/>
                </a:solidFill>
                <a:latin typeface="Segoe UI" pitchFamily="34" charset="0"/>
                <a:ea typeface="Segoe UI" pitchFamily="34" charset="-122"/>
                <a:cs typeface="Segoe UI" pitchFamily="34" charset="-120"/>
              </a:rPr>
              <a:t>Chuyển sang trang EC sẵn có — không làm lại phần đã có.</a:t>
            </a:r>
            <a:endParaRPr lang="en-US" sz="950" dirty="0"/>
          </a:p>
        </p:txBody>
      </p:sp>
      <p:sp>
        <p:nvSpPr>
          <p:cNvPr id="17" name="Shape 15"/>
          <p:cNvSpPr/>
          <p:nvPr/>
        </p:nvSpPr>
        <p:spPr>
          <a:xfrm>
            <a:off x="566928" y="3456432"/>
            <a:ext cx="11057839" cy="1371600"/>
          </a:xfrm>
          <a:prstGeom prst="rect">
            <a:avLst/>
          </a:prstGeom>
          <a:solidFill>
            <a:srgbClr val="FBF7F0"/>
          </a:solidFill>
          <a:ln w="9525">
            <a:solidFill>
              <a:srgbClr val="E4D9C6"/>
            </a:solidFill>
            <a:prstDash val="solid"/>
          </a:ln>
        </p:spPr>
      </p:sp>
      <p:sp>
        <p:nvSpPr>
          <p:cNvPr id="18" name="Shape 16"/>
          <p:cNvSpPr/>
          <p:nvPr/>
        </p:nvSpPr>
        <p:spPr>
          <a:xfrm>
            <a:off x="566928" y="3456432"/>
            <a:ext cx="45720" cy="1371600"/>
          </a:xfrm>
          <a:prstGeom prst="rect">
            <a:avLst/>
          </a:prstGeom>
          <a:solidFill>
            <a:srgbClr val="C7273B"/>
          </a:solidFill>
          <a:ln w="12700">
            <a:solidFill>
              <a:srgbClr val="C7273B"/>
            </a:solidFill>
            <a:prstDash val="solid"/>
          </a:ln>
        </p:spPr>
      </p:sp>
      <p:sp>
        <p:nvSpPr>
          <p:cNvPr id="19" name="Text 17"/>
          <p:cNvSpPr/>
          <p:nvPr/>
        </p:nvSpPr>
        <p:spPr>
          <a:xfrm>
            <a:off x="768096" y="3566160"/>
            <a:ext cx="10655503" cy="1170432"/>
          </a:xfrm>
          <a:prstGeom prst="rect">
            <a:avLst/>
          </a:prstGeom>
          <a:noFill/>
          <a:ln/>
        </p:spPr>
        <p:txBody>
          <a:bodyPr wrap="square" rtlCol="0" anchor="t"/>
          <a:lstStyle/>
          <a:p>
            <a:pPr indent="0" marL="0">
              <a:lnSpc>
                <a:spcPct val="125000"/>
              </a:lnSpc>
              <a:buNone/>
            </a:pPr>
            <a:r>
              <a:rPr lang="en-US" sz="1050" dirty="0">
                <a:solidFill>
                  <a:srgbClr val="2A1A0E"/>
                </a:solidFill>
                <a:latin typeface="Yu Gothic" pitchFamily="34" charset="0"/>
                <a:ea typeface="Yu Gothic" pitchFamily="34" charset="-122"/>
                <a:cs typeface="Yu Gothic" pitchFamily="34" charset="-120"/>
              </a:rPr>
              <a:t>本提案の内容は、主にインターネットで調べた情報をもとにまとめたものです。実際の店舗業務を経験したうえでの提案ではないため、事実と異なる点があるかもしれません。お気づきの点がございましたら、ご指摘・ご助言をいただけますと幸いです。</a:t>
            </a:r>
            <a:endParaRPr lang="en-US" sz="1050" dirty="0"/>
          </a:p>
          <a:p>
            <a:pPr indent="0" marL="0">
              <a:lnSpc>
                <a:spcPct val="120000"/>
              </a:lnSpc>
              <a:buNone/>
            </a:pPr>
            <a:endParaRPr lang="en-US" sz="1050" dirty="0"/>
          </a:p>
          <a:p>
            <a:pPr indent="0" marL="0">
              <a:lnSpc>
                <a:spcPct val="120000"/>
              </a:lnSpc>
              <a:buNone/>
            </a:pPr>
            <a:r>
              <a:rPr lang="en-US" sz="950" dirty="0">
                <a:solidFill>
                  <a:srgbClr val="877258"/>
                </a:solidFill>
                <a:latin typeface="Segoe UI" pitchFamily="34" charset="0"/>
                <a:ea typeface="Segoe UI" pitchFamily="34" charset="-122"/>
                <a:cs typeface="Segoe UI" pitchFamily="34" charset="-120"/>
              </a:rPr>
              <a:t>Bởi vì nội dung thử thách đa số được em tìm hiểu, tham khảo trên mạng, và cũng chưa được trải nghiệm thực tế, vì vậy nếu có sai lệch gì mong mọi người bỏ qua và góp ý để ý tưởng của em được hoàn thiện hơn ạ!</a:t>
            </a:r>
            <a:endParaRPr lang="en-US" sz="1050" dirty="0"/>
          </a:p>
        </p:txBody>
      </p:sp>
      <p:sp>
        <p:nvSpPr>
          <p:cNvPr id="20" name="Shape 18"/>
          <p:cNvSpPr/>
          <p:nvPr/>
        </p:nvSpPr>
        <p:spPr>
          <a:xfrm>
            <a:off x="566928" y="5102352"/>
            <a:ext cx="11057839" cy="0"/>
          </a:xfrm>
          <a:prstGeom prst="line">
            <a:avLst/>
          </a:prstGeom>
          <a:noFill/>
          <a:ln w="9525">
            <a:solidFill>
              <a:srgbClr val="E4D9C6"/>
            </a:solidFill>
            <a:prstDash val="solid"/>
          </a:ln>
        </p:spPr>
      </p:sp>
      <p:sp>
        <p:nvSpPr>
          <p:cNvPr id="21" name="Text 19"/>
          <p:cNvSpPr/>
          <p:nvPr/>
        </p:nvSpPr>
        <p:spPr>
          <a:xfrm>
            <a:off x="566928" y="5212080"/>
            <a:ext cx="11057839" cy="731520"/>
          </a:xfrm>
          <a:prstGeom prst="rect">
            <a:avLst/>
          </a:prstGeom>
          <a:noFill/>
          <a:ln/>
        </p:spPr>
        <p:txBody>
          <a:bodyPr wrap="square" rtlCol="0" anchor="t"/>
          <a:lstStyle/>
          <a:p>
            <a:pPr indent="0" marL="0">
              <a:buNone/>
            </a:pPr>
            <a:r>
              <a:rPr lang="en-US" sz="1500" b="1" dirty="0">
                <a:solidFill>
                  <a:srgbClr val="331E0E"/>
                </a:solidFill>
                <a:latin typeface="Yu Mincho" pitchFamily="34" charset="0"/>
                <a:ea typeface="Yu Mincho" pitchFamily="34" charset="-122"/>
                <a:cs typeface="Yu Mincho" pitchFamily="34" charset="-120"/>
              </a:rPr>
              <a:t>ご清聴ありがとうございました。</a:t>
            </a:r>
            <a:pPr indent="0" marL="0">
              <a:buNone/>
            </a:pPr>
            <a:r>
              <a:rPr lang="en-US" sz="1300" dirty="0">
                <a:solidFill>
                  <a:srgbClr val="2A1A0E"/>
                </a:solidFill>
                <a:latin typeface="Yu Gothic" pitchFamily="34" charset="0"/>
                <a:ea typeface="Yu Gothic" pitchFamily="34" charset="-122"/>
                <a:cs typeface="Yu Gothic" pitchFamily="34" charset="-120"/>
              </a:rPr>
              <a:t>ご質問をお受けいたします。</a:t>
            </a:r>
            <a:endParaRPr lang="en-US" sz="1500" dirty="0"/>
          </a:p>
          <a:p>
            <a:pPr indent="0" marL="0">
              <a:buNone/>
            </a:pPr>
            <a:r>
              <a:rPr lang="en-US" sz="1100" dirty="0">
                <a:solidFill>
                  <a:srgbClr val="877258"/>
                </a:solidFill>
                <a:latin typeface="Segoe UI" pitchFamily="34" charset="0"/>
                <a:ea typeface="Segoe UI" pitchFamily="34" charset="-122"/>
                <a:cs typeface="Segoe UI" pitchFamily="34" charset="-120"/>
              </a:rPr>
              <a:t>Cảm ơn quý vị đã lắng nghe — rất mong nhận được câu hỏi và góp ý.</a:t>
            </a:r>
            <a:endParaRPr lang="en-US" sz="1500" dirty="0"/>
          </a:p>
        </p:txBody>
      </p:sp>
      <p:sp>
        <p:nvSpPr>
          <p:cNvPr id="22" name="Text 20"/>
          <p:cNvSpPr/>
          <p:nvPr/>
        </p:nvSpPr>
        <p:spPr>
          <a:xfrm>
            <a:off x="8351215" y="6473952"/>
            <a:ext cx="3291840" cy="228600"/>
          </a:xfrm>
          <a:prstGeom prst="rect">
            <a:avLst/>
          </a:prstGeom>
          <a:noFill/>
          <a:ln/>
        </p:spPr>
        <p:txBody>
          <a:bodyPr wrap="square" rtlCol="0" anchor="ctr"/>
          <a:lstStyle/>
          <a:p>
            <a:pPr algn="r" indent="0" marL="0">
              <a:buNone/>
            </a:pPr>
            <a:r>
              <a:rPr 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遠鉄ストア</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Entstore Smart Search 提案</dc:title>
  <dc:subject>PptxGenJS Presentation</dc:subject>
  <dc:creator>EVN (Entetsu Vietnam)</dc:creator>
  <cp:lastModifiedBy>EVN (Entetsu Vietnam)</cp:lastModifiedBy>
  <cp:revision>1</cp:revision>
  <dcterms:created xsi:type="dcterms:W3CDTF">2026-09-16T07:35:45Z</dcterms:created>
  <dcterms:modified xsi:type="dcterms:W3CDTF">2026-09-16T07:35:45Z</dcterms:modified>
</cp:coreProperties>
</file>