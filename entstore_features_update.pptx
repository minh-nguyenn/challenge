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entstore-v2-demo.onrender.com/" TargetMode="External"/><Relationship Id="rId2" Type="http://schemas.openxmlformats.org/officeDocument/2006/relationships/image" Target="../media/image-5-1.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7273B"/>
          </a:solidFill>
          <a:ln w="12700">
            <a:solidFill>
              <a:srgbClr val="C7273B"/>
            </a:solidFill>
            <a:prstDash val="solid"/>
          </a:ln>
        </p:spPr>
      </p:sp>
      <p:sp>
        <p:nvSpPr>
          <p:cNvPr id="3" name="Shape 1"/>
          <p:cNvSpPr/>
          <p:nvPr/>
        </p:nvSpPr>
        <p:spPr>
          <a:xfrm>
            <a:off x="566928" y="1389888"/>
            <a:ext cx="457200" cy="54864"/>
          </a:xfrm>
          <a:prstGeom prst="rect">
            <a:avLst/>
          </a:prstGeom>
          <a:solidFill>
            <a:srgbClr val="C7273B"/>
          </a:solidFill>
          <a:ln w="12700">
            <a:solidFill>
              <a:srgbClr val="C7273B"/>
            </a:solidFill>
            <a:prstDash val="solid"/>
          </a:ln>
        </p:spPr>
      </p:sp>
      <p:sp>
        <p:nvSpPr>
          <p:cNvPr id="4" name="Text 2"/>
          <p:cNvSpPr/>
          <p:nvPr/>
        </p:nvSpPr>
        <p:spPr>
          <a:xfrm>
            <a:off x="1207008" y="1261872"/>
            <a:ext cx="4389120" cy="310896"/>
          </a:xfrm>
          <a:prstGeom prst="rect">
            <a:avLst/>
          </a:prstGeom>
          <a:noFill/>
          <a:ln/>
        </p:spPr>
        <p:txBody>
          <a:bodyPr wrap="square" rtlCol="0" anchor="ctr"/>
          <a:lstStyle/>
          <a:p>
            <a:pPr eaLnBrk="1" latinLnBrk="0" hangingPunct="1" indent="0" marL="0">
              <a:buNone/>
            </a:pPr>
            <a:r>
              <a:rPr lang="ja-JP" altLang="en-US" sz="1200" b="1" spc="300" kern="0" dirty="0">
                <a:solidFill>
                  <a:srgbClr val="C7273B"/>
                </a:solidFill>
                <a:latin typeface="Yu Gothic" pitchFamily="34" charset="0"/>
                <a:ea typeface="Yu Gothic" pitchFamily="34" charset="-122"/>
                <a:cs typeface="Yu Gothic" pitchFamily="34" charset="-120"/>
              </a:rPr>
              <a:t>遠鉄ストア　ENTETSU STORE</a:t>
            </a:r>
            <a:endParaRPr lang="en-US" sz="1200" dirty="0"/>
          </a:p>
        </p:txBody>
      </p:sp>
      <p:sp>
        <p:nvSpPr>
          <p:cNvPr id="5" name="Text 3"/>
          <p:cNvSpPr/>
          <p:nvPr/>
        </p:nvSpPr>
        <p:spPr>
          <a:xfrm>
            <a:off x="566928" y="1737360"/>
            <a:ext cx="4937760" cy="1737360"/>
          </a:xfrm>
          <a:prstGeom prst="rect">
            <a:avLst/>
          </a:prstGeom>
          <a:noFill/>
          <a:ln/>
        </p:spPr>
        <p:txBody>
          <a:bodyPr wrap="square" rtlCol="0" anchor="t"/>
          <a:lstStyle/>
          <a:p>
            <a:pPr eaLnBrk="1" latinLnBrk="0" hangingPunct="1" indent="0" marL="0">
              <a:lnSpc>
                <a:spcPct val="95000"/>
              </a:lnSpc>
              <a:buNone/>
            </a:pPr>
            <a:r>
              <a:rPr lang="en-US" sz="4600" dirty="0">
                <a:solidFill>
                  <a:srgbClr val="331E0E"/>
                </a:solidFill>
                <a:latin typeface="Yu Mincho" pitchFamily="34" charset="0"/>
                <a:ea typeface="Yu Mincho" pitchFamily="34" charset="-122"/>
                <a:cs typeface="Yu Mincho" pitchFamily="34" charset="-120"/>
              </a:rPr>
              <a:t>Entstore</a:t>
            </a:r>
            <a:endParaRPr lang="en-US" sz="4600" dirty="0"/>
          </a:p>
          <a:p>
            <a:pPr eaLnBrk="1" latinLnBrk="0" hangingPunct="1" indent="0" marL="0">
              <a:lnSpc>
                <a:spcPct val="95000"/>
              </a:lnSpc>
              <a:buNone/>
            </a:pPr>
            <a:r>
              <a:rPr lang="en-US" sz="4600" dirty="0">
                <a:solidFill>
                  <a:srgbClr val="331E0E"/>
                </a:solidFill>
                <a:latin typeface="Yu Mincho" pitchFamily="34" charset="0"/>
                <a:ea typeface="Yu Mincho" pitchFamily="34" charset="-122"/>
                <a:cs typeface="Yu Mincho" pitchFamily="34" charset="-120"/>
              </a:rPr>
              <a:t>Smart Search</a:t>
            </a:r>
            <a:endParaRPr lang="en-US" sz="4600" dirty="0"/>
          </a:p>
        </p:txBody>
      </p:sp>
      <p:sp>
        <p:nvSpPr>
          <p:cNvPr id="6" name="Text 4"/>
          <p:cNvSpPr/>
          <p:nvPr/>
        </p:nvSpPr>
        <p:spPr>
          <a:xfrm>
            <a:off x="566928" y="3611880"/>
            <a:ext cx="4937760" cy="822960"/>
          </a:xfrm>
          <a:prstGeom prst="rect">
            <a:avLst/>
          </a:prstGeom>
          <a:noFill/>
          <a:ln/>
        </p:spPr>
        <p:txBody>
          <a:bodyPr wrap="square" rtlCol="0" anchor="t"/>
          <a:lstStyle/>
          <a:p>
            <a:pPr eaLnBrk="1" latinLnBrk="0" hangingPunct="1" indent="0" marL="0">
              <a:lnSpc>
                <a:spcPct val="125000"/>
              </a:lnSpc>
              <a:buNone/>
            </a:pPr>
            <a:r>
              <a:rPr lang="ja-JP" altLang="en-US" sz="1700" b="1" dirty="0">
                <a:solidFill>
                  <a:srgbClr val="2A1A0E"/>
                </a:solidFill>
                <a:latin typeface="Yu Gothic" pitchFamily="34" charset="0"/>
                <a:ea typeface="Yu Gothic" pitchFamily="34" charset="-122"/>
                <a:cs typeface="Yu Gothic" pitchFamily="34" charset="-120"/>
              </a:rPr>
              <a:t>商品・レシピ・特売を、</a:t>
            </a:r>
            <a:endParaRPr lang="en-US" sz="1700" dirty="0"/>
          </a:p>
          <a:p>
            <a:pPr eaLnBrk="1" latinLnBrk="0" hangingPunct="1" indent="0" marL="0">
              <a:lnSpc>
                <a:spcPct val="125000"/>
              </a:lnSpc>
              <a:buNone/>
            </a:pPr>
            <a:r>
              <a:rPr lang="ja-JP" altLang="en-US" sz="1700" b="1" dirty="0">
                <a:solidFill>
                  <a:srgbClr val="2A1A0E"/>
                </a:solidFill>
                <a:latin typeface="Yu Gothic" pitchFamily="34" charset="0"/>
                <a:ea typeface="Yu Gothic" pitchFamily="34" charset="-122"/>
                <a:cs typeface="Yu Gothic" pitchFamily="34" charset="-120"/>
              </a:rPr>
              <a:t>ひとつの検索窓でつなぎました</a:t>
            </a:r>
            <a:endParaRPr lang="en-US" sz="1700" dirty="0"/>
          </a:p>
        </p:txBody>
      </p:sp>
      <p:sp>
        <p:nvSpPr>
          <p:cNvPr id="7" name="Text 5"/>
          <p:cNvSpPr/>
          <p:nvPr/>
        </p:nvSpPr>
        <p:spPr>
          <a:xfrm>
            <a:off x="566928" y="4480560"/>
            <a:ext cx="4572000" cy="548640"/>
          </a:xfrm>
          <a:prstGeom prst="rect">
            <a:avLst/>
          </a:prstGeom>
          <a:noFill/>
          <a:ln/>
        </p:spPr>
        <p:txBody>
          <a:bodyPr wrap="square" rtlCol="0" anchor="t"/>
          <a:lstStyle/>
          <a:p>
            <a:pPr eaLnBrk="1" latinLnBrk="0" hangingPunct="1" indent="0" marL="0">
              <a:buNone/>
            </a:pPr>
            <a:r>
              <a:rPr lang="en-US" sz="1250" dirty="0">
                <a:solidFill>
                  <a:srgbClr val="877258"/>
                </a:solidFill>
                <a:latin typeface="Segoe UI" pitchFamily="34" charset="0"/>
                <a:ea typeface="Segoe UI" pitchFamily="34" charset="-122"/>
                <a:cs typeface="Segoe UI" pitchFamily="34" charset="-120"/>
              </a:rPr>
              <a:t>Nối sản phẩm, công thức và khuyến mãi</a:t>
            </a:r>
            <a:endParaRPr lang="en-US" sz="1250" dirty="0"/>
          </a:p>
          <a:p>
            <a:pPr eaLnBrk="1" latinLnBrk="0" hangingPunct="1" indent="0" marL="0">
              <a:buNone/>
            </a:pPr>
            <a:r>
              <a:rPr lang="en-US" sz="1250" dirty="0">
                <a:solidFill>
                  <a:srgbClr val="877258"/>
                </a:solidFill>
                <a:latin typeface="Segoe UI" pitchFamily="34" charset="0"/>
                <a:ea typeface="Segoe UI" pitchFamily="34" charset="-122"/>
                <a:cs typeface="Segoe UI" pitchFamily="34" charset="-120"/>
              </a:rPr>
              <a:t>lại trong một ô tìm kiếm</a:t>
            </a:r>
            <a:endParaRPr lang="en-US" sz="1250" dirty="0"/>
          </a:p>
        </p:txBody>
      </p:sp>
      <p:sp>
        <p:nvSpPr>
          <p:cNvPr id="8" name="Shape 6"/>
          <p:cNvSpPr/>
          <p:nvPr/>
        </p:nvSpPr>
        <p:spPr>
          <a:xfrm>
            <a:off x="566928" y="5669280"/>
            <a:ext cx="4206240" cy="0"/>
          </a:xfrm>
          <a:prstGeom prst="line">
            <a:avLst/>
          </a:prstGeom>
          <a:noFill/>
          <a:ln w="9525">
            <a:solidFill>
              <a:srgbClr val="E4D9C6"/>
            </a:solidFill>
            <a:prstDash val="solid"/>
          </a:ln>
        </p:spPr>
      </p:sp>
      <p:sp>
        <p:nvSpPr>
          <p:cNvPr id="9" name="Text 7"/>
          <p:cNvSpPr/>
          <p:nvPr/>
        </p:nvSpPr>
        <p:spPr>
          <a:xfrm>
            <a:off x="566928" y="5760720"/>
            <a:ext cx="4389120" cy="274320"/>
          </a:xfrm>
          <a:prstGeom prst="rect">
            <a:avLst/>
          </a:prstGeom>
          <a:noFill/>
          <a:ln/>
        </p:spPr>
        <p:txBody>
          <a:bodyPr wrap="square" rtlCol="0" anchor="ctr"/>
          <a:lstStyle/>
          <a:p>
            <a:pPr eaLnBrk="1" latinLnBrk="0" hangingPunct="1" indent="0" marL="0">
              <a:buNone/>
            </a:pPr>
            <a:r>
              <a:rPr lang="ja-JP" altLang="en-US" sz="1050" dirty="0">
                <a:solidFill>
                  <a:srgbClr val="877258"/>
                </a:solidFill>
                <a:latin typeface="Yu Gothic" pitchFamily="34" charset="0"/>
                <a:ea typeface="Yu Gothic" pitchFamily="34" charset="-122"/>
                <a:cs typeface="Yu Gothic" pitchFamily="34" charset="-120"/>
              </a:rPr>
              <a:t>提案者：EVN（Entetsu Vietnam）　Nguyen Van Minh</a:t>
            </a:r>
            <a:endParaRPr lang="en-US" sz="1050" dirty="0"/>
          </a:p>
        </p:txBody>
      </p:sp>
      <p:sp>
        <p:nvSpPr>
          <p:cNvPr id="10" name="Shape 8"/>
          <p:cNvSpPr/>
          <p:nvPr/>
        </p:nvSpPr>
        <p:spPr>
          <a:xfrm>
            <a:off x="5989320" y="1097280"/>
            <a:ext cx="5623560" cy="3789045"/>
          </a:xfrm>
          <a:prstGeom prst="roundRect">
            <a:avLst>
              <a:gd name="adj" fmla="val 1931"/>
            </a:avLst>
          </a:prstGeom>
          <a:solidFill>
            <a:srgbClr val="EFE8DC"/>
          </a:solidFill>
          <a:ln w="9525">
            <a:solidFill>
              <a:srgbClr val="DCCFBA"/>
            </a:solidFill>
            <a:prstDash val="solid"/>
          </a:ln>
          <a:effectLst>
            <a:outerShdw sx="100000" sy="100000" kx="0" ky="0" algn="bl" rotWithShape="0" blurRad="127000" dist="38100" dir="5400000">
              <a:srgbClr val="000000">
                <a:alpha val="22000"/>
              </a:srgbClr>
            </a:outerShdw>
          </a:effectLst>
        </p:spPr>
      </p:sp>
      <p:sp>
        <p:nvSpPr>
          <p:cNvPr id="11" name="Shape 9"/>
          <p:cNvSpPr/>
          <p:nvPr/>
        </p:nvSpPr>
        <p:spPr>
          <a:xfrm>
            <a:off x="6135624" y="1188720"/>
            <a:ext cx="91440" cy="91440"/>
          </a:xfrm>
          <a:prstGeom prst="ellipse">
            <a:avLst/>
          </a:prstGeom>
          <a:solidFill>
            <a:srgbClr val="E0625A"/>
          </a:solidFill>
          <a:ln w="12700">
            <a:solidFill>
              <a:srgbClr val="E0625A"/>
            </a:solidFill>
            <a:prstDash val="solid"/>
          </a:ln>
        </p:spPr>
      </p:sp>
      <p:sp>
        <p:nvSpPr>
          <p:cNvPr id="12" name="Shape 10"/>
          <p:cNvSpPr/>
          <p:nvPr/>
        </p:nvSpPr>
        <p:spPr>
          <a:xfrm>
            <a:off x="6291072" y="1188720"/>
            <a:ext cx="91440" cy="91440"/>
          </a:xfrm>
          <a:prstGeom prst="ellipse">
            <a:avLst/>
          </a:prstGeom>
          <a:solidFill>
            <a:srgbClr val="E9B949"/>
          </a:solidFill>
          <a:ln w="12700">
            <a:solidFill>
              <a:srgbClr val="E9B949"/>
            </a:solidFill>
            <a:prstDash val="solid"/>
          </a:ln>
        </p:spPr>
      </p:sp>
      <p:sp>
        <p:nvSpPr>
          <p:cNvPr id="13" name="Shape 11"/>
          <p:cNvSpPr/>
          <p:nvPr/>
        </p:nvSpPr>
        <p:spPr>
          <a:xfrm>
            <a:off x="6446520" y="1188720"/>
            <a:ext cx="91440" cy="91440"/>
          </a:xfrm>
          <a:prstGeom prst="ellipse">
            <a:avLst/>
          </a:prstGeom>
          <a:solidFill>
            <a:srgbClr val="5DB86A"/>
          </a:solidFill>
          <a:ln w="12700">
            <a:solidFill>
              <a:srgbClr val="5DB86A"/>
            </a:solidFill>
            <a:prstDash val="solid"/>
          </a:ln>
        </p:spPr>
      </p:sp>
      <p:sp>
        <p:nvSpPr>
          <p:cNvPr id="14" name="Shape 12"/>
          <p:cNvSpPr/>
          <p:nvPr/>
        </p:nvSpPr>
        <p:spPr>
          <a:xfrm>
            <a:off x="6720840" y="1161288"/>
            <a:ext cx="4160520" cy="146304"/>
          </a:xfrm>
          <a:prstGeom prst="roundRect">
            <a:avLst>
              <a:gd name="adj" fmla="val 50000"/>
            </a:avLst>
          </a:prstGeom>
          <a:solidFill>
            <a:srgbClr val="FFFFFF"/>
          </a:solidFill>
          <a:ln w="6350">
            <a:solidFill>
              <a:srgbClr val="DCCFBA"/>
            </a:solidFill>
            <a:prstDash val="solid"/>
          </a:ln>
        </p:spPr>
      </p:sp>
      <p:sp>
        <p:nvSpPr>
          <p:cNvPr id="15" name="Text 13"/>
          <p:cNvSpPr/>
          <p:nvPr/>
        </p:nvSpPr>
        <p:spPr>
          <a:xfrm>
            <a:off x="6720840" y="1143000"/>
            <a:ext cx="4160520" cy="182880"/>
          </a:xfrm>
          <a:prstGeom prst="rect">
            <a:avLst/>
          </a:prstGeom>
          <a:noFill/>
          <a:ln/>
        </p:spPr>
        <p:txBody>
          <a:bodyPr wrap="square" rtlCol="0" anchor="ctr"/>
          <a:lstStyle/>
          <a:p>
            <a:pPr eaLnBrk="1" latinLnBrk="0" hangingPunct="1" algn="ctr" indent="0" marL="0">
              <a:buNone/>
            </a:pPr>
            <a:r>
              <a:rPr lang="en-US" sz="700" dirty="0">
                <a:solidFill>
                  <a:srgbClr val="877258"/>
                </a:solidFill>
                <a:latin typeface="Segoe UI" pitchFamily="34" charset="0"/>
                <a:ea typeface="Segoe UI" pitchFamily="34" charset="-122"/>
                <a:cs typeface="Segoe UI" pitchFamily="34" charset="-120"/>
              </a:rPr>
              <a:t>entstore-v2-demo.onrender.com</a:t>
            </a:r>
            <a:endParaRPr lang="en-US" sz="700" dirty="0"/>
          </a:p>
        </p:txBody>
      </p:sp>
      <p:pic>
        <p:nvPicPr>
          <p:cNvPr id="16" name="Image 0" descr="C:\Users\minhh\AppData\Local\Temp\claude\c--Users-minhh-Documents-challenge\0b7be4ed-3567-4081-a022-ada0920f3982\scratchpad\hero-desktop.png">    </p:cNvPr>
          <p:cNvPicPr>
            <a:picLocks noChangeAspect="1"/>
          </p:cNvPicPr>
          <p:nvPr/>
        </p:nvPicPr>
        <p:blipFill>
          <a:blip r:embed="rId1"/>
          <a:stretch>
            <a:fillRect/>
          </a:stretch>
        </p:blipFill>
        <p:spPr>
          <a:xfrm>
            <a:off x="5989320" y="1371600"/>
            <a:ext cx="5623560" cy="3514725"/>
          </a:xfrm>
          <a:prstGeom prst="rect">
            <a:avLst/>
          </a:prstGeom>
        </p:spPr>
      </p:pic>
      <p:sp>
        <p:nvSpPr>
          <p:cNvPr id="17" name="Text 14"/>
          <p:cNvSpPr/>
          <p:nvPr/>
        </p:nvSpPr>
        <p:spPr>
          <a:xfrm>
            <a:off x="5989320" y="4959477"/>
            <a:ext cx="5623560" cy="219456"/>
          </a:xfrm>
          <a:prstGeom prst="rect">
            <a:avLst/>
          </a:prstGeom>
          <a:noFill/>
          <a:ln/>
        </p:spPr>
        <p:txBody>
          <a:bodyPr wrap="square" rtlCol="0" anchor="ctr"/>
          <a:lstStyle/>
          <a:p>
            <a:pPr eaLnBrk="1" latinLnBrk="0" hangingPunct="1" algn="r" indent="0" marL="0">
              <a:buNone/>
            </a:pPr>
            <a:r>
              <a:rPr lang="ja-JP" altLang="en-US" sz="900" dirty="0">
                <a:solidFill>
                  <a:srgbClr val="877258"/>
                </a:solidFill>
                <a:latin typeface="Yu Gothic" pitchFamily="34" charset="0"/>
                <a:ea typeface="Yu Gothic" pitchFamily="34" charset="-122"/>
                <a:cs typeface="Yu Gothic" pitchFamily="34" charset="-120"/>
              </a:rPr>
              <a:t>パソコン ／ Máy tính</a:t>
            </a:r>
            <a:endParaRPr lang="en-US" sz="900" dirty="0"/>
          </a:p>
        </p:txBody>
      </p:sp>
      <p:sp>
        <p:nvSpPr>
          <p:cNvPr id="18" name="Shape 15"/>
          <p:cNvSpPr/>
          <p:nvPr/>
        </p:nvSpPr>
        <p:spPr>
          <a:xfrm>
            <a:off x="5065776" y="2326234"/>
            <a:ext cx="1719072" cy="3725500"/>
          </a:xfrm>
          <a:prstGeom prst="roundRect">
            <a:avLst>
              <a:gd name="adj" fmla="val 11702"/>
            </a:avLst>
          </a:prstGeom>
          <a:solidFill>
            <a:srgbClr val="1A1008"/>
          </a:solidFill>
          <a:ln w="12700">
            <a:solidFill>
              <a:srgbClr val="1A1008"/>
            </a:solidFill>
            <a:prstDash val="solid"/>
          </a:ln>
          <a:effectLst>
            <a:outerShdw sx="100000" sy="100000" kx="0" ky="0" algn="bl" rotWithShape="0" blurRad="127000" dist="38100" dir="5400000">
              <a:srgbClr val="000000">
                <a:alpha val="22000"/>
              </a:srgbClr>
            </a:outerShdw>
          </a:effectLst>
        </p:spPr>
      </p:sp>
      <p:pic>
        <p:nvPicPr>
          <p:cNvPr id="19" name="Image 1" descr="C:\Users\minhh\AppData\Local\Temp\claude\c--Users-minhh-Documents-challenge\0b7be4ed-3567-4081-a022-ada0920f3982\scratchpad\hero-mobile.png">    </p:cNvPr>
          <p:cNvPicPr>
            <a:picLocks noChangeAspect="1"/>
          </p:cNvPicPr>
          <p:nvPr/>
        </p:nvPicPr>
        <p:blipFill>
          <a:blip r:embed="rId2"/>
          <a:stretch>
            <a:fillRect/>
          </a:stretch>
        </p:blipFill>
        <p:spPr>
          <a:xfrm>
            <a:off x="5138928" y="2487168"/>
            <a:ext cx="1572768" cy="3403631"/>
          </a:xfrm>
          <a:prstGeom prst="rect">
            <a:avLst/>
          </a:prstGeom>
        </p:spPr>
      </p:pic>
      <p:sp>
        <p:nvSpPr>
          <p:cNvPr id="20" name="Text 16"/>
          <p:cNvSpPr/>
          <p:nvPr/>
        </p:nvSpPr>
        <p:spPr>
          <a:xfrm>
            <a:off x="4864608" y="6066364"/>
            <a:ext cx="2121408" cy="219456"/>
          </a:xfrm>
          <a:prstGeom prst="rect">
            <a:avLst/>
          </a:prstGeom>
          <a:noFill/>
          <a:ln/>
        </p:spPr>
        <p:txBody>
          <a:bodyPr wrap="square" rtlCol="0" anchor="ctr"/>
          <a:lstStyle/>
          <a:p>
            <a:pPr eaLnBrk="1" latinLnBrk="0" hangingPunct="1" algn="ctr" indent="0" marL="0">
              <a:buNone/>
            </a:pPr>
            <a:r>
              <a:rPr lang="ja-JP" altLang="en-US" sz="900" dirty="0">
                <a:solidFill>
                  <a:srgbClr val="877258"/>
                </a:solidFill>
                <a:latin typeface="Yu Gothic" pitchFamily="34" charset="0"/>
                <a:ea typeface="Yu Gothic" pitchFamily="34" charset="-122"/>
                <a:cs typeface="Yu Gothic" pitchFamily="34" charset="-120"/>
              </a:rPr>
              <a:t>スマホ ／ Điện thoại</a:t>
            </a:r>
            <a:endParaRPr lang="en-US" sz="900" dirty="0"/>
          </a:p>
        </p:txBody>
      </p:sp>
      <p:sp>
        <p:nvSpPr>
          <p:cNvPr id="21" name="Text 17"/>
          <p:cNvSpPr/>
          <p:nvPr/>
        </p:nvSpPr>
        <p:spPr>
          <a:xfrm>
            <a:off x="8351215" y="6473952"/>
            <a:ext cx="3291840" cy="228600"/>
          </a:xfrm>
          <a:prstGeom prst="rect">
            <a:avLst/>
          </a:prstGeom>
          <a:noFill/>
          <a:ln/>
        </p:spPr>
        <p:txBody>
          <a:bodyPr wrap="square" rtlCol="0" anchor="ctr"/>
          <a:lstStyle/>
          <a:p>
            <a:pPr eaLnBrk="1" latinLnBrk="0" hangingPunct="1" algn="r" indent="0" marL="0">
              <a:buNone/>
            </a:pPr>
            <a:r>
              <a:rPr lang="ja-JP" altLang="en-US" sz="850" dirty="0">
                <a:solidFill>
                  <a:srgbClr val="877258"/>
                </a:solidFill>
                <a:latin typeface="Yu Gothic" pitchFamily="34" charset="0"/>
                <a:ea typeface="Yu Gothic" pitchFamily="34" charset="-122"/>
                <a:cs typeface="Yu Gothic" pitchFamily="34" charset="-120"/>
              </a:rPr>
              <a:t>遠鉄ストア Webサイト改善提案</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7273B"/>
          </a:solidFill>
          <a:ln w="12700">
            <a:solidFill>
              <a:srgbClr val="C7273B"/>
            </a:solidFill>
            <a:prstDash val="solid"/>
          </a:ln>
        </p:spPr>
      </p:sp>
      <p:sp>
        <p:nvSpPr>
          <p:cNvPr id="3" name="Text 1"/>
          <p:cNvSpPr/>
          <p:nvPr/>
        </p:nvSpPr>
        <p:spPr>
          <a:xfrm>
            <a:off x="566928" y="6473952"/>
            <a:ext cx="1097280" cy="228600"/>
          </a:xfrm>
          <a:prstGeom prst="rect">
            <a:avLst/>
          </a:prstGeom>
          <a:noFill/>
          <a:ln/>
        </p:spPr>
        <p:txBody>
          <a:bodyPr wrap="square" rtlCol="0" anchor="ctr"/>
          <a:lstStyle/>
          <a:p>
            <a:pPr eaLnBrk="1" latinLnBrk="0" hangingPunct="1" indent="0" marL="0">
              <a:buNone/>
            </a:pPr>
            <a:r>
              <a:rPr lang="en-US" sz="850" spc="100" kern="0" dirty="0">
                <a:solidFill>
                  <a:srgbClr val="877258"/>
                </a:solidFill>
                <a:latin typeface="Segoe UI" pitchFamily="34" charset="0"/>
                <a:ea typeface="Segoe UI" pitchFamily="34" charset="-122"/>
                <a:cs typeface="Segoe UI" pitchFamily="34" charset="-120"/>
              </a:rPr>
              <a:t>02 / 07</a:t>
            </a:r>
            <a:endParaRPr lang="en-US" sz="850" dirty="0"/>
          </a:p>
        </p:txBody>
      </p:sp>
      <p:sp>
        <p:nvSpPr>
          <p:cNvPr id="4" name="Text 2"/>
          <p:cNvSpPr/>
          <p:nvPr/>
        </p:nvSpPr>
        <p:spPr>
          <a:xfrm>
            <a:off x="8351215" y="6473952"/>
            <a:ext cx="3291840" cy="228600"/>
          </a:xfrm>
          <a:prstGeom prst="rect">
            <a:avLst/>
          </a:prstGeom>
          <a:noFill/>
          <a:ln/>
        </p:spPr>
        <p:txBody>
          <a:bodyPr wrap="square" rtlCol="0" anchor="ctr"/>
          <a:lstStyle/>
          <a:p>
            <a:pPr eaLnBrk="1" latinLnBrk="0" hangingPunct="1" algn="r" indent="0" marL="0">
              <a:buNone/>
            </a:pPr>
            <a:r>
              <a:rPr lang="ja-JP" altLang="en-US" sz="850" dirty="0">
                <a:solidFill>
                  <a:srgbClr val="877258"/>
                </a:solidFill>
                <a:latin typeface="Yu Gothic" pitchFamily="34" charset="0"/>
                <a:ea typeface="Yu Gothic" pitchFamily="34" charset="-122"/>
                <a:cs typeface="Yu Gothic" pitchFamily="34" charset="-120"/>
              </a:rPr>
              <a:t>遠鉄ストア Webサイト改善提案</a:t>
            </a:r>
            <a:endParaRPr lang="en-US" sz="850" dirty="0"/>
          </a:p>
        </p:txBody>
      </p:sp>
      <p:sp>
        <p:nvSpPr>
          <p:cNvPr id="5" name="Text 3"/>
          <p:cNvSpPr/>
          <p:nvPr/>
        </p:nvSpPr>
        <p:spPr>
          <a:xfrm>
            <a:off x="566928" y="347472"/>
            <a:ext cx="11057839" cy="256032"/>
          </a:xfrm>
          <a:prstGeom prst="rect">
            <a:avLst/>
          </a:prstGeom>
          <a:noFill/>
          <a:ln/>
        </p:spPr>
        <p:txBody>
          <a:bodyPr wrap="square" rtlCol="0" anchor="ctr"/>
          <a:lstStyle/>
          <a:p>
            <a:pPr eaLnBrk="1" latinLnBrk="0" hangingPunct="1" indent="0" marL="0">
              <a:buNone/>
            </a:pPr>
            <a:r>
              <a:rPr lang="ja-JP" altLang="en-US" sz="1050" b="1" spc="100" kern="0" dirty="0">
                <a:solidFill>
                  <a:srgbClr val="C7273B"/>
                </a:solidFill>
                <a:latin typeface="Yu Gothic" pitchFamily="34" charset="0"/>
                <a:ea typeface="Yu Gothic" pitchFamily="34" charset="-122"/>
                <a:cs typeface="Yu Gothic" pitchFamily="34" charset="-120"/>
              </a:rPr>
              <a:t>選んだ理由</a:t>
            </a:r>
            <a:pPr eaLnBrk="1" latinLnBrk="0" hangingPunct="1" indent="0" marL="0">
              <a:buNone/>
            </a:pPr>
            <a:r>
              <a:rPr lang="ja-JP" altLang="en-US" sz="1000" b="1" spc="100" kern="0" dirty="0">
                <a:solidFill>
                  <a:srgbClr val="877258"/>
                </a:solidFill>
                <a:latin typeface="Segoe UI" pitchFamily="34" charset="0"/>
                <a:ea typeface="Segoe UI" pitchFamily="34" charset="-122"/>
                <a:cs typeface="Segoe UI" pitchFamily="34" charset="-120"/>
              </a:rPr>
              <a:t>　／ LÝ DO LỰA CHỌN</a:t>
            </a:r>
            <a:endParaRPr lang="en-US" sz="1050" dirty="0"/>
          </a:p>
        </p:txBody>
      </p:sp>
      <p:sp>
        <p:nvSpPr>
          <p:cNvPr id="6" name="Shape 4"/>
          <p:cNvSpPr/>
          <p:nvPr/>
        </p:nvSpPr>
        <p:spPr>
          <a:xfrm>
            <a:off x="566928" y="621792"/>
            <a:ext cx="11057839" cy="0"/>
          </a:xfrm>
          <a:prstGeom prst="line">
            <a:avLst/>
          </a:prstGeom>
          <a:noFill/>
          <a:ln w="9525">
            <a:solidFill>
              <a:srgbClr val="E4D9C6"/>
            </a:solidFill>
            <a:prstDash val="solid"/>
          </a:ln>
        </p:spPr>
      </p:sp>
      <p:sp>
        <p:nvSpPr>
          <p:cNvPr id="7" name="Text 5"/>
          <p:cNvSpPr/>
          <p:nvPr/>
        </p:nvSpPr>
        <p:spPr>
          <a:xfrm>
            <a:off x="566928" y="713232"/>
            <a:ext cx="11057839" cy="502920"/>
          </a:xfrm>
          <a:prstGeom prst="rect">
            <a:avLst/>
          </a:prstGeom>
          <a:noFill/>
          <a:ln/>
        </p:spPr>
        <p:txBody>
          <a:bodyPr wrap="square" rtlCol="0" anchor="ctr"/>
          <a:lstStyle/>
          <a:p>
            <a:pPr eaLnBrk="1" latinLnBrk="0" hangingPunct="1" indent="0" marL="0">
              <a:buNone/>
            </a:pPr>
            <a:r>
              <a:rPr lang="ja-JP" altLang="en-US" sz="2700" b="1" dirty="0">
                <a:solidFill>
                  <a:srgbClr val="331E0E"/>
                </a:solidFill>
                <a:latin typeface="Yu Mincho" pitchFamily="34" charset="0"/>
                <a:ea typeface="Yu Mincho" pitchFamily="34" charset="-122"/>
                <a:cs typeface="Yu Mincho" pitchFamily="34" charset="-120"/>
              </a:rPr>
              <a:t>遠鉄ストアとこのテーマを選んだ理由</a:t>
            </a:r>
            <a:endParaRPr lang="en-US" sz="2700" dirty="0"/>
          </a:p>
        </p:txBody>
      </p:sp>
      <p:sp>
        <p:nvSpPr>
          <p:cNvPr id="8" name="Text 6"/>
          <p:cNvSpPr/>
          <p:nvPr/>
        </p:nvSpPr>
        <p:spPr>
          <a:xfrm>
            <a:off x="566928" y="1225296"/>
            <a:ext cx="11057839" cy="274320"/>
          </a:xfrm>
          <a:prstGeom prst="rect">
            <a:avLst/>
          </a:prstGeom>
          <a:noFill/>
          <a:ln/>
        </p:spPr>
        <p:txBody>
          <a:bodyPr wrap="square" rtlCol="0" anchor="ctr"/>
          <a:lstStyle/>
          <a:p>
            <a:pPr eaLnBrk="1" latinLnBrk="0" hangingPunct="1" indent="0" marL="0">
              <a:buNone/>
            </a:pPr>
            <a:r>
              <a:rPr lang="en-US" sz="1250" dirty="0">
                <a:solidFill>
                  <a:srgbClr val="877258"/>
                </a:solidFill>
                <a:latin typeface="Segoe UI" pitchFamily="34" charset="0"/>
                <a:ea typeface="Segoe UI" pitchFamily="34" charset="-122"/>
                <a:cs typeface="Segoe UI" pitchFamily="34" charset="-120"/>
              </a:rPr>
              <a:t>Lý do em chọn công ty và đề tài cho thử thách năm nay</a:t>
            </a:r>
            <a:endParaRPr lang="en-US" sz="1250" dirty="0"/>
          </a:p>
        </p:txBody>
      </p:sp>
      <p:sp>
        <p:nvSpPr>
          <p:cNvPr id="9" name="Shape 7"/>
          <p:cNvSpPr/>
          <p:nvPr/>
        </p:nvSpPr>
        <p:spPr>
          <a:xfrm>
            <a:off x="566928" y="1874520"/>
            <a:ext cx="3405530" cy="3886200"/>
          </a:xfrm>
          <a:prstGeom prst="rect">
            <a:avLst/>
          </a:prstGeom>
          <a:solidFill>
            <a:srgbClr val="FFFFFF"/>
          </a:solidFill>
          <a:ln w="9525">
            <a:solidFill>
              <a:srgbClr val="E4D9C6"/>
            </a:solidFill>
            <a:prstDash val="solid"/>
          </a:ln>
        </p:spPr>
      </p:sp>
      <p:sp>
        <p:nvSpPr>
          <p:cNvPr id="10" name="Shape 8"/>
          <p:cNvSpPr/>
          <p:nvPr/>
        </p:nvSpPr>
        <p:spPr>
          <a:xfrm>
            <a:off x="566928" y="1874520"/>
            <a:ext cx="3405530" cy="45720"/>
          </a:xfrm>
          <a:prstGeom prst="rect">
            <a:avLst/>
          </a:prstGeom>
          <a:solidFill>
            <a:srgbClr val="C7273B"/>
          </a:solidFill>
          <a:ln w="12700">
            <a:solidFill>
              <a:srgbClr val="C7273B"/>
            </a:solidFill>
            <a:prstDash val="solid"/>
          </a:ln>
        </p:spPr>
      </p:sp>
      <p:sp>
        <p:nvSpPr>
          <p:cNvPr id="11" name="Shape 9"/>
          <p:cNvSpPr/>
          <p:nvPr/>
        </p:nvSpPr>
        <p:spPr>
          <a:xfrm>
            <a:off x="786384" y="2148840"/>
            <a:ext cx="420624" cy="420624"/>
          </a:xfrm>
          <a:prstGeom prst="ellipse">
            <a:avLst/>
          </a:prstGeom>
          <a:solidFill>
            <a:srgbClr val="C7273B"/>
          </a:solidFill>
          <a:ln w="12700">
            <a:solidFill>
              <a:srgbClr val="C7273B"/>
            </a:solidFill>
            <a:prstDash val="solid"/>
          </a:ln>
        </p:spPr>
      </p:sp>
      <p:sp>
        <p:nvSpPr>
          <p:cNvPr id="12" name="Text 10"/>
          <p:cNvSpPr/>
          <p:nvPr/>
        </p:nvSpPr>
        <p:spPr>
          <a:xfrm>
            <a:off x="786384" y="2148840"/>
            <a:ext cx="420624" cy="420624"/>
          </a:xfrm>
          <a:prstGeom prst="rect">
            <a:avLst/>
          </a:prstGeom>
          <a:noFill/>
          <a:ln/>
        </p:spPr>
        <p:txBody>
          <a:bodyPr wrap="square" rtlCol="0" anchor="ctr"/>
          <a:lstStyle/>
          <a:p>
            <a:pPr eaLnBrk="1" latinLnBrk="0" hangingPunct="1" algn="ctr" indent="0" marL="0">
              <a:buNone/>
            </a:pPr>
            <a:r>
              <a:rPr lang="en-US" sz="1500" b="1" dirty="0">
                <a:solidFill>
                  <a:srgbClr val="FFFFFF"/>
                </a:solidFill>
                <a:latin typeface="Segoe UI" pitchFamily="34" charset="0"/>
                <a:ea typeface="Segoe UI" pitchFamily="34" charset="-122"/>
                <a:cs typeface="Segoe UI" pitchFamily="34" charset="-120"/>
              </a:rPr>
              <a:t>1</a:t>
            </a:r>
            <a:endParaRPr lang="en-US" sz="1500" dirty="0"/>
          </a:p>
        </p:txBody>
      </p:sp>
      <p:sp>
        <p:nvSpPr>
          <p:cNvPr id="13" name="Text 11"/>
          <p:cNvSpPr/>
          <p:nvPr/>
        </p:nvSpPr>
        <p:spPr>
          <a:xfrm>
            <a:off x="1316736" y="2112264"/>
            <a:ext cx="2491130" cy="512064"/>
          </a:xfrm>
          <a:prstGeom prst="rect">
            <a:avLst/>
          </a:prstGeom>
          <a:noFill/>
          <a:ln/>
        </p:spPr>
        <p:txBody>
          <a:bodyPr wrap="square" rtlCol="0" anchor="ctr"/>
          <a:lstStyle/>
          <a:p>
            <a:pPr eaLnBrk="1" latinLnBrk="0" hangingPunct="1" indent="0" marL="0">
              <a:buNone/>
            </a:pPr>
            <a:r>
              <a:rPr lang="ja-JP" altLang="en-US" sz="1200" b="1" dirty="0">
                <a:solidFill>
                  <a:srgbClr val="C7273B"/>
                </a:solidFill>
                <a:latin typeface="Yu Gothic" pitchFamily="34" charset="0"/>
                <a:ea typeface="Yu Gothic" pitchFamily="34" charset="-122"/>
                <a:cs typeface="Yu Gothic" pitchFamily="34" charset="-120"/>
              </a:rPr>
              <a:t>きっかけ</a:t>
            </a:r>
            <a:endParaRPr lang="en-US" sz="1200" dirty="0"/>
          </a:p>
          <a:p>
            <a:pPr eaLnBrk="1" latinLnBrk="0" hangingPunct="1" indent="0" marL="0">
              <a:buNone/>
            </a:pPr>
            <a:r>
              <a:rPr lang="en-US" sz="850" b="1" spc="100" kern="0" dirty="0">
                <a:solidFill>
                  <a:srgbClr val="877258"/>
                </a:solidFill>
                <a:latin typeface="Segoe UI" pitchFamily="34" charset="0"/>
                <a:ea typeface="Segoe UI" pitchFamily="34" charset="-122"/>
                <a:cs typeface="Segoe UI" pitchFamily="34" charset="-120"/>
              </a:rPr>
              <a:t>BỐI CẢNH</a:t>
            </a:r>
            <a:endParaRPr lang="en-US" sz="1200" dirty="0"/>
          </a:p>
        </p:txBody>
      </p:sp>
      <p:sp>
        <p:nvSpPr>
          <p:cNvPr id="14" name="Text 12"/>
          <p:cNvSpPr/>
          <p:nvPr/>
        </p:nvSpPr>
        <p:spPr>
          <a:xfrm>
            <a:off x="786384" y="2788920"/>
            <a:ext cx="2966618" cy="960120"/>
          </a:xfrm>
          <a:prstGeom prst="rect">
            <a:avLst/>
          </a:prstGeom>
          <a:noFill/>
          <a:ln/>
        </p:spPr>
        <p:txBody>
          <a:bodyPr wrap="square" rtlCol="0" anchor="t"/>
          <a:lstStyle/>
          <a:p>
            <a:pPr eaLnBrk="1" latinLnBrk="0" hangingPunct="1" indent="0" marL="0">
              <a:lnSpc>
                <a:spcPct val="115000"/>
              </a:lnSpc>
              <a:buNone/>
            </a:pPr>
            <a:r>
              <a:rPr lang="ja-JP" altLang="en-US" sz="1600" b="1" dirty="0">
                <a:solidFill>
                  <a:srgbClr val="331E0E"/>
                </a:solidFill>
                <a:latin typeface="Yu Mincho" pitchFamily="34" charset="0"/>
                <a:ea typeface="Yu Mincho" pitchFamily="34" charset="-122"/>
                <a:cs typeface="Yu Mincho" pitchFamily="34" charset="-120"/>
              </a:rPr>
              <a:t>グループ各社のことは、</a:t>
            </a:r>
            <a:endParaRPr lang="en-US" sz="1600" dirty="0"/>
          </a:p>
          <a:p>
            <a:pPr eaLnBrk="1" latinLnBrk="0" hangingPunct="1" indent="0" marL="0">
              <a:lnSpc>
                <a:spcPct val="115000"/>
              </a:lnSpc>
              <a:buNone/>
            </a:pPr>
            <a:r>
              <a:rPr lang="ja-JP" altLang="en-US" sz="1600" b="1" dirty="0">
                <a:solidFill>
                  <a:srgbClr val="331E0E"/>
                </a:solidFill>
                <a:latin typeface="Yu Mincho" pitchFamily="34" charset="0"/>
                <a:ea typeface="Yu Mincho" pitchFamily="34" charset="-122"/>
                <a:cs typeface="Yu Mincho" pitchFamily="34" charset="-120"/>
              </a:rPr>
              <a:t>朝礼で聞いただけ</a:t>
            </a:r>
            <a:endParaRPr lang="en-US" sz="1600" dirty="0"/>
          </a:p>
          <a:p>
            <a:pPr eaLnBrk="1" latinLnBrk="0" hangingPunct="1" indent="0" marL="0">
              <a:buNone/>
            </a:pPr>
            <a:r>
              <a:rPr lang="en-US" sz="950" dirty="0">
                <a:solidFill>
                  <a:srgbClr val="877258"/>
                </a:solidFill>
                <a:latin typeface="Segoe UI" pitchFamily="34" charset="0"/>
                <a:ea typeface="Segoe UI" pitchFamily="34" charset="-122"/>
                <a:cs typeface="Segoe UI" pitchFamily="34" charset="-120"/>
              </a:rPr>
              <a:t>Mới nghe giới thiệu, chưa được trải nghiệm thực tế</a:t>
            </a:r>
            <a:endParaRPr lang="en-US" sz="1600" dirty="0"/>
          </a:p>
        </p:txBody>
      </p:sp>
      <p:sp>
        <p:nvSpPr>
          <p:cNvPr id="15" name="Shape 13"/>
          <p:cNvSpPr/>
          <p:nvPr/>
        </p:nvSpPr>
        <p:spPr>
          <a:xfrm>
            <a:off x="786384" y="3840480"/>
            <a:ext cx="2966618" cy="0"/>
          </a:xfrm>
          <a:prstGeom prst="line">
            <a:avLst/>
          </a:prstGeom>
          <a:noFill/>
          <a:ln w="9525">
            <a:solidFill>
              <a:srgbClr val="E4D9C6"/>
            </a:solidFill>
            <a:prstDash val="solid"/>
          </a:ln>
        </p:spPr>
      </p:sp>
      <p:sp>
        <p:nvSpPr>
          <p:cNvPr id="16" name="Text 14"/>
          <p:cNvSpPr/>
          <p:nvPr/>
        </p:nvSpPr>
        <p:spPr>
          <a:xfrm>
            <a:off x="786384" y="3959352"/>
            <a:ext cx="2966618" cy="1645920"/>
          </a:xfrm>
          <a:prstGeom prst="rect">
            <a:avLst/>
          </a:prstGeom>
          <a:noFill/>
          <a:ln/>
        </p:spPr>
        <p:txBody>
          <a:bodyPr wrap="square" rtlCol="0" anchor="t"/>
          <a:lstStyle/>
          <a:p>
            <a:pPr eaLnBrk="1" latinLnBrk="0" hangingPunct="1" indent="0" marL="0">
              <a:lnSpc>
                <a:spcPct val="130000"/>
              </a:lnSpc>
              <a:buNone/>
            </a:pPr>
            <a:r>
              <a:rPr lang="ja-JP" altLang="en-US" sz="1050" dirty="0">
                <a:solidFill>
                  <a:srgbClr val="2A1A0E"/>
                </a:solidFill>
                <a:latin typeface="Yu Gothic" pitchFamily="34" charset="0"/>
                <a:ea typeface="Yu Gothic" pitchFamily="34" charset="-122"/>
                <a:cs typeface="Yu Gothic" pitchFamily="34" charset="-120"/>
              </a:rPr>
              <a:t>グループ各社のことは、毎朝の朝礼の紹介スライドで聞いただけで、実際に体験したことはありませんでした。</a:t>
            </a:r>
            <a:endParaRPr lang="en-US" sz="1050" dirty="0"/>
          </a:p>
          <a:p>
            <a:pPr eaLnBrk="1" latinLnBrk="0" hangingPunct="1" indent="0" marL="0">
              <a:lnSpc>
                <a:spcPct val="120000"/>
              </a:lnSpc>
              <a:spcBef>
                <a:spcPts val="500"/>
              </a:spcBef>
              <a:buNone/>
            </a:pPr>
            <a:r>
              <a:rPr lang="en-US" sz="900" dirty="0">
                <a:solidFill>
                  <a:srgbClr val="877258"/>
                </a:solidFill>
                <a:latin typeface="Segoe UI" pitchFamily="34" charset="0"/>
                <a:ea typeface="Segoe UI" pitchFamily="34" charset="-122"/>
                <a:cs typeface="Segoe UI" pitchFamily="34" charset="-120"/>
              </a:rPr>
              <a:t>Các mô hình công ty trong tập đoàn, em mới chỉ được nghe giới thiệu qua slide giới thiệu buổi sáng hằng ngày và chưa được trải nghiệm thực tế.</a:t>
            </a:r>
            <a:endParaRPr lang="en-US" sz="1050" dirty="0"/>
          </a:p>
        </p:txBody>
      </p:sp>
      <p:sp>
        <p:nvSpPr>
          <p:cNvPr id="17" name="Text 15"/>
          <p:cNvSpPr/>
          <p:nvPr/>
        </p:nvSpPr>
        <p:spPr>
          <a:xfrm>
            <a:off x="3972458" y="3589020"/>
            <a:ext cx="420624" cy="457200"/>
          </a:xfrm>
          <a:prstGeom prst="rect">
            <a:avLst/>
          </a:prstGeom>
          <a:noFill/>
          <a:ln/>
        </p:spPr>
        <p:txBody>
          <a:bodyPr wrap="square" rtlCol="0" anchor="ctr"/>
          <a:lstStyle/>
          <a:p>
            <a:pPr eaLnBrk="1" latinLnBrk="0" hangingPunct="1" algn="ctr" indent="0" marL="0">
              <a:buNone/>
            </a:pPr>
            <a:r>
              <a:rPr lang="en-US" sz="2400" dirty="0">
                <a:solidFill>
                  <a:srgbClr val="C7273B"/>
                </a:solidFill>
                <a:latin typeface="Yu Gothic" pitchFamily="34" charset="0"/>
                <a:ea typeface="Yu Gothic" pitchFamily="34" charset="-122"/>
                <a:cs typeface="Yu Gothic" pitchFamily="34" charset="-120"/>
              </a:rPr>
              <a:t>›</a:t>
            </a:r>
            <a:endParaRPr lang="en-US" sz="2400" dirty="0"/>
          </a:p>
        </p:txBody>
      </p:sp>
      <p:sp>
        <p:nvSpPr>
          <p:cNvPr id="18" name="Shape 16"/>
          <p:cNvSpPr/>
          <p:nvPr/>
        </p:nvSpPr>
        <p:spPr>
          <a:xfrm>
            <a:off x="4393082" y="1874520"/>
            <a:ext cx="3405530" cy="3886200"/>
          </a:xfrm>
          <a:prstGeom prst="rect">
            <a:avLst/>
          </a:prstGeom>
          <a:solidFill>
            <a:srgbClr val="FFFFFF"/>
          </a:solidFill>
          <a:ln w="9525">
            <a:solidFill>
              <a:srgbClr val="E4D9C6"/>
            </a:solidFill>
            <a:prstDash val="solid"/>
          </a:ln>
        </p:spPr>
      </p:sp>
      <p:sp>
        <p:nvSpPr>
          <p:cNvPr id="19" name="Shape 17"/>
          <p:cNvSpPr/>
          <p:nvPr/>
        </p:nvSpPr>
        <p:spPr>
          <a:xfrm>
            <a:off x="4393082" y="1874520"/>
            <a:ext cx="3405530" cy="45720"/>
          </a:xfrm>
          <a:prstGeom prst="rect">
            <a:avLst/>
          </a:prstGeom>
          <a:solidFill>
            <a:srgbClr val="C7273B"/>
          </a:solidFill>
          <a:ln w="12700">
            <a:solidFill>
              <a:srgbClr val="C7273B"/>
            </a:solidFill>
            <a:prstDash val="solid"/>
          </a:ln>
        </p:spPr>
      </p:sp>
      <p:sp>
        <p:nvSpPr>
          <p:cNvPr id="20" name="Shape 18"/>
          <p:cNvSpPr/>
          <p:nvPr/>
        </p:nvSpPr>
        <p:spPr>
          <a:xfrm>
            <a:off x="4612538" y="2148840"/>
            <a:ext cx="420624" cy="420624"/>
          </a:xfrm>
          <a:prstGeom prst="ellipse">
            <a:avLst/>
          </a:prstGeom>
          <a:solidFill>
            <a:srgbClr val="C7273B"/>
          </a:solidFill>
          <a:ln w="12700">
            <a:solidFill>
              <a:srgbClr val="C7273B"/>
            </a:solidFill>
            <a:prstDash val="solid"/>
          </a:ln>
        </p:spPr>
      </p:sp>
      <p:sp>
        <p:nvSpPr>
          <p:cNvPr id="21" name="Text 19"/>
          <p:cNvSpPr/>
          <p:nvPr/>
        </p:nvSpPr>
        <p:spPr>
          <a:xfrm>
            <a:off x="4612538" y="2148840"/>
            <a:ext cx="420624" cy="420624"/>
          </a:xfrm>
          <a:prstGeom prst="rect">
            <a:avLst/>
          </a:prstGeom>
          <a:noFill/>
          <a:ln/>
        </p:spPr>
        <p:txBody>
          <a:bodyPr wrap="square" rtlCol="0" anchor="ctr"/>
          <a:lstStyle/>
          <a:p>
            <a:pPr eaLnBrk="1" latinLnBrk="0" hangingPunct="1" algn="ctr" indent="0" marL="0">
              <a:buNone/>
            </a:pPr>
            <a:r>
              <a:rPr lang="en-US" sz="1500" b="1" dirty="0">
                <a:solidFill>
                  <a:srgbClr val="FFFFFF"/>
                </a:solidFill>
                <a:latin typeface="Segoe UI" pitchFamily="34" charset="0"/>
                <a:ea typeface="Segoe UI" pitchFamily="34" charset="-122"/>
                <a:cs typeface="Segoe UI" pitchFamily="34" charset="-120"/>
              </a:rPr>
              <a:t>2</a:t>
            </a:r>
            <a:endParaRPr lang="en-US" sz="1500" dirty="0"/>
          </a:p>
        </p:txBody>
      </p:sp>
      <p:sp>
        <p:nvSpPr>
          <p:cNvPr id="22" name="Text 20"/>
          <p:cNvSpPr/>
          <p:nvPr/>
        </p:nvSpPr>
        <p:spPr>
          <a:xfrm>
            <a:off x="5142890" y="2112264"/>
            <a:ext cx="2491130" cy="512064"/>
          </a:xfrm>
          <a:prstGeom prst="rect">
            <a:avLst/>
          </a:prstGeom>
          <a:noFill/>
          <a:ln/>
        </p:spPr>
        <p:txBody>
          <a:bodyPr wrap="square" rtlCol="0" anchor="ctr"/>
          <a:lstStyle/>
          <a:p>
            <a:pPr eaLnBrk="1" latinLnBrk="0" hangingPunct="1" indent="0" marL="0">
              <a:buNone/>
            </a:pPr>
            <a:r>
              <a:rPr lang="ja-JP" altLang="en-US" sz="1200" b="1" dirty="0">
                <a:solidFill>
                  <a:srgbClr val="C7273B"/>
                </a:solidFill>
                <a:latin typeface="Yu Gothic" pitchFamily="34" charset="0"/>
                <a:ea typeface="Yu Gothic" pitchFamily="34" charset="-122"/>
                <a:cs typeface="Yu Gothic" pitchFamily="34" charset="-120"/>
              </a:rPr>
              <a:t>考え方</a:t>
            </a:r>
            <a:endParaRPr lang="en-US" sz="1200" dirty="0"/>
          </a:p>
          <a:p>
            <a:pPr eaLnBrk="1" latinLnBrk="0" hangingPunct="1" indent="0" marL="0">
              <a:buNone/>
            </a:pPr>
            <a:r>
              <a:rPr lang="en-US" sz="850" b="1" spc="100" kern="0" dirty="0">
                <a:solidFill>
                  <a:srgbClr val="877258"/>
                </a:solidFill>
                <a:latin typeface="Segoe UI" pitchFamily="34" charset="0"/>
                <a:ea typeface="Segoe UI" pitchFamily="34" charset="-122"/>
                <a:cs typeface="Segoe UI" pitchFamily="34" charset="-120"/>
              </a:rPr>
              <a:t>SUY NGHĨ</a:t>
            </a:r>
            <a:endParaRPr lang="en-US" sz="1200" dirty="0"/>
          </a:p>
        </p:txBody>
      </p:sp>
      <p:sp>
        <p:nvSpPr>
          <p:cNvPr id="23" name="Text 21"/>
          <p:cNvSpPr/>
          <p:nvPr/>
        </p:nvSpPr>
        <p:spPr>
          <a:xfrm>
            <a:off x="4612538" y="2788920"/>
            <a:ext cx="2966618" cy="960120"/>
          </a:xfrm>
          <a:prstGeom prst="rect">
            <a:avLst/>
          </a:prstGeom>
          <a:noFill/>
          <a:ln/>
        </p:spPr>
        <p:txBody>
          <a:bodyPr wrap="square" rtlCol="0" anchor="t"/>
          <a:lstStyle/>
          <a:p>
            <a:pPr eaLnBrk="1" latinLnBrk="0" hangingPunct="1" indent="0" marL="0">
              <a:lnSpc>
                <a:spcPct val="115000"/>
              </a:lnSpc>
              <a:buNone/>
            </a:pPr>
            <a:r>
              <a:rPr lang="ja-JP" altLang="en-US" sz="1600" b="1" dirty="0">
                <a:solidFill>
                  <a:srgbClr val="331E0E"/>
                </a:solidFill>
                <a:latin typeface="Yu Mincho" pitchFamily="34" charset="0"/>
                <a:ea typeface="Yu Mincho" pitchFamily="34" charset="-122"/>
                <a:cs typeface="Yu Mincho" pitchFamily="34" charset="-120"/>
              </a:rPr>
              <a:t>身近で、</a:t>
            </a:r>
            <a:endParaRPr lang="en-US" sz="1600" dirty="0"/>
          </a:p>
          <a:p>
            <a:pPr eaLnBrk="1" latinLnBrk="0" hangingPunct="1" indent="0" marL="0">
              <a:lnSpc>
                <a:spcPct val="115000"/>
              </a:lnSpc>
              <a:buNone/>
            </a:pPr>
            <a:r>
              <a:rPr lang="ja-JP" altLang="en-US" sz="1600" b="1" dirty="0">
                <a:solidFill>
                  <a:srgbClr val="331E0E"/>
                </a:solidFill>
                <a:latin typeface="Yu Mincho" pitchFamily="34" charset="0"/>
                <a:ea typeface="Yu Mincho" pitchFamily="34" charset="-122"/>
                <a:cs typeface="Yu Mincho" pitchFamily="34" charset="-120"/>
              </a:rPr>
              <a:t>イメージしやすいテーマに</a:t>
            </a:r>
            <a:endParaRPr lang="en-US" sz="1600" dirty="0"/>
          </a:p>
          <a:p>
            <a:pPr eaLnBrk="1" latinLnBrk="0" hangingPunct="1" indent="0" marL="0">
              <a:buNone/>
            </a:pPr>
            <a:r>
              <a:rPr lang="en-US" sz="950" dirty="0">
                <a:solidFill>
                  <a:srgbClr val="877258"/>
                </a:solidFill>
                <a:latin typeface="Segoe UI" pitchFamily="34" charset="0"/>
                <a:ea typeface="Segoe UI" pitchFamily="34" charset="-122"/>
                <a:cs typeface="Segoe UI" pitchFamily="34" charset="-120"/>
              </a:rPr>
              <a:t>Chọn đề tài gần gũi, đơn giản, dễ hình dung</a:t>
            </a:r>
            <a:endParaRPr lang="en-US" sz="1600" dirty="0"/>
          </a:p>
        </p:txBody>
      </p:sp>
      <p:sp>
        <p:nvSpPr>
          <p:cNvPr id="24" name="Shape 22"/>
          <p:cNvSpPr/>
          <p:nvPr/>
        </p:nvSpPr>
        <p:spPr>
          <a:xfrm>
            <a:off x="4612538" y="3840480"/>
            <a:ext cx="2966618" cy="0"/>
          </a:xfrm>
          <a:prstGeom prst="line">
            <a:avLst/>
          </a:prstGeom>
          <a:noFill/>
          <a:ln w="9525">
            <a:solidFill>
              <a:srgbClr val="E4D9C6"/>
            </a:solidFill>
            <a:prstDash val="solid"/>
          </a:ln>
        </p:spPr>
      </p:sp>
      <p:sp>
        <p:nvSpPr>
          <p:cNvPr id="25" name="Text 23"/>
          <p:cNvSpPr/>
          <p:nvPr/>
        </p:nvSpPr>
        <p:spPr>
          <a:xfrm>
            <a:off x="4612538" y="3959352"/>
            <a:ext cx="2966618" cy="1645920"/>
          </a:xfrm>
          <a:prstGeom prst="rect">
            <a:avLst/>
          </a:prstGeom>
          <a:noFill/>
          <a:ln/>
        </p:spPr>
        <p:txBody>
          <a:bodyPr wrap="square" rtlCol="0" anchor="t"/>
          <a:lstStyle/>
          <a:p>
            <a:pPr eaLnBrk="1" latinLnBrk="0" hangingPunct="1" indent="0" marL="0">
              <a:lnSpc>
                <a:spcPct val="130000"/>
              </a:lnSpc>
              <a:buNone/>
            </a:pPr>
            <a:r>
              <a:rPr lang="ja-JP" altLang="en-US" sz="1050" dirty="0">
                <a:solidFill>
                  <a:srgbClr val="2A1A0E"/>
                </a:solidFill>
                <a:latin typeface="Yu Gothic" pitchFamily="34" charset="0"/>
                <a:ea typeface="Yu Gothic" pitchFamily="34" charset="-122"/>
                <a:cs typeface="Yu Gothic" pitchFamily="34" charset="-120"/>
              </a:rPr>
              <a:t>身近でシンプルなテーマなら、改善したことが会社にとって本当に役立ち、お客様や地域にも貢献できると考えました。</a:t>
            </a:r>
            <a:endParaRPr lang="en-US" sz="1050" dirty="0"/>
          </a:p>
          <a:p>
            <a:pPr eaLnBrk="1" latinLnBrk="0" hangingPunct="1" indent="0" marL="0">
              <a:lnSpc>
                <a:spcPct val="120000"/>
              </a:lnSpc>
              <a:spcBef>
                <a:spcPts val="500"/>
              </a:spcBef>
              <a:buNone/>
            </a:pPr>
            <a:r>
              <a:rPr lang="en-US" sz="900" dirty="0">
                <a:solidFill>
                  <a:srgbClr val="877258"/>
                </a:solidFill>
                <a:latin typeface="Segoe UI" pitchFamily="34" charset="0"/>
                <a:ea typeface="Segoe UI" pitchFamily="34" charset="-122"/>
                <a:cs typeface="Segoe UI" pitchFamily="34" charset="-120"/>
              </a:rPr>
              <a:t>Mô hình gần gũi, đơn giản sẽ dễ hình dung hơn, để những gì cải thiện thực sự thiết thực cho công ty và giúp ích, đóng góp cho người dùng, cộng đồng, địa phương nơi đó.</a:t>
            </a:r>
            <a:endParaRPr lang="en-US" sz="1050" dirty="0"/>
          </a:p>
        </p:txBody>
      </p:sp>
      <p:sp>
        <p:nvSpPr>
          <p:cNvPr id="26" name="Text 24"/>
          <p:cNvSpPr/>
          <p:nvPr/>
        </p:nvSpPr>
        <p:spPr>
          <a:xfrm>
            <a:off x="7798613" y="3589020"/>
            <a:ext cx="420624" cy="457200"/>
          </a:xfrm>
          <a:prstGeom prst="rect">
            <a:avLst/>
          </a:prstGeom>
          <a:noFill/>
          <a:ln/>
        </p:spPr>
        <p:txBody>
          <a:bodyPr wrap="square" rtlCol="0" anchor="ctr"/>
          <a:lstStyle/>
          <a:p>
            <a:pPr eaLnBrk="1" latinLnBrk="0" hangingPunct="1" algn="ctr" indent="0" marL="0">
              <a:buNone/>
            </a:pPr>
            <a:r>
              <a:rPr lang="en-US" sz="2400" dirty="0">
                <a:solidFill>
                  <a:srgbClr val="C7273B"/>
                </a:solidFill>
                <a:latin typeface="Yu Gothic" pitchFamily="34" charset="0"/>
                <a:ea typeface="Yu Gothic" pitchFamily="34" charset="-122"/>
                <a:cs typeface="Yu Gothic" pitchFamily="34" charset="-120"/>
              </a:rPr>
              <a:t>›</a:t>
            </a:r>
            <a:endParaRPr lang="en-US" sz="2400" dirty="0"/>
          </a:p>
        </p:txBody>
      </p:sp>
      <p:sp>
        <p:nvSpPr>
          <p:cNvPr id="27" name="Shape 25"/>
          <p:cNvSpPr/>
          <p:nvPr/>
        </p:nvSpPr>
        <p:spPr>
          <a:xfrm>
            <a:off x="8219237" y="1874520"/>
            <a:ext cx="3405530" cy="3886200"/>
          </a:xfrm>
          <a:prstGeom prst="rect">
            <a:avLst/>
          </a:prstGeom>
          <a:solidFill>
            <a:srgbClr val="FFFFFF"/>
          </a:solidFill>
          <a:ln w="9525">
            <a:solidFill>
              <a:srgbClr val="E4D9C6"/>
            </a:solidFill>
            <a:prstDash val="solid"/>
          </a:ln>
        </p:spPr>
      </p:sp>
      <p:sp>
        <p:nvSpPr>
          <p:cNvPr id="28" name="Shape 26"/>
          <p:cNvSpPr/>
          <p:nvPr/>
        </p:nvSpPr>
        <p:spPr>
          <a:xfrm>
            <a:off x="8219237" y="1874520"/>
            <a:ext cx="3405530" cy="45720"/>
          </a:xfrm>
          <a:prstGeom prst="rect">
            <a:avLst/>
          </a:prstGeom>
          <a:solidFill>
            <a:srgbClr val="C7273B"/>
          </a:solidFill>
          <a:ln w="12700">
            <a:solidFill>
              <a:srgbClr val="C7273B"/>
            </a:solidFill>
            <a:prstDash val="solid"/>
          </a:ln>
        </p:spPr>
      </p:sp>
      <p:sp>
        <p:nvSpPr>
          <p:cNvPr id="29" name="Shape 27"/>
          <p:cNvSpPr/>
          <p:nvPr/>
        </p:nvSpPr>
        <p:spPr>
          <a:xfrm>
            <a:off x="8438693" y="2148840"/>
            <a:ext cx="420624" cy="420624"/>
          </a:xfrm>
          <a:prstGeom prst="ellipse">
            <a:avLst/>
          </a:prstGeom>
          <a:solidFill>
            <a:srgbClr val="C7273B"/>
          </a:solidFill>
          <a:ln w="12700">
            <a:solidFill>
              <a:srgbClr val="C7273B"/>
            </a:solidFill>
            <a:prstDash val="solid"/>
          </a:ln>
        </p:spPr>
      </p:sp>
      <p:sp>
        <p:nvSpPr>
          <p:cNvPr id="30" name="Text 28"/>
          <p:cNvSpPr/>
          <p:nvPr/>
        </p:nvSpPr>
        <p:spPr>
          <a:xfrm>
            <a:off x="8438693" y="2148840"/>
            <a:ext cx="420624" cy="420624"/>
          </a:xfrm>
          <a:prstGeom prst="rect">
            <a:avLst/>
          </a:prstGeom>
          <a:noFill/>
          <a:ln/>
        </p:spPr>
        <p:txBody>
          <a:bodyPr wrap="square" rtlCol="0" anchor="ctr"/>
          <a:lstStyle/>
          <a:p>
            <a:pPr eaLnBrk="1" latinLnBrk="0" hangingPunct="1" algn="ctr" indent="0" marL="0">
              <a:buNone/>
            </a:pPr>
            <a:r>
              <a:rPr lang="en-US" sz="1500" b="1" dirty="0">
                <a:solidFill>
                  <a:srgbClr val="FFFFFF"/>
                </a:solidFill>
                <a:latin typeface="Segoe UI" pitchFamily="34" charset="0"/>
                <a:ea typeface="Segoe UI" pitchFamily="34" charset="-122"/>
                <a:cs typeface="Segoe UI" pitchFamily="34" charset="-120"/>
              </a:rPr>
              <a:t>3</a:t>
            </a:r>
            <a:endParaRPr lang="en-US" sz="1500" dirty="0"/>
          </a:p>
        </p:txBody>
      </p:sp>
      <p:sp>
        <p:nvSpPr>
          <p:cNvPr id="31" name="Text 29"/>
          <p:cNvSpPr/>
          <p:nvPr/>
        </p:nvSpPr>
        <p:spPr>
          <a:xfrm>
            <a:off x="8969045" y="2112264"/>
            <a:ext cx="2491130" cy="512064"/>
          </a:xfrm>
          <a:prstGeom prst="rect">
            <a:avLst/>
          </a:prstGeom>
          <a:noFill/>
          <a:ln/>
        </p:spPr>
        <p:txBody>
          <a:bodyPr wrap="square" rtlCol="0" anchor="ctr"/>
          <a:lstStyle/>
          <a:p>
            <a:pPr eaLnBrk="1" latinLnBrk="0" hangingPunct="1" indent="0" marL="0">
              <a:buNone/>
            </a:pPr>
            <a:r>
              <a:rPr lang="ja-JP" altLang="en-US" sz="1200" b="1" dirty="0">
                <a:solidFill>
                  <a:srgbClr val="C7273B"/>
                </a:solidFill>
                <a:latin typeface="Yu Gothic" pitchFamily="34" charset="0"/>
                <a:ea typeface="Yu Gothic" pitchFamily="34" charset="-122"/>
                <a:cs typeface="Yu Gothic" pitchFamily="34" charset="-120"/>
              </a:rPr>
              <a:t>決定</a:t>
            </a:r>
            <a:endParaRPr lang="en-US" sz="1200" dirty="0"/>
          </a:p>
          <a:p>
            <a:pPr eaLnBrk="1" latinLnBrk="0" hangingPunct="1" indent="0" marL="0">
              <a:buNone/>
            </a:pPr>
            <a:r>
              <a:rPr lang="en-US" sz="850" b="1" spc="100" kern="0" dirty="0">
                <a:solidFill>
                  <a:srgbClr val="877258"/>
                </a:solidFill>
                <a:latin typeface="Segoe UI" pitchFamily="34" charset="0"/>
                <a:ea typeface="Segoe UI" pitchFamily="34" charset="-122"/>
                <a:cs typeface="Segoe UI" pitchFamily="34" charset="-120"/>
              </a:rPr>
              <a:t>QUYẾT ĐỊNH</a:t>
            </a:r>
            <a:endParaRPr lang="en-US" sz="1200" dirty="0"/>
          </a:p>
        </p:txBody>
      </p:sp>
      <p:sp>
        <p:nvSpPr>
          <p:cNvPr id="32" name="Text 30"/>
          <p:cNvSpPr/>
          <p:nvPr/>
        </p:nvSpPr>
        <p:spPr>
          <a:xfrm>
            <a:off x="8438693" y="2788920"/>
            <a:ext cx="2966618" cy="960120"/>
          </a:xfrm>
          <a:prstGeom prst="rect">
            <a:avLst/>
          </a:prstGeom>
          <a:noFill/>
          <a:ln/>
        </p:spPr>
        <p:txBody>
          <a:bodyPr wrap="square" rtlCol="0" anchor="t"/>
          <a:lstStyle/>
          <a:p>
            <a:pPr eaLnBrk="1" latinLnBrk="0" hangingPunct="1" indent="0" marL="0">
              <a:lnSpc>
                <a:spcPct val="115000"/>
              </a:lnSpc>
              <a:buNone/>
            </a:pPr>
            <a:r>
              <a:rPr lang="ja-JP" altLang="en-US" sz="1600" b="1" dirty="0">
                <a:solidFill>
                  <a:srgbClr val="331E0E"/>
                </a:solidFill>
                <a:latin typeface="Yu Mincho" pitchFamily="34" charset="0"/>
                <a:ea typeface="Yu Mincho" pitchFamily="34" charset="-122"/>
                <a:cs typeface="Yu Mincho" pitchFamily="34" charset="-120"/>
              </a:rPr>
              <a:t>上司の方々の意見も聞き、</a:t>
            </a:r>
            <a:endParaRPr lang="en-US" sz="1600" dirty="0"/>
          </a:p>
          <a:p>
            <a:pPr eaLnBrk="1" latinLnBrk="0" hangingPunct="1" indent="0" marL="0">
              <a:lnSpc>
                <a:spcPct val="115000"/>
              </a:lnSpc>
              <a:buNone/>
            </a:pPr>
            <a:r>
              <a:rPr lang="ja-JP" altLang="en-US" sz="1600" b="1" dirty="0">
                <a:solidFill>
                  <a:srgbClr val="331E0E"/>
                </a:solidFill>
                <a:latin typeface="Yu Mincho" pitchFamily="34" charset="0"/>
                <a:ea typeface="Yu Mincho" pitchFamily="34" charset="-122"/>
                <a:cs typeface="Yu Mincho" pitchFamily="34" charset="-120"/>
              </a:rPr>
              <a:t>遠鉄ストアに決定</a:t>
            </a:r>
            <a:endParaRPr lang="en-US" sz="1600" dirty="0"/>
          </a:p>
          <a:p>
            <a:pPr eaLnBrk="1" latinLnBrk="0" hangingPunct="1" indent="0" marL="0">
              <a:buNone/>
            </a:pPr>
            <a:r>
              <a:rPr lang="en-US" sz="950" dirty="0">
                <a:solidFill>
                  <a:srgbClr val="877258"/>
                </a:solidFill>
                <a:latin typeface="Segoe UI" pitchFamily="34" charset="0"/>
                <a:ea typeface="Segoe UI" pitchFamily="34" charset="-122"/>
                <a:cs typeface="Segoe UI" pitchFamily="34" charset="-120"/>
              </a:rPr>
              <a:t>Tham khảo ý kiến, quyết định chọn Entetsu Store</a:t>
            </a:r>
            <a:endParaRPr lang="en-US" sz="1600" dirty="0"/>
          </a:p>
        </p:txBody>
      </p:sp>
      <p:sp>
        <p:nvSpPr>
          <p:cNvPr id="33" name="Shape 31"/>
          <p:cNvSpPr/>
          <p:nvPr/>
        </p:nvSpPr>
        <p:spPr>
          <a:xfrm>
            <a:off x="8438693" y="3840480"/>
            <a:ext cx="2966618" cy="0"/>
          </a:xfrm>
          <a:prstGeom prst="line">
            <a:avLst/>
          </a:prstGeom>
          <a:noFill/>
          <a:ln w="9525">
            <a:solidFill>
              <a:srgbClr val="E4D9C6"/>
            </a:solidFill>
            <a:prstDash val="solid"/>
          </a:ln>
        </p:spPr>
      </p:sp>
      <p:sp>
        <p:nvSpPr>
          <p:cNvPr id="34" name="Text 32"/>
          <p:cNvSpPr/>
          <p:nvPr/>
        </p:nvSpPr>
        <p:spPr>
          <a:xfrm>
            <a:off x="8438693" y="3959352"/>
            <a:ext cx="2966618" cy="1645920"/>
          </a:xfrm>
          <a:prstGeom prst="rect">
            <a:avLst/>
          </a:prstGeom>
          <a:noFill/>
          <a:ln/>
        </p:spPr>
        <p:txBody>
          <a:bodyPr wrap="square" rtlCol="0" anchor="t"/>
          <a:lstStyle/>
          <a:p>
            <a:pPr eaLnBrk="1" latinLnBrk="0" hangingPunct="1" indent="0" marL="0">
              <a:lnSpc>
                <a:spcPct val="130000"/>
              </a:lnSpc>
              <a:buNone/>
            </a:pPr>
            <a:r>
              <a:rPr lang="ja-JP" altLang="en-US" sz="1050" dirty="0">
                <a:solidFill>
                  <a:srgbClr val="2A1A0E"/>
                </a:solidFill>
                <a:latin typeface="Yu Gothic" pitchFamily="34" charset="0"/>
                <a:ea typeface="Yu Gothic" pitchFamily="34" charset="-122"/>
                <a:cs typeface="Yu Gothic" pitchFamily="34" charset="-120"/>
              </a:rPr>
              <a:t>調べを深め、ベトナムと日本の上司の方々にもご意見をいただいたうえで、会社とテーマを決めました。</a:t>
            </a:r>
            <a:endParaRPr lang="en-US" sz="1050" dirty="0"/>
          </a:p>
          <a:p>
            <a:pPr eaLnBrk="1" latinLnBrk="0" hangingPunct="1" indent="0" marL="0">
              <a:lnSpc>
                <a:spcPct val="120000"/>
              </a:lnSpc>
              <a:spcBef>
                <a:spcPts val="500"/>
              </a:spcBef>
              <a:buNone/>
            </a:pPr>
            <a:r>
              <a:rPr lang="en-US" sz="900" dirty="0">
                <a:solidFill>
                  <a:srgbClr val="877258"/>
                </a:solidFill>
                <a:latin typeface="Segoe UI" pitchFamily="34" charset="0"/>
                <a:ea typeface="Segoe UI" pitchFamily="34" charset="-122"/>
                <a:cs typeface="Segoe UI" pitchFamily="34" charset="-120"/>
              </a:rPr>
              <a:t>Sau khi đào sâu tìm hiểu và tham khảo ý kiến của các sếp ở cả Việt Nam và Nhật Bản, em đã quyết định chọn công ty cũng như đề tài cho thử thách năm nay.</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7273B"/>
          </a:solidFill>
          <a:ln w="12700">
            <a:solidFill>
              <a:srgbClr val="C7273B"/>
            </a:solidFill>
            <a:prstDash val="solid"/>
          </a:ln>
        </p:spPr>
      </p:sp>
      <p:sp>
        <p:nvSpPr>
          <p:cNvPr id="3" name="Text 1"/>
          <p:cNvSpPr/>
          <p:nvPr/>
        </p:nvSpPr>
        <p:spPr>
          <a:xfrm>
            <a:off x="566928" y="6473952"/>
            <a:ext cx="1097280" cy="228600"/>
          </a:xfrm>
          <a:prstGeom prst="rect">
            <a:avLst/>
          </a:prstGeom>
          <a:noFill/>
          <a:ln/>
        </p:spPr>
        <p:txBody>
          <a:bodyPr wrap="square" rtlCol="0" anchor="ctr"/>
          <a:lstStyle/>
          <a:p>
            <a:pPr eaLnBrk="1" latinLnBrk="0" hangingPunct="1" indent="0" marL="0">
              <a:buNone/>
            </a:pPr>
            <a:r>
              <a:rPr lang="en-US" sz="850" spc="100" kern="0" dirty="0">
                <a:solidFill>
                  <a:srgbClr val="877258"/>
                </a:solidFill>
                <a:latin typeface="Segoe UI" pitchFamily="34" charset="0"/>
                <a:ea typeface="Segoe UI" pitchFamily="34" charset="-122"/>
                <a:cs typeface="Segoe UI" pitchFamily="34" charset="-120"/>
              </a:rPr>
              <a:t>03 / 07</a:t>
            </a:r>
            <a:endParaRPr lang="en-US" sz="850" dirty="0"/>
          </a:p>
        </p:txBody>
      </p:sp>
      <p:sp>
        <p:nvSpPr>
          <p:cNvPr id="4" name="Text 2"/>
          <p:cNvSpPr/>
          <p:nvPr/>
        </p:nvSpPr>
        <p:spPr>
          <a:xfrm>
            <a:off x="8351215" y="6473952"/>
            <a:ext cx="3291840" cy="228600"/>
          </a:xfrm>
          <a:prstGeom prst="rect">
            <a:avLst/>
          </a:prstGeom>
          <a:noFill/>
          <a:ln/>
        </p:spPr>
        <p:txBody>
          <a:bodyPr wrap="square" rtlCol="0" anchor="ctr"/>
          <a:lstStyle/>
          <a:p>
            <a:pPr eaLnBrk="1" latinLnBrk="0" hangingPunct="1" algn="r" indent="0" marL="0">
              <a:buNone/>
            </a:pPr>
            <a:r>
              <a:rPr lang="ja-JP" altLang="en-US" sz="850" dirty="0">
                <a:solidFill>
                  <a:srgbClr val="877258"/>
                </a:solidFill>
                <a:latin typeface="Yu Gothic" pitchFamily="34" charset="0"/>
                <a:ea typeface="Yu Gothic" pitchFamily="34" charset="-122"/>
                <a:cs typeface="Yu Gothic" pitchFamily="34" charset="-120"/>
              </a:rPr>
              <a:t>遠鉄ストア Webサイト改善提案</a:t>
            </a:r>
            <a:endParaRPr lang="en-US" sz="850" dirty="0"/>
          </a:p>
        </p:txBody>
      </p:sp>
      <p:sp>
        <p:nvSpPr>
          <p:cNvPr id="5" name="Text 3"/>
          <p:cNvSpPr/>
          <p:nvPr/>
        </p:nvSpPr>
        <p:spPr>
          <a:xfrm>
            <a:off x="566928" y="347472"/>
            <a:ext cx="11057839" cy="256032"/>
          </a:xfrm>
          <a:prstGeom prst="rect">
            <a:avLst/>
          </a:prstGeom>
          <a:noFill/>
          <a:ln/>
        </p:spPr>
        <p:txBody>
          <a:bodyPr wrap="square" rtlCol="0" anchor="ctr"/>
          <a:lstStyle/>
          <a:p>
            <a:pPr eaLnBrk="1" latinLnBrk="0" hangingPunct="1" indent="0" marL="0">
              <a:buNone/>
            </a:pPr>
            <a:r>
              <a:rPr lang="ja-JP" altLang="en-US" sz="1050" b="1" spc="100" kern="0" dirty="0">
                <a:solidFill>
                  <a:srgbClr val="C7273B"/>
                </a:solidFill>
                <a:latin typeface="Yu Gothic" pitchFamily="34" charset="0"/>
                <a:ea typeface="Yu Gothic" pitchFamily="34" charset="-122"/>
                <a:cs typeface="Yu Gothic" pitchFamily="34" charset="-120"/>
              </a:rPr>
              <a:t>現状の課題</a:t>
            </a:r>
            <a:pPr eaLnBrk="1" latinLnBrk="0" hangingPunct="1" indent="0" marL="0">
              <a:buNone/>
            </a:pPr>
            <a:r>
              <a:rPr lang="ja-JP" altLang="en-US" sz="1000" b="1" spc="100" kern="0" dirty="0">
                <a:solidFill>
                  <a:srgbClr val="877258"/>
                </a:solidFill>
                <a:latin typeface="Segoe UI" pitchFamily="34" charset="0"/>
                <a:ea typeface="Segoe UI" pitchFamily="34" charset="-122"/>
                <a:cs typeface="Segoe UI" pitchFamily="34" charset="-120"/>
              </a:rPr>
              <a:t>　／ VẤN ĐỀ ĐẶT RA</a:t>
            </a:r>
            <a:endParaRPr lang="en-US" sz="1050" dirty="0"/>
          </a:p>
        </p:txBody>
      </p:sp>
      <p:sp>
        <p:nvSpPr>
          <p:cNvPr id="6" name="Shape 4"/>
          <p:cNvSpPr/>
          <p:nvPr/>
        </p:nvSpPr>
        <p:spPr>
          <a:xfrm>
            <a:off x="566928" y="621792"/>
            <a:ext cx="11057839" cy="0"/>
          </a:xfrm>
          <a:prstGeom prst="line">
            <a:avLst/>
          </a:prstGeom>
          <a:noFill/>
          <a:ln w="9525">
            <a:solidFill>
              <a:srgbClr val="E4D9C6"/>
            </a:solidFill>
            <a:prstDash val="solid"/>
          </a:ln>
        </p:spPr>
      </p:sp>
      <p:sp>
        <p:nvSpPr>
          <p:cNvPr id="7" name="Text 5"/>
          <p:cNvSpPr/>
          <p:nvPr/>
        </p:nvSpPr>
        <p:spPr>
          <a:xfrm>
            <a:off x="566928" y="713232"/>
            <a:ext cx="11057839" cy="502920"/>
          </a:xfrm>
          <a:prstGeom prst="rect">
            <a:avLst/>
          </a:prstGeom>
          <a:noFill/>
          <a:ln/>
        </p:spPr>
        <p:txBody>
          <a:bodyPr wrap="square" rtlCol="0" anchor="ctr"/>
          <a:lstStyle/>
          <a:p>
            <a:pPr eaLnBrk="1" latinLnBrk="0" hangingPunct="1" indent="0" marL="0">
              <a:buNone/>
            </a:pPr>
            <a:r>
              <a:rPr lang="ja-JP" altLang="en-US" sz="2700" b="1" dirty="0">
                <a:solidFill>
                  <a:srgbClr val="331E0E"/>
                </a:solidFill>
                <a:latin typeface="Yu Mincho" pitchFamily="34" charset="0"/>
                <a:ea typeface="Yu Mincho" pitchFamily="34" charset="-122"/>
                <a:cs typeface="Yu Mincho" pitchFamily="34" charset="-120"/>
              </a:rPr>
              <a:t>ユーザー目線でサイトを使ってみて、気づいた問題</a:t>
            </a:r>
            <a:endParaRPr lang="en-US" sz="2700" dirty="0"/>
          </a:p>
        </p:txBody>
      </p:sp>
      <p:sp>
        <p:nvSpPr>
          <p:cNvPr id="8" name="Text 6"/>
          <p:cNvSpPr/>
          <p:nvPr/>
        </p:nvSpPr>
        <p:spPr>
          <a:xfrm>
            <a:off x="566928" y="1225296"/>
            <a:ext cx="11057839" cy="274320"/>
          </a:xfrm>
          <a:prstGeom prst="rect">
            <a:avLst/>
          </a:prstGeom>
          <a:noFill/>
          <a:ln/>
        </p:spPr>
        <p:txBody>
          <a:bodyPr wrap="square" rtlCol="0" anchor="ctr"/>
          <a:lstStyle/>
          <a:p>
            <a:pPr eaLnBrk="1" latinLnBrk="0" hangingPunct="1" indent="0" marL="0">
              <a:buNone/>
            </a:pPr>
            <a:r>
              <a:rPr lang="en-US" sz="1250" dirty="0">
                <a:solidFill>
                  <a:srgbClr val="877258"/>
                </a:solidFill>
                <a:latin typeface="Segoe UI" pitchFamily="34" charset="0"/>
                <a:ea typeface="Segoe UI" pitchFamily="34" charset="-122"/>
                <a:cs typeface="Segoe UI" pitchFamily="34" charset="-120"/>
              </a:rPr>
              <a:t>Những vấn đề nhận ra sau khi tự dùng website như một người dùng</a:t>
            </a:r>
            <a:endParaRPr lang="en-US" sz="1250" dirty="0"/>
          </a:p>
        </p:txBody>
      </p:sp>
      <p:sp>
        <p:nvSpPr>
          <p:cNvPr id="9" name="Shape 7"/>
          <p:cNvSpPr/>
          <p:nvPr/>
        </p:nvSpPr>
        <p:spPr>
          <a:xfrm>
            <a:off x="566928" y="1783080"/>
            <a:ext cx="5437480" cy="1024128"/>
          </a:xfrm>
          <a:prstGeom prst="rect">
            <a:avLst/>
          </a:prstGeom>
          <a:solidFill>
            <a:srgbClr val="FBF0F1"/>
          </a:solidFill>
          <a:ln w="12700">
            <a:solidFill>
              <a:srgbClr val="FBF0F1"/>
            </a:solidFill>
            <a:prstDash val="solid"/>
          </a:ln>
        </p:spPr>
      </p:sp>
      <p:sp>
        <p:nvSpPr>
          <p:cNvPr id="10" name="Shape 8"/>
          <p:cNvSpPr/>
          <p:nvPr/>
        </p:nvSpPr>
        <p:spPr>
          <a:xfrm>
            <a:off x="566928" y="1783080"/>
            <a:ext cx="54864" cy="1024128"/>
          </a:xfrm>
          <a:prstGeom prst="rect">
            <a:avLst/>
          </a:prstGeom>
          <a:solidFill>
            <a:srgbClr val="C7273B"/>
          </a:solidFill>
          <a:ln w="12700">
            <a:solidFill>
              <a:srgbClr val="C7273B"/>
            </a:solidFill>
            <a:prstDash val="solid"/>
          </a:ln>
        </p:spPr>
      </p:sp>
      <p:sp>
        <p:nvSpPr>
          <p:cNvPr id="11" name="Text 9"/>
          <p:cNvSpPr/>
          <p:nvPr/>
        </p:nvSpPr>
        <p:spPr>
          <a:xfrm>
            <a:off x="822960" y="1783080"/>
            <a:ext cx="4980280" cy="1024128"/>
          </a:xfrm>
          <a:prstGeom prst="rect">
            <a:avLst/>
          </a:prstGeom>
          <a:noFill/>
          <a:ln/>
        </p:spPr>
        <p:txBody>
          <a:bodyPr wrap="square" rtlCol="0" anchor="ctr"/>
          <a:lstStyle/>
          <a:p>
            <a:pPr eaLnBrk="1" latinLnBrk="0" hangingPunct="1" indent="0" marL="0">
              <a:lnSpc>
                <a:spcPct val="115000"/>
              </a:lnSpc>
              <a:buNone/>
            </a:pPr>
            <a:r>
              <a:rPr lang="ja-JP" altLang="en-US" sz="1000" b="1" dirty="0">
                <a:solidFill>
                  <a:srgbClr val="C7273B"/>
                </a:solidFill>
                <a:latin typeface="Yu Mincho" pitchFamily="34" charset="0"/>
                <a:ea typeface="Yu Mincho" pitchFamily="34" charset="-122"/>
                <a:cs typeface="Yu Mincho" pitchFamily="34" charset="-120"/>
              </a:rPr>
              <a:t>根っこ ①</a:t>
            </a:r>
            <a:pPr eaLnBrk="1" latinLnBrk="0" hangingPunct="1" indent="0" marL="0">
              <a:lnSpc>
                <a:spcPct val="115000"/>
              </a:lnSpc>
              <a:buNone/>
            </a:pPr>
            <a:r>
              <a:rPr lang="ja-JP" altLang="en-US" sz="850" b="1" dirty="0">
                <a:solidFill>
                  <a:srgbClr val="C7273B"/>
                </a:solidFill>
                <a:latin typeface="Segoe UI" pitchFamily="34" charset="0"/>
                <a:ea typeface="Segoe UI" pitchFamily="34" charset="-122"/>
                <a:cs typeface="Segoe UI" pitchFamily="34" charset="-120"/>
              </a:rPr>
              <a:t>　／ GỐC RỄ ①</a:t>
            </a:r>
            <a:endParaRPr lang="en-US" sz="1000" dirty="0"/>
          </a:p>
          <a:p>
            <a:pPr eaLnBrk="1" latinLnBrk="0" hangingPunct="1" indent="0" marL="0">
              <a:lnSpc>
                <a:spcPct val="115000"/>
              </a:lnSpc>
              <a:buNone/>
            </a:pPr>
            <a:r>
              <a:rPr lang="ja-JP" altLang="en-US" sz="1650" b="1" dirty="0">
                <a:solidFill>
                  <a:srgbClr val="331E0E"/>
                </a:solidFill>
                <a:latin typeface="Yu Mincho" pitchFamily="34" charset="0"/>
                <a:ea typeface="Yu Mincho" pitchFamily="34" charset="-122"/>
                <a:cs typeface="Yu Mincho" pitchFamily="34" charset="-120"/>
              </a:rPr>
              <a:t>サイトが受け身で、案内も接客も弱い</a:t>
            </a:r>
            <a:endParaRPr lang="en-US" sz="1000" dirty="0"/>
          </a:p>
          <a:p>
            <a:pPr eaLnBrk="1" latinLnBrk="0" hangingPunct="1" indent="0" marL="0">
              <a:lnSpc>
                <a:spcPct val="115000"/>
              </a:lnSpc>
              <a:buNone/>
            </a:pPr>
            <a:r>
              <a:rPr lang="en-US" sz="1000" dirty="0">
                <a:solidFill>
                  <a:srgbClr val="877258"/>
                </a:solidFill>
                <a:latin typeface="Segoe UI" pitchFamily="34" charset="0"/>
                <a:ea typeface="Segoe UI" pitchFamily="34" charset="-122"/>
                <a:cs typeface="Segoe UI" pitchFamily="34" charset="-120"/>
              </a:rPr>
              <a:t>Website còn bị động, chưa chủ động dẫn dắt và chăm sóc khách</a:t>
            </a:r>
            <a:endParaRPr lang="en-US" sz="1000" dirty="0"/>
          </a:p>
        </p:txBody>
      </p:sp>
      <p:sp>
        <p:nvSpPr>
          <p:cNvPr id="12" name="Shape 10"/>
          <p:cNvSpPr/>
          <p:nvPr/>
        </p:nvSpPr>
        <p:spPr>
          <a:xfrm>
            <a:off x="6187288" y="1783080"/>
            <a:ext cx="5437480" cy="1024128"/>
          </a:xfrm>
          <a:prstGeom prst="rect">
            <a:avLst/>
          </a:prstGeom>
          <a:solidFill>
            <a:srgbClr val="FBF0F1"/>
          </a:solidFill>
          <a:ln w="12700">
            <a:solidFill>
              <a:srgbClr val="FBF0F1"/>
            </a:solidFill>
            <a:prstDash val="solid"/>
          </a:ln>
        </p:spPr>
      </p:sp>
      <p:sp>
        <p:nvSpPr>
          <p:cNvPr id="13" name="Shape 11"/>
          <p:cNvSpPr/>
          <p:nvPr/>
        </p:nvSpPr>
        <p:spPr>
          <a:xfrm>
            <a:off x="6187288" y="1783080"/>
            <a:ext cx="54864" cy="1024128"/>
          </a:xfrm>
          <a:prstGeom prst="rect">
            <a:avLst/>
          </a:prstGeom>
          <a:solidFill>
            <a:srgbClr val="C7273B"/>
          </a:solidFill>
          <a:ln w="12700">
            <a:solidFill>
              <a:srgbClr val="C7273B"/>
            </a:solidFill>
            <a:prstDash val="solid"/>
          </a:ln>
        </p:spPr>
      </p:sp>
      <p:sp>
        <p:nvSpPr>
          <p:cNvPr id="14" name="Text 12"/>
          <p:cNvSpPr/>
          <p:nvPr/>
        </p:nvSpPr>
        <p:spPr>
          <a:xfrm>
            <a:off x="6443320" y="1783080"/>
            <a:ext cx="4980280" cy="1024128"/>
          </a:xfrm>
          <a:prstGeom prst="rect">
            <a:avLst/>
          </a:prstGeom>
          <a:noFill/>
          <a:ln/>
        </p:spPr>
        <p:txBody>
          <a:bodyPr wrap="square" rtlCol="0" anchor="ctr"/>
          <a:lstStyle/>
          <a:p>
            <a:pPr eaLnBrk="1" latinLnBrk="0" hangingPunct="1" indent="0" marL="0">
              <a:lnSpc>
                <a:spcPct val="115000"/>
              </a:lnSpc>
              <a:buNone/>
            </a:pPr>
            <a:r>
              <a:rPr lang="ja-JP" altLang="en-US" sz="1000" b="1" dirty="0">
                <a:solidFill>
                  <a:srgbClr val="C7273B"/>
                </a:solidFill>
                <a:latin typeface="Yu Mincho" pitchFamily="34" charset="0"/>
                <a:ea typeface="Yu Mincho" pitchFamily="34" charset="-122"/>
                <a:cs typeface="Yu Mincho" pitchFamily="34" charset="-120"/>
              </a:rPr>
              <a:t>根っこ ②</a:t>
            </a:r>
            <a:pPr eaLnBrk="1" latinLnBrk="0" hangingPunct="1" indent="0" marL="0">
              <a:lnSpc>
                <a:spcPct val="115000"/>
              </a:lnSpc>
              <a:buNone/>
            </a:pPr>
            <a:r>
              <a:rPr lang="ja-JP" altLang="en-US" sz="850" b="1" dirty="0">
                <a:solidFill>
                  <a:srgbClr val="C7273B"/>
                </a:solidFill>
                <a:latin typeface="Segoe UI" pitchFamily="34" charset="0"/>
                <a:ea typeface="Segoe UI" pitchFamily="34" charset="-122"/>
                <a:cs typeface="Segoe UI" pitchFamily="34" charset="-120"/>
              </a:rPr>
              <a:t>　／ GỐC RỄ ②</a:t>
            </a:r>
            <a:endParaRPr lang="en-US" sz="1000" dirty="0"/>
          </a:p>
          <a:p>
            <a:pPr eaLnBrk="1" latinLnBrk="0" hangingPunct="1" indent="0" marL="0">
              <a:lnSpc>
                <a:spcPct val="115000"/>
              </a:lnSpc>
              <a:buNone/>
            </a:pPr>
            <a:r>
              <a:rPr lang="ja-JP" altLang="en-US" sz="1650" b="1" dirty="0">
                <a:solidFill>
                  <a:srgbClr val="331E0E"/>
                </a:solidFill>
                <a:latin typeface="Yu Mincho" pitchFamily="34" charset="0"/>
                <a:ea typeface="Yu Mincho" pitchFamily="34" charset="-122"/>
                <a:cs typeface="Yu Mincho" pitchFamily="34" charset="-120"/>
              </a:rPr>
              <a:t>商品データが外部サイト頼み</a:t>
            </a:r>
            <a:endParaRPr lang="en-US" sz="1000" dirty="0"/>
          </a:p>
          <a:p>
            <a:pPr eaLnBrk="1" latinLnBrk="0" hangingPunct="1" indent="0" marL="0">
              <a:lnSpc>
                <a:spcPct val="115000"/>
              </a:lnSpc>
              <a:buNone/>
            </a:pPr>
            <a:r>
              <a:rPr lang="en-US" sz="1000" dirty="0">
                <a:solidFill>
                  <a:srgbClr val="877258"/>
                </a:solidFill>
                <a:latin typeface="Segoe UI" pitchFamily="34" charset="0"/>
                <a:ea typeface="Segoe UI" pitchFamily="34" charset="-122"/>
                <a:cs typeface="Segoe UI" pitchFamily="34" charset="-120"/>
              </a:rPr>
              <a:t>Dữ liệu sản phẩm vẫn phải dựa vào trang web thứ ba</a:t>
            </a:r>
            <a:endParaRPr lang="en-US" sz="1000" dirty="0"/>
          </a:p>
        </p:txBody>
      </p:sp>
      <p:sp>
        <p:nvSpPr>
          <p:cNvPr id="15" name="Text 13"/>
          <p:cNvSpPr/>
          <p:nvPr/>
        </p:nvSpPr>
        <p:spPr>
          <a:xfrm>
            <a:off x="5821528" y="2852928"/>
            <a:ext cx="548640" cy="384048"/>
          </a:xfrm>
          <a:prstGeom prst="rect">
            <a:avLst/>
          </a:prstGeom>
          <a:noFill/>
          <a:ln/>
        </p:spPr>
        <p:txBody>
          <a:bodyPr wrap="square" rtlCol="0" anchor="ctr"/>
          <a:lstStyle/>
          <a:p>
            <a:pPr eaLnBrk="1" latinLnBrk="0" hangingPunct="1" algn="ctr" indent="0" marL="0">
              <a:buNone/>
            </a:pPr>
            <a:r>
              <a:rPr lang="en-US" sz="1400" dirty="0">
                <a:solidFill>
                  <a:srgbClr val="C7273B"/>
                </a:solidFill>
                <a:latin typeface="Yu Gothic" pitchFamily="34" charset="0"/>
                <a:ea typeface="Yu Gothic" pitchFamily="34" charset="-122"/>
                <a:cs typeface="Yu Gothic" pitchFamily="34" charset="-120"/>
              </a:rPr>
              <a:t>▼</a:t>
            </a:r>
            <a:endParaRPr lang="en-US" sz="1400" dirty="0"/>
          </a:p>
        </p:txBody>
      </p:sp>
      <p:sp>
        <p:nvSpPr>
          <p:cNvPr id="16" name="Shape 14"/>
          <p:cNvSpPr/>
          <p:nvPr/>
        </p:nvSpPr>
        <p:spPr>
          <a:xfrm>
            <a:off x="566928" y="3291840"/>
            <a:ext cx="3564026" cy="2286000"/>
          </a:xfrm>
          <a:prstGeom prst="rect">
            <a:avLst/>
          </a:prstGeom>
          <a:solidFill>
            <a:srgbClr val="FFFFFF"/>
          </a:solidFill>
          <a:ln w="9525">
            <a:solidFill>
              <a:srgbClr val="E4D9C6"/>
            </a:solidFill>
            <a:prstDash val="solid"/>
          </a:ln>
        </p:spPr>
      </p:sp>
      <p:sp>
        <p:nvSpPr>
          <p:cNvPr id="17" name="Shape 15"/>
          <p:cNvSpPr/>
          <p:nvPr/>
        </p:nvSpPr>
        <p:spPr>
          <a:xfrm>
            <a:off x="566928" y="3291840"/>
            <a:ext cx="3564026" cy="45720"/>
          </a:xfrm>
          <a:prstGeom prst="rect">
            <a:avLst/>
          </a:prstGeom>
          <a:solidFill>
            <a:srgbClr val="C7273B"/>
          </a:solidFill>
          <a:ln w="12700">
            <a:solidFill>
              <a:srgbClr val="C7273B"/>
            </a:solidFill>
            <a:prstDash val="solid"/>
          </a:ln>
        </p:spPr>
      </p:sp>
      <p:sp>
        <p:nvSpPr>
          <p:cNvPr id="18" name="Shape 16"/>
          <p:cNvSpPr/>
          <p:nvPr/>
        </p:nvSpPr>
        <p:spPr>
          <a:xfrm>
            <a:off x="768096" y="3529584"/>
            <a:ext cx="365760" cy="365760"/>
          </a:xfrm>
          <a:prstGeom prst="ellipse">
            <a:avLst/>
          </a:prstGeom>
          <a:solidFill>
            <a:srgbClr val="C7273B"/>
          </a:solidFill>
          <a:ln w="12700">
            <a:solidFill>
              <a:srgbClr val="C7273B"/>
            </a:solidFill>
            <a:prstDash val="solid"/>
          </a:ln>
        </p:spPr>
      </p:sp>
      <p:sp>
        <p:nvSpPr>
          <p:cNvPr id="19" name="Text 17"/>
          <p:cNvSpPr/>
          <p:nvPr/>
        </p:nvSpPr>
        <p:spPr>
          <a:xfrm>
            <a:off x="768096" y="3529584"/>
            <a:ext cx="365760" cy="365760"/>
          </a:xfrm>
          <a:prstGeom prst="rect">
            <a:avLst/>
          </a:prstGeom>
          <a:noFill/>
          <a:ln/>
        </p:spPr>
        <p:txBody>
          <a:bodyPr wrap="square" rtlCol="0" anchor="ctr"/>
          <a:lstStyle/>
          <a:p>
            <a:pPr eaLnBrk="1" latinLnBrk="0" hangingPunct="1" algn="ctr" indent="0" marL="0">
              <a:buNone/>
            </a:pPr>
            <a:r>
              <a:rPr lang="en-US" sz="1500" b="1" dirty="0">
                <a:solidFill>
                  <a:srgbClr val="FFFFFF"/>
                </a:solidFill>
                <a:latin typeface="Segoe UI" pitchFamily="34" charset="0"/>
                <a:ea typeface="Segoe UI" pitchFamily="34" charset="-122"/>
                <a:cs typeface="Segoe UI" pitchFamily="34" charset="-120"/>
              </a:rPr>
              <a:t>1</a:t>
            </a:r>
            <a:endParaRPr lang="en-US" sz="1500" dirty="0"/>
          </a:p>
        </p:txBody>
      </p:sp>
      <p:sp>
        <p:nvSpPr>
          <p:cNvPr id="20" name="Text 18"/>
          <p:cNvSpPr/>
          <p:nvPr/>
        </p:nvSpPr>
        <p:spPr>
          <a:xfrm>
            <a:off x="1243584" y="3474720"/>
            <a:ext cx="2741066" cy="493776"/>
          </a:xfrm>
          <a:prstGeom prst="rect">
            <a:avLst/>
          </a:prstGeom>
          <a:noFill/>
          <a:ln/>
        </p:spPr>
        <p:txBody>
          <a:bodyPr wrap="square" rtlCol="0" anchor="ctr"/>
          <a:lstStyle/>
          <a:p>
            <a:pPr eaLnBrk="1" latinLnBrk="0" hangingPunct="1" indent="0" marL="0">
              <a:buNone/>
            </a:pPr>
            <a:r>
              <a:rPr lang="ja-JP" altLang="en-US" sz="900" b="1" dirty="0">
                <a:solidFill>
                  <a:srgbClr val="C7273B"/>
                </a:solidFill>
                <a:latin typeface="Yu Gothic" pitchFamily="34" charset="0"/>
                <a:ea typeface="Yu Gothic" pitchFamily="34" charset="-122"/>
                <a:cs typeface="Yu Gothic" pitchFamily="34" charset="-120"/>
              </a:rPr>
              <a:t>場面</a:t>
            </a:r>
            <a:endParaRPr lang="en-US" sz="900" dirty="0"/>
          </a:p>
          <a:p>
            <a:pPr eaLnBrk="1" latinLnBrk="0" hangingPunct="1" indent="0" marL="0">
              <a:buNone/>
            </a:pPr>
            <a:r>
              <a:rPr lang="ja-JP" altLang="en-US" sz="1150" b="1" dirty="0">
                <a:solidFill>
                  <a:srgbClr val="2A1A0E"/>
                </a:solidFill>
                <a:latin typeface="Yu Gothic" pitchFamily="34" charset="0"/>
                <a:ea typeface="Yu Gothic" pitchFamily="34" charset="-122"/>
                <a:cs typeface="Yu Gothic" pitchFamily="34" charset="-120"/>
              </a:rPr>
              <a:t>今日、何を食べよう</a:t>
            </a:r>
            <a:endParaRPr lang="en-US" sz="900" dirty="0"/>
          </a:p>
        </p:txBody>
      </p:sp>
      <p:sp>
        <p:nvSpPr>
          <p:cNvPr id="21" name="Text 19"/>
          <p:cNvSpPr/>
          <p:nvPr/>
        </p:nvSpPr>
        <p:spPr>
          <a:xfrm>
            <a:off x="768096" y="4096512"/>
            <a:ext cx="3161690" cy="1353312"/>
          </a:xfrm>
          <a:prstGeom prst="rect">
            <a:avLst/>
          </a:prstGeom>
          <a:noFill/>
          <a:ln/>
        </p:spPr>
        <p:txBody>
          <a:bodyPr wrap="square" rtlCol="0" anchor="t"/>
          <a:lstStyle/>
          <a:p>
            <a:pPr eaLnBrk="1" latinLnBrk="0" hangingPunct="1" indent="0" marL="0">
              <a:lnSpc>
                <a:spcPct val="120000"/>
              </a:lnSpc>
              <a:buNone/>
            </a:pPr>
            <a:r>
              <a:rPr lang="ja-JP" altLang="en-US" sz="1500" b="1" dirty="0">
                <a:solidFill>
                  <a:srgbClr val="331E0E"/>
                </a:solidFill>
                <a:latin typeface="Yu Mincho" pitchFamily="34" charset="0"/>
                <a:ea typeface="Yu Mincho" pitchFamily="34" charset="-122"/>
                <a:cs typeface="Yu Mincho" pitchFamily="34" charset="-120"/>
              </a:rPr>
              <a:t>バナーから特売商品に行けず、</a:t>
            </a:r>
            <a:endParaRPr lang="en-US" sz="1500" dirty="0"/>
          </a:p>
          <a:p>
            <a:pPr eaLnBrk="1" latinLnBrk="0" hangingPunct="1" indent="0" marL="0">
              <a:lnSpc>
                <a:spcPct val="120000"/>
              </a:lnSpc>
              <a:buNone/>
            </a:pPr>
            <a:r>
              <a:rPr lang="ja-JP" altLang="en-US" sz="1500" b="1" dirty="0">
                <a:solidFill>
                  <a:srgbClr val="331E0E"/>
                </a:solidFill>
                <a:latin typeface="Yu Mincho" pitchFamily="34" charset="0"/>
                <a:ea typeface="Yu Mincho" pitchFamily="34" charset="-122"/>
                <a:cs typeface="Yu Mincho" pitchFamily="34" charset="-120"/>
              </a:rPr>
              <a:t>関連レシピの提案もない</a:t>
            </a:r>
            <a:endParaRPr lang="en-US" sz="1500" dirty="0"/>
          </a:p>
          <a:p>
            <a:pPr eaLnBrk="1" latinLnBrk="0" hangingPunct="1" indent="0" marL="0">
              <a:lnSpc>
                <a:spcPct val="120000"/>
              </a:lnSpc>
              <a:spcBef>
                <a:spcPts val="500"/>
              </a:spcBef>
              <a:buNone/>
            </a:pPr>
            <a:r>
              <a:rPr lang="en-US" sz="950" dirty="0">
                <a:solidFill>
                  <a:srgbClr val="877258"/>
                </a:solidFill>
                <a:latin typeface="Segoe UI" pitchFamily="34" charset="0"/>
                <a:ea typeface="Segoe UI" pitchFamily="34" charset="-122"/>
                <a:cs typeface="Segoe UI" pitchFamily="34" charset="-120"/>
              </a:rPr>
              <a:t>Banner khuyến mãi không có link sang sản phẩm đó, cũng không có các đề xuất về các công thức món ăn liên quan đến sản phẩm</a:t>
            </a:r>
            <a:endParaRPr lang="en-US" sz="1500" dirty="0"/>
          </a:p>
        </p:txBody>
      </p:sp>
      <p:sp>
        <p:nvSpPr>
          <p:cNvPr id="22" name="Shape 20"/>
          <p:cNvSpPr/>
          <p:nvPr/>
        </p:nvSpPr>
        <p:spPr>
          <a:xfrm>
            <a:off x="4313834" y="3291840"/>
            <a:ext cx="3564026" cy="2286000"/>
          </a:xfrm>
          <a:prstGeom prst="rect">
            <a:avLst/>
          </a:prstGeom>
          <a:solidFill>
            <a:srgbClr val="FFFFFF"/>
          </a:solidFill>
          <a:ln w="9525">
            <a:solidFill>
              <a:srgbClr val="E4D9C6"/>
            </a:solidFill>
            <a:prstDash val="solid"/>
          </a:ln>
        </p:spPr>
      </p:sp>
      <p:sp>
        <p:nvSpPr>
          <p:cNvPr id="23" name="Shape 21"/>
          <p:cNvSpPr/>
          <p:nvPr/>
        </p:nvSpPr>
        <p:spPr>
          <a:xfrm>
            <a:off x="4313834" y="3291840"/>
            <a:ext cx="3564026" cy="45720"/>
          </a:xfrm>
          <a:prstGeom prst="rect">
            <a:avLst/>
          </a:prstGeom>
          <a:solidFill>
            <a:srgbClr val="C7273B"/>
          </a:solidFill>
          <a:ln w="12700">
            <a:solidFill>
              <a:srgbClr val="C7273B"/>
            </a:solidFill>
            <a:prstDash val="solid"/>
          </a:ln>
        </p:spPr>
      </p:sp>
      <p:sp>
        <p:nvSpPr>
          <p:cNvPr id="24" name="Shape 22"/>
          <p:cNvSpPr/>
          <p:nvPr/>
        </p:nvSpPr>
        <p:spPr>
          <a:xfrm>
            <a:off x="4515002" y="3529584"/>
            <a:ext cx="365760" cy="365760"/>
          </a:xfrm>
          <a:prstGeom prst="ellipse">
            <a:avLst/>
          </a:prstGeom>
          <a:solidFill>
            <a:srgbClr val="C7273B"/>
          </a:solidFill>
          <a:ln w="12700">
            <a:solidFill>
              <a:srgbClr val="C7273B"/>
            </a:solidFill>
            <a:prstDash val="solid"/>
          </a:ln>
        </p:spPr>
      </p:sp>
      <p:sp>
        <p:nvSpPr>
          <p:cNvPr id="25" name="Text 23"/>
          <p:cNvSpPr/>
          <p:nvPr/>
        </p:nvSpPr>
        <p:spPr>
          <a:xfrm>
            <a:off x="4515002" y="3529584"/>
            <a:ext cx="365760" cy="365760"/>
          </a:xfrm>
          <a:prstGeom prst="rect">
            <a:avLst/>
          </a:prstGeom>
          <a:noFill/>
          <a:ln/>
        </p:spPr>
        <p:txBody>
          <a:bodyPr wrap="square" rtlCol="0" anchor="ctr"/>
          <a:lstStyle/>
          <a:p>
            <a:pPr eaLnBrk="1" latinLnBrk="0" hangingPunct="1" algn="ctr" indent="0" marL="0">
              <a:buNone/>
            </a:pPr>
            <a:r>
              <a:rPr lang="en-US" sz="1500" b="1" dirty="0">
                <a:solidFill>
                  <a:srgbClr val="FFFFFF"/>
                </a:solidFill>
                <a:latin typeface="Segoe UI" pitchFamily="34" charset="0"/>
                <a:ea typeface="Segoe UI" pitchFamily="34" charset="-122"/>
                <a:cs typeface="Segoe UI" pitchFamily="34" charset="-120"/>
              </a:rPr>
              <a:t>2</a:t>
            </a:r>
            <a:endParaRPr lang="en-US" sz="1500" dirty="0"/>
          </a:p>
        </p:txBody>
      </p:sp>
      <p:sp>
        <p:nvSpPr>
          <p:cNvPr id="26" name="Text 24"/>
          <p:cNvSpPr/>
          <p:nvPr/>
        </p:nvSpPr>
        <p:spPr>
          <a:xfrm>
            <a:off x="4990490" y="3474720"/>
            <a:ext cx="2741066" cy="493776"/>
          </a:xfrm>
          <a:prstGeom prst="rect">
            <a:avLst/>
          </a:prstGeom>
          <a:noFill/>
          <a:ln/>
        </p:spPr>
        <p:txBody>
          <a:bodyPr wrap="square" rtlCol="0" anchor="ctr"/>
          <a:lstStyle/>
          <a:p>
            <a:pPr eaLnBrk="1" latinLnBrk="0" hangingPunct="1" indent="0" marL="0">
              <a:buNone/>
            </a:pPr>
            <a:r>
              <a:rPr lang="ja-JP" altLang="en-US" sz="900" b="1" dirty="0">
                <a:solidFill>
                  <a:srgbClr val="C7273B"/>
                </a:solidFill>
                <a:latin typeface="Yu Gothic" pitchFamily="34" charset="0"/>
                <a:ea typeface="Yu Gothic" pitchFamily="34" charset="-122"/>
                <a:cs typeface="Yu Gothic" pitchFamily="34" charset="-120"/>
              </a:rPr>
              <a:t>場面</a:t>
            </a:r>
            <a:endParaRPr lang="en-US" sz="900" dirty="0"/>
          </a:p>
          <a:p>
            <a:pPr eaLnBrk="1" latinLnBrk="0" hangingPunct="1" indent="0" marL="0">
              <a:buNone/>
            </a:pPr>
            <a:r>
              <a:rPr lang="ja-JP" altLang="en-US" sz="1150" b="1" dirty="0">
                <a:solidFill>
                  <a:srgbClr val="2A1A0E"/>
                </a:solidFill>
                <a:latin typeface="Yu Gothic" pitchFamily="34" charset="0"/>
                <a:ea typeface="Yu Gothic" pitchFamily="34" charset="-122"/>
                <a:cs typeface="Yu Gothic" pitchFamily="34" charset="-120"/>
              </a:rPr>
              <a:t>レシピを見たあと</a:t>
            </a:r>
            <a:endParaRPr lang="en-US" sz="900" dirty="0"/>
          </a:p>
        </p:txBody>
      </p:sp>
      <p:sp>
        <p:nvSpPr>
          <p:cNvPr id="27" name="Text 25"/>
          <p:cNvSpPr/>
          <p:nvPr/>
        </p:nvSpPr>
        <p:spPr>
          <a:xfrm>
            <a:off x="4515002" y="4096512"/>
            <a:ext cx="3161690" cy="1353312"/>
          </a:xfrm>
          <a:prstGeom prst="rect">
            <a:avLst/>
          </a:prstGeom>
          <a:noFill/>
          <a:ln/>
        </p:spPr>
        <p:txBody>
          <a:bodyPr wrap="square" rtlCol="0" anchor="t"/>
          <a:lstStyle/>
          <a:p>
            <a:pPr eaLnBrk="1" latinLnBrk="0" hangingPunct="1" indent="0" marL="0">
              <a:lnSpc>
                <a:spcPct val="120000"/>
              </a:lnSpc>
              <a:buNone/>
            </a:pPr>
            <a:r>
              <a:rPr lang="ja-JP" altLang="en-US" sz="1500" b="1" dirty="0">
                <a:solidFill>
                  <a:srgbClr val="331E0E"/>
                </a:solidFill>
                <a:latin typeface="Yu Mincho" pitchFamily="34" charset="0"/>
                <a:ea typeface="Yu Mincho" pitchFamily="34" charset="-122"/>
                <a:cs typeface="Yu Mincho" pitchFamily="34" charset="-120"/>
              </a:rPr>
              <a:t>関連記事も似たレシピも無く、</a:t>
            </a:r>
            <a:endParaRPr lang="en-US" sz="1500" dirty="0"/>
          </a:p>
          <a:p>
            <a:pPr eaLnBrk="1" latinLnBrk="0" hangingPunct="1" indent="0" marL="0">
              <a:lnSpc>
                <a:spcPct val="120000"/>
              </a:lnSpc>
              <a:buNone/>
            </a:pPr>
            <a:r>
              <a:rPr lang="ja-JP" altLang="en-US" sz="1500" b="1" dirty="0">
                <a:solidFill>
                  <a:srgbClr val="331E0E"/>
                </a:solidFill>
                <a:latin typeface="Yu Mincho" pitchFamily="34" charset="0"/>
                <a:ea typeface="Yu Mincho" pitchFamily="34" charset="-122"/>
                <a:cs typeface="Yu Mincho" pitchFamily="34" charset="-120"/>
              </a:rPr>
              <a:t>選択肢が広がらない</a:t>
            </a:r>
            <a:endParaRPr lang="en-US" sz="1500" dirty="0"/>
          </a:p>
          <a:p>
            <a:pPr eaLnBrk="1" latinLnBrk="0" hangingPunct="1" indent="0" marL="0">
              <a:lnSpc>
                <a:spcPct val="120000"/>
              </a:lnSpc>
              <a:spcBef>
                <a:spcPts val="500"/>
              </a:spcBef>
              <a:buNone/>
            </a:pPr>
            <a:r>
              <a:rPr lang="en-US" sz="950" dirty="0">
                <a:solidFill>
                  <a:srgbClr val="877258"/>
                </a:solidFill>
                <a:latin typeface="Segoe UI" pitchFamily="34" charset="0"/>
                <a:ea typeface="Segoe UI" pitchFamily="34" charset="-122"/>
                <a:cs typeface="Segoe UI" pitchFamily="34" charset="-120"/>
              </a:rPr>
              <a:t>Không có bài viết liên quan hay món tương tự để xem tiếp, khách ít lựa chọn</a:t>
            </a:r>
            <a:endParaRPr lang="en-US" sz="1500" dirty="0"/>
          </a:p>
        </p:txBody>
      </p:sp>
      <p:sp>
        <p:nvSpPr>
          <p:cNvPr id="28" name="Shape 26"/>
          <p:cNvSpPr/>
          <p:nvPr/>
        </p:nvSpPr>
        <p:spPr>
          <a:xfrm>
            <a:off x="8060741" y="3291840"/>
            <a:ext cx="3564026" cy="2286000"/>
          </a:xfrm>
          <a:prstGeom prst="rect">
            <a:avLst/>
          </a:prstGeom>
          <a:solidFill>
            <a:srgbClr val="FFFFFF"/>
          </a:solidFill>
          <a:ln w="9525">
            <a:solidFill>
              <a:srgbClr val="E4D9C6"/>
            </a:solidFill>
            <a:prstDash val="solid"/>
          </a:ln>
        </p:spPr>
      </p:sp>
      <p:sp>
        <p:nvSpPr>
          <p:cNvPr id="29" name="Shape 27"/>
          <p:cNvSpPr/>
          <p:nvPr/>
        </p:nvSpPr>
        <p:spPr>
          <a:xfrm>
            <a:off x="8060741" y="3291840"/>
            <a:ext cx="3564026" cy="45720"/>
          </a:xfrm>
          <a:prstGeom prst="rect">
            <a:avLst/>
          </a:prstGeom>
          <a:solidFill>
            <a:srgbClr val="C7273B"/>
          </a:solidFill>
          <a:ln w="12700">
            <a:solidFill>
              <a:srgbClr val="C7273B"/>
            </a:solidFill>
            <a:prstDash val="solid"/>
          </a:ln>
        </p:spPr>
      </p:sp>
      <p:sp>
        <p:nvSpPr>
          <p:cNvPr id="30" name="Shape 28"/>
          <p:cNvSpPr/>
          <p:nvPr/>
        </p:nvSpPr>
        <p:spPr>
          <a:xfrm>
            <a:off x="8261909" y="3529584"/>
            <a:ext cx="365760" cy="365760"/>
          </a:xfrm>
          <a:prstGeom prst="ellipse">
            <a:avLst/>
          </a:prstGeom>
          <a:solidFill>
            <a:srgbClr val="C7273B"/>
          </a:solidFill>
          <a:ln w="12700">
            <a:solidFill>
              <a:srgbClr val="C7273B"/>
            </a:solidFill>
            <a:prstDash val="solid"/>
          </a:ln>
        </p:spPr>
      </p:sp>
      <p:sp>
        <p:nvSpPr>
          <p:cNvPr id="31" name="Text 29"/>
          <p:cNvSpPr/>
          <p:nvPr/>
        </p:nvSpPr>
        <p:spPr>
          <a:xfrm>
            <a:off x="8261909" y="3529584"/>
            <a:ext cx="365760" cy="365760"/>
          </a:xfrm>
          <a:prstGeom prst="rect">
            <a:avLst/>
          </a:prstGeom>
          <a:noFill/>
          <a:ln/>
        </p:spPr>
        <p:txBody>
          <a:bodyPr wrap="square" rtlCol="0" anchor="ctr"/>
          <a:lstStyle/>
          <a:p>
            <a:pPr eaLnBrk="1" latinLnBrk="0" hangingPunct="1" algn="ctr" indent="0" marL="0">
              <a:buNone/>
            </a:pPr>
            <a:r>
              <a:rPr lang="en-US" sz="1500" b="1" dirty="0">
                <a:solidFill>
                  <a:srgbClr val="FFFFFF"/>
                </a:solidFill>
                <a:latin typeface="Segoe UI" pitchFamily="34" charset="0"/>
                <a:ea typeface="Segoe UI" pitchFamily="34" charset="-122"/>
                <a:cs typeface="Segoe UI" pitchFamily="34" charset="-120"/>
              </a:rPr>
              <a:t>3</a:t>
            </a:r>
            <a:endParaRPr lang="en-US" sz="1500" dirty="0"/>
          </a:p>
        </p:txBody>
      </p:sp>
      <p:sp>
        <p:nvSpPr>
          <p:cNvPr id="32" name="Text 30"/>
          <p:cNvSpPr/>
          <p:nvPr/>
        </p:nvSpPr>
        <p:spPr>
          <a:xfrm>
            <a:off x="8737397" y="3474720"/>
            <a:ext cx="2741066" cy="493776"/>
          </a:xfrm>
          <a:prstGeom prst="rect">
            <a:avLst/>
          </a:prstGeom>
          <a:noFill/>
          <a:ln/>
        </p:spPr>
        <p:txBody>
          <a:bodyPr wrap="square" rtlCol="0" anchor="ctr"/>
          <a:lstStyle/>
          <a:p>
            <a:pPr eaLnBrk="1" latinLnBrk="0" hangingPunct="1" indent="0" marL="0">
              <a:buNone/>
            </a:pPr>
            <a:r>
              <a:rPr lang="ja-JP" altLang="en-US" sz="900" b="1" dirty="0">
                <a:solidFill>
                  <a:srgbClr val="C7273B"/>
                </a:solidFill>
                <a:latin typeface="Yu Gothic" pitchFamily="34" charset="0"/>
                <a:ea typeface="Yu Gothic" pitchFamily="34" charset="-122"/>
                <a:cs typeface="Yu Gothic" pitchFamily="34" charset="-120"/>
              </a:rPr>
              <a:t>場面</a:t>
            </a:r>
            <a:endParaRPr lang="en-US" sz="900" dirty="0"/>
          </a:p>
          <a:p>
            <a:pPr eaLnBrk="1" latinLnBrk="0" hangingPunct="1" indent="0" marL="0">
              <a:buNone/>
            </a:pPr>
            <a:r>
              <a:rPr lang="ja-JP" altLang="en-US" sz="1150" b="1" dirty="0">
                <a:solidFill>
                  <a:srgbClr val="2A1A0E"/>
                </a:solidFill>
                <a:latin typeface="Yu Gothic" pitchFamily="34" charset="0"/>
                <a:ea typeface="Yu Gothic" pitchFamily="34" charset="-122"/>
                <a:cs typeface="Yu Gothic" pitchFamily="34" charset="-120"/>
              </a:rPr>
              <a:t>買う量と予算を決める</a:t>
            </a:r>
            <a:endParaRPr lang="en-US" sz="900" dirty="0"/>
          </a:p>
        </p:txBody>
      </p:sp>
      <p:sp>
        <p:nvSpPr>
          <p:cNvPr id="33" name="Text 31"/>
          <p:cNvSpPr/>
          <p:nvPr/>
        </p:nvSpPr>
        <p:spPr>
          <a:xfrm>
            <a:off x="8261909" y="4096512"/>
            <a:ext cx="3161690" cy="1353312"/>
          </a:xfrm>
          <a:prstGeom prst="rect">
            <a:avLst/>
          </a:prstGeom>
          <a:noFill/>
          <a:ln/>
        </p:spPr>
        <p:txBody>
          <a:bodyPr wrap="square" rtlCol="0" anchor="t"/>
          <a:lstStyle/>
          <a:p>
            <a:pPr eaLnBrk="1" latinLnBrk="0" hangingPunct="1" indent="0" marL="0">
              <a:lnSpc>
                <a:spcPct val="120000"/>
              </a:lnSpc>
              <a:buNone/>
            </a:pPr>
            <a:r>
              <a:rPr lang="ja-JP" altLang="en-US" sz="1500" b="1" dirty="0">
                <a:solidFill>
                  <a:srgbClr val="331E0E"/>
                </a:solidFill>
                <a:latin typeface="Yu Mincho" pitchFamily="34" charset="0"/>
                <a:ea typeface="Yu Mincho" pitchFamily="34" charset="-122"/>
                <a:cs typeface="Yu Mincho" pitchFamily="34" charset="-120"/>
              </a:rPr>
              <a:t>材料の価格も特売も分からず、</a:t>
            </a:r>
            <a:endParaRPr lang="en-US" sz="1500" dirty="0"/>
          </a:p>
          <a:p>
            <a:pPr eaLnBrk="1" latinLnBrk="0" hangingPunct="1" indent="0" marL="0">
              <a:lnSpc>
                <a:spcPct val="120000"/>
              </a:lnSpc>
              <a:buNone/>
            </a:pPr>
            <a:r>
              <a:rPr lang="ja-JP" altLang="en-US" sz="1500" b="1" dirty="0">
                <a:solidFill>
                  <a:srgbClr val="331E0E"/>
                </a:solidFill>
                <a:latin typeface="Yu Mincho" pitchFamily="34" charset="0"/>
                <a:ea typeface="Yu Mincho" pitchFamily="34" charset="-122"/>
                <a:cs typeface="Yu Mincho" pitchFamily="34" charset="-120"/>
              </a:rPr>
              <a:t>予算で選べない</a:t>
            </a:r>
            <a:endParaRPr lang="en-US" sz="1500" dirty="0"/>
          </a:p>
          <a:p>
            <a:pPr eaLnBrk="1" latinLnBrk="0" hangingPunct="1" indent="0" marL="0">
              <a:lnSpc>
                <a:spcPct val="120000"/>
              </a:lnSpc>
              <a:spcBef>
                <a:spcPts val="500"/>
              </a:spcBef>
              <a:buNone/>
            </a:pPr>
            <a:r>
              <a:rPr lang="en-US" sz="950" dirty="0">
                <a:solidFill>
                  <a:srgbClr val="877258"/>
                </a:solidFill>
                <a:latin typeface="Segoe UI" pitchFamily="34" charset="0"/>
                <a:ea typeface="Segoe UI" pitchFamily="34" charset="-122"/>
                <a:cs typeface="Segoe UI" pitchFamily="34" charset="-120"/>
              </a:rPr>
              <a:t>Nguyên liệu không có giá, không rõ đang KM — khách khó tính tiền, khó chọn món theo túi tiền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7273B"/>
          </a:solidFill>
          <a:ln w="12700">
            <a:solidFill>
              <a:srgbClr val="C7273B"/>
            </a:solidFill>
            <a:prstDash val="solid"/>
          </a:ln>
        </p:spPr>
      </p:sp>
      <p:sp>
        <p:nvSpPr>
          <p:cNvPr id="3" name="Text 1"/>
          <p:cNvSpPr/>
          <p:nvPr/>
        </p:nvSpPr>
        <p:spPr>
          <a:xfrm>
            <a:off x="566928" y="6473952"/>
            <a:ext cx="1097280" cy="228600"/>
          </a:xfrm>
          <a:prstGeom prst="rect">
            <a:avLst/>
          </a:prstGeom>
          <a:noFill/>
          <a:ln/>
        </p:spPr>
        <p:txBody>
          <a:bodyPr wrap="square" rtlCol="0" anchor="ctr"/>
          <a:lstStyle/>
          <a:p>
            <a:pPr eaLnBrk="1" latinLnBrk="0" hangingPunct="1" indent="0" marL="0">
              <a:buNone/>
            </a:pPr>
            <a:r>
              <a:rPr lang="en-US" sz="850" spc="100" kern="0" dirty="0">
                <a:solidFill>
                  <a:srgbClr val="877258"/>
                </a:solidFill>
                <a:latin typeface="Segoe UI" pitchFamily="34" charset="0"/>
                <a:ea typeface="Segoe UI" pitchFamily="34" charset="-122"/>
                <a:cs typeface="Segoe UI" pitchFamily="34" charset="-120"/>
              </a:rPr>
              <a:t>04 / 07</a:t>
            </a:r>
            <a:endParaRPr lang="en-US" sz="850" dirty="0"/>
          </a:p>
        </p:txBody>
      </p:sp>
      <p:sp>
        <p:nvSpPr>
          <p:cNvPr id="4" name="Text 2"/>
          <p:cNvSpPr/>
          <p:nvPr/>
        </p:nvSpPr>
        <p:spPr>
          <a:xfrm>
            <a:off x="8351215" y="6473952"/>
            <a:ext cx="3291840" cy="228600"/>
          </a:xfrm>
          <a:prstGeom prst="rect">
            <a:avLst/>
          </a:prstGeom>
          <a:noFill/>
          <a:ln/>
        </p:spPr>
        <p:txBody>
          <a:bodyPr wrap="square" rtlCol="0" anchor="ctr"/>
          <a:lstStyle/>
          <a:p>
            <a:pPr eaLnBrk="1" latinLnBrk="0" hangingPunct="1" algn="r" indent="0" marL="0">
              <a:buNone/>
            </a:pPr>
            <a:r>
              <a:rPr lang="ja-JP" altLang="en-US" sz="850" dirty="0">
                <a:solidFill>
                  <a:srgbClr val="877258"/>
                </a:solidFill>
                <a:latin typeface="Yu Gothic" pitchFamily="34" charset="0"/>
                <a:ea typeface="Yu Gothic" pitchFamily="34" charset="-122"/>
                <a:cs typeface="Yu Gothic" pitchFamily="34" charset="-120"/>
              </a:rPr>
              <a:t>遠鉄ストア Webサイト改善提案</a:t>
            </a:r>
            <a:endParaRPr lang="en-US" sz="850" dirty="0"/>
          </a:p>
        </p:txBody>
      </p:sp>
      <p:sp>
        <p:nvSpPr>
          <p:cNvPr id="5" name="Text 3"/>
          <p:cNvSpPr/>
          <p:nvPr/>
        </p:nvSpPr>
        <p:spPr>
          <a:xfrm>
            <a:off x="566928" y="347472"/>
            <a:ext cx="11057839" cy="256032"/>
          </a:xfrm>
          <a:prstGeom prst="rect">
            <a:avLst/>
          </a:prstGeom>
          <a:noFill/>
          <a:ln/>
        </p:spPr>
        <p:txBody>
          <a:bodyPr wrap="square" rtlCol="0" anchor="ctr"/>
          <a:lstStyle/>
          <a:p>
            <a:pPr eaLnBrk="1" latinLnBrk="0" hangingPunct="1" indent="0" marL="0">
              <a:buNone/>
            </a:pPr>
            <a:r>
              <a:rPr lang="ja-JP" altLang="en-US" sz="1050" b="1" spc="100" kern="0" dirty="0">
                <a:solidFill>
                  <a:srgbClr val="C7273B"/>
                </a:solidFill>
                <a:latin typeface="Yu Gothic" pitchFamily="34" charset="0"/>
                <a:ea typeface="Yu Gothic" pitchFamily="34" charset="-122"/>
                <a:cs typeface="Yu Gothic" pitchFamily="34" charset="-120"/>
              </a:rPr>
              <a:t>ソリューション</a:t>
            </a:r>
            <a:pPr eaLnBrk="1" latinLnBrk="0" hangingPunct="1" indent="0" marL="0">
              <a:buNone/>
            </a:pPr>
            <a:r>
              <a:rPr lang="ja-JP" altLang="en-US" sz="1000" b="1" spc="100" kern="0" dirty="0">
                <a:solidFill>
                  <a:srgbClr val="877258"/>
                </a:solidFill>
                <a:latin typeface="Segoe UI" pitchFamily="34" charset="0"/>
                <a:ea typeface="Segoe UI" pitchFamily="34" charset="-122"/>
                <a:cs typeface="Segoe UI" pitchFamily="34" charset="-120"/>
              </a:rPr>
              <a:t>　／ GIẢI PHÁP</a:t>
            </a:r>
            <a:endParaRPr lang="en-US" sz="1050" dirty="0"/>
          </a:p>
        </p:txBody>
      </p:sp>
      <p:sp>
        <p:nvSpPr>
          <p:cNvPr id="6" name="Shape 4"/>
          <p:cNvSpPr/>
          <p:nvPr/>
        </p:nvSpPr>
        <p:spPr>
          <a:xfrm>
            <a:off x="566928" y="621792"/>
            <a:ext cx="11057839" cy="0"/>
          </a:xfrm>
          <a:prstGeom prst="line">
            <a:avLst/>
          </a:prstGeom>
          <a:noFill/>
          <a:ln w="9525">
            <a:solidFill>
              <a:srgbClr val="E4D9C6"/>
            </a:solidFill>
            <a:prstDash val="solid"/>
          </a:ln>
        </p:spPr>
      </p:sp>
      <p:sp>
        <p:nvSpPr>
          <p:cNvPr id="7" name="Text 5"/>
          <p:cNvSpPr/>
          <p:nvPr/>
        </p:nvSpPr>
        <p:spPr>
          <a:xfrm>
            <a:off x="566928" y="713232"/>
            <a:ext cx="11057839" cy="502920"/>
          </a:xfrm>
          <a:prstGeom prst="rect">
            <a:avLst/>
          </a:prstGeom>
          <a:noFill/>
          <a:ln/>
        </p:spPr>
        <p:txBody>
          <a:bodyPr wrap="square" rtlCol="0" anchor="ctr"/>
          <a:lstStyle/>
          <a:p>
            <a:pPr eaLnBrk="1" latinLnBrk="0" hangingPunct="1" indent="0" marL="0">
              <a:buNone/>
            </a:pPr>
            <a:r>
              <a:rPr lang="ja-JP" altLang="en-US" sz="2700" b="1" dirty="0">
                <a:solidFill>
                  <a:srgbClr val="331E0E"/>
                </a:solidFill>
                <a:latin typeface="Yu Mincho" pitchFamily="34" charset="0"/>
                <a:ea typeface="Yu Mincho" pitchFamily="34" charset="-122"/>
                <a:cs typeface="Yu Mincho" pitchFamily="34" charset="-120"/>
              </a:rPr>
              <a:t>待つサイトから、案内するサイトへ</a:t>
            </a:r>
            <a:endParaRPr lang="en-US" sz="2700" dirty="0"/>
          </a:p>
        </p:txBody>
      </p:sp>
      <p:sp>
        <p:nvSpPr>
          <p:cNvPr id="8" name="Text 6"/>
          <p:cNvSpPr/>
          <p:nvPr/>
        </p:nvSpPr>
        <p:spPr>
          <a:xfrm>
            <a:off x="566928" y="1225296"/>
            <a:ext cx="11057839" cy="274320"/>
          </a:xfrm>
          <a:prstGeom prst="rect">
            <a:avLst/>
          </a:prstGeom>
          <a:noFill/>
          <a:ln/>
        </p:spPr>
        <p:txBody>
          <a:bodyPr wrap="square" rtlCol="0" anchor="ctr"/>
          <a:lstStyle/>
          <a:p>
            <a:pPr eaLnBrk="1" latinLnBrk="0" hangingPunct="1" indent="0" marL="0">
              <a:buNone/>
            </a:pPr>
            <a:r>
              <a:rPr lang="en-US" sz="1250" dirty="0">
                <a:solidFill>
                  <a:srgbClr val="877258"/>
                </a:solidFill>
                <a:latin typeface="Segoe UI" pitchFamily="34" charset="0"/>
                <a:ea typeface="Segoe UI" pitchFamily="34" charset="-122"/>
                <a:cs typeface="Segoe UI" pitchFamily="34" charset="-120"/>
              </a:rPr>
              <a:t>Từ website chỉ nằm chờ sang website biết dẫn đường cho khách</a:t>
            </a:r>
            <a:endParaRPr lang="en-US" sz="1250" dirty="0"/>
          </a:p>
        </p:txBody>
      </p:sp>
      <p:sp>
        <p:nvSpPr>
          <p:cNvPr id="9" name="Text 7"/>
          <p:cNvSpPr/>
          <p:nvPr/>
        </p:nvSpPr>
        <p:spPr>
          <a:xfrm>
            <a:off x="566928" y="1682496"/>
            <a:ext cx="11057839" cy="237744"/>
          </a:xfrm>
          <a:prstGeom prst="rect">
            <a:avLst/>
          </a:prstGeom>
          <a:noFill/>
          <a:ln/>
        </p:spPr>
        <p:txBody>
          <a:bodyPr wrap="square" rtlCol="0" anchor="ctr"/>
          <a:lstStyle/>
          <a:p>
            <a:pPr eaLnBrk="1" latinLnBrk="0" hangingPunct="1" indent="0" marL="0">
              <a:buNone/>
            </a:pPr>
            <a:r>
              <a:rPr lang="ja-JP" altLang="en-US" sz="1000" b="1" spc="100" kern="0" dirty="0">
                <a:solidFill>
                  <a:srgbClr val="C7273B"/>
                </a:solidFill>
                <a:latin typeface="Yu Gothic" pitchFamily="34" charset="0"/>
                <a:ea typeface="Yu Gothic" pitchFamily="34" charset="-122"/>
                <a:cs typeface="Yu Gothic" pitchFamily="34" charset="-120"/>
              </a:rPr>
              <a:t>主な機能</a:t>
            </a:r>
            <a:pPr eaLnBrk="1" latinLnBrk="0" hangingPunct="1" indent="0" marL="0">
              <a:buNone/>
            </a:pPr>
            <a:r>
              <a:rPr lang="ja-JP" altLang="en-US" sz="850" b="1" spc="100" kern="0" dirty="0">
                <a:solidFill>
                  <a:srgbClr val="877258"/>
                </a:solidFill>
                <a:latin typeface="Segoe UI" pitchFamily="34" charset="0"/>
                <a:ea typeface="Segoe UI" pitchFamily="34" charset="-122"/>
                <a:cs typeface="Segoe UI" pitchFamily="34" charset="-120"/>
              </a:rPr>
              <a:t>　／ TÍNH NĂNG CHÍNH</a:t>
            </a:r>
            <a:endParaRPr lang="en-US" sz="1000" dirty="0"/>
          </a:p>
        </p:txBody>
      </p:sp>
      <p:sp>
        <p:nvSpPr>
          <p:cNvPr id="10" name="Shape 8"/>
          <p:cNvSpPr/>
          <p:nvPr/>
        </p:nvSpPr>
        <p:spPr>
          <a:xfrm>
            <a:off x="566928" y="1956816"/>
            <a:ext cx="2079894" cy="1572768"/>
          </a:xfrm>
          <a:prstGeom prst="rect">
            <a:avLst/>
          </a:prstGeom>
          <a:solidFill>
            <a:srgbClr val="FFFFFF"/>
          </a:solidFill>
          <a:ln w="9525">
            <a:solidFill>
              <a:srgbClr val="E4D9C6"/>
            </a:solidFill>
            <a:prstDash val="solid"/>
          </a:ln>
        </p:spPr>
      </p:sp>
      <p:sp>
        <p:nvSpPr>
          <p:cNvPr id="11" name="Shape 9"/>
          <p:cNvSpPr/>
          <p:nvPr/>
        </p:nvSpPr>
        <p:spPr>
          <a:xfrm>
            <a:off x="566928" y="1956816"/>
            <a:ext cx="2079894" cy="45720"/>
          </a:xfrm>
          <a:prstGeom prst="rect">
            <a:avLst/>
          </a:prstGeom>
          <a:solidFill>
            <a:srgbClr val="C7273B"/>
          </a:solidFill>
          <a:ln w="12700">
            <a:solidFill>
              <a:srgbClr val="C7273B"/>
            </a:solidFill>
            <a:prstDash val="solid"/>
          </a:ln>
        </p:spPr>
      </p:sp>
      <p:sp>
        <p:nvSpPr>
          <p:cNvPr id="12" name="Shape 10"/>
          <p:cNvSpPr/>
          <p:nvPr/>
        </p:nvSpPr>
        <p:spPr>
          <a:xfrm>
            <a:off x="731520" y="2139696"/>
            <a:ext cx="329184" cy="329184"/>
          </a:xfrm>
          <a:prstGeom prst="ellipse">
            <a:avLst/>
          </a:prstGeom>
          <a:solidFill>
            <a:srgbClr val="C7273B"/>
          </a:solidFill>
          <a:ln w="12700">
            <a:solidFill>
              <a:srgbClr val="C7273B"/>
            </a:solidFill>
            <a:prstDash val="solid"/>
          </a:ln>
        </p:spPr>
      </p:sp>
      <p:sp>
        <p:nvSpPr>
          <p:cNvPr id="13" name="Text 11"/>
          <p:cNvSpPr/>
          <p:nvPr/>
        </p:nvSpPr>
        <p:spPr>
          <a:xfrm>
            <a:off x="731520" y="2139696"/>
            <a:ext cx="329184" cy="329184"/>
          </a:xfrm>
          <a:prstGeom prst="rect">
            <a:avLst/>
          </a:prstGeom>
          <a:noFill/>
          <a:ln/>
        </p:spPr>
        <p:txBody>
          <a:bodyPr wrap="square" rtlCol="0" anchor="ctr"/>
          <a:lstStyle/>
          <a:p>
            <a:pPr eaLnBrk="1" latinLnBrk="0" hangingPunct="1" algn="ctr" indent="0" marL="0">
              <a:buNone/>
            </a:pPr>
            <a:r>
              <a:rPr lang="en-US" sz="1500" b="1" dirty="0">
                <a:solidFill>
                  <a:srgbClr val="FFFFFF"/>
                </a:solidFill>
                <a:latin typeface="Segoe UI" pitchFamily="34" charset="0"/>
                <a:ea typeface="Segoe UI" pitchFamily="34" charset="-122"/>
                <a:cs typeface="Segoe UI" pitchFamily="34" charset="-120"/>
              </a:rPr>
              <a:t>1</a:t>
            </a:r>
            <a:endParaRPr lang="en-US" sz="1500" dirty="0"/>
          </a:p>
        </p:txBody>
      </p:sp>
      <p:sp>
        <p:nvSpPr>
          <p:cNvPr id="14" name="Text 12"/>
          <p:cNvSpPr/>
          <p:nvPr/>
        </p:nvSpPr>
        <p:spPr>
          <a:xfrm>
            <a:off x="731520" y="2560320"/>
            <a:ext cx="1805574" cy="877824"/>
          </a:xfrm>
          <a:prstGeom prst="rect">
            <a:avLst/>
          </a:prstGeom>
          <a:noFill/>
          <a:ln/>
        </p:spPr>
        <p:txBody>
          <a:bodyPr wrap="square" rtlCol="0" anchor="t"/>
          <a:lstStyle/>
          <a:p>
            <a:pPr eaLnBrk="1" latinLnBrk="0" hangingPunct="1" indent="0" marL="0">
              <a:lnSpc>
                <a:spcPct val="115000"/>
              </a:lnSpc>
              <a:buNone/>
            </a:pPr>
            <a:r>
              <a:rPr lang="ja-JP" altLang="en-US" sz="1400" b="1" dirty="0">
                <a:solidFill>
                  <a:srgbClr val="331E0E"/>
                </a:solidFill>
                <a:latin typeface="Yu Mincho" pitchFamily="34" charset="0"/>
                <a:ea typeface="Yu Mincho" pitchFamily="34" charset="-122"/>
                <a:cs typeface="Yu Mincho" pitchFamily="34" charset="-120"/>
              </a:rPr>
              <a:t>なんでも検索</a:t>
            </a:r>
            <a:endParaRPr lang="en-US" sz="1400" dirty="0"/>
          </a:p>
          <a:p>
            <a:pPr eaLnBrk="1" latinLnBrk="0" hangingPunct="1" indent="0" marL="0">
              <a:lnSpc>
                <a:spcPct val="115000"/>
              </a:lnSpc>
              <a:buNone/>
            </a:pPr>
            <a:r>
              <a:rPr lang="en-US" sz="900" dirty="0">
                <a:solidFill>
                  <a:srgbClr val="877258"/>
                </a:solidFill>
                <a:latin typeface="Segoe UI" pitchFamily="34" charset="0"/>
                <a:ea typeface="Segoe UI" pitchFamily="34" charset="-122"/>
                <a:cs typeface="Segoe UI" pitchFamily="34" charset="-120"/>
              </a:rPr>
              <a:t>Thanh tìm kiếm cho cả site</a:t>
            </a:r>
            <a:endParaRPr lang="en-US" sz="1400" dirty="0"/>
          </a:p>
        </p:txBody>
      </p:sp>
      <p:sp>
        <p:nvSpPr>
          <p:cNvPr id="15" name="Shape 13"/>
          <p:cNvSpPr/>
          <p:nvPr/>
        </p:nvSpPr>
        <p:spPr>
          <a:xfrm>
            <a:off x="2811414" y="1956816"/>
            <a:ext cx="2079894" cy="1572768"/>
          </a:xfrm>
          <a:prstGeom prst="rect">
            <a:avLst/>
          </a:prstGeom>
          <a:solidFill>
            <a:srgbClr val="FFFFFF"/>
          </a:solidFill>
          <a:ln w="9525">
            <a:solidFill>
              <a:srgbClr val="E4D9C6"/>
            </a:solidFill>
            <a:prstDash val="solid"/>
          </a:ln>
        </p:spPr>
      </p:sp>
      <p:sp>
        <p:nvSpPr>
          <p:cNvPr id="16" name="Shape 14"/>
          <p:cNvSpPr/>
          <p:nvPr/>
        </p:nvSpPr>
        <p:spPr>
          <a:xfrm>
            <a:off x="2811414" y="1956816"/>
            <a:ext cx="2079894" cy="45720"/>
          </a:xfrm>
          <a:prstGeom prst="rect">
            <a:avLst/>
          </a:prstGeom>
          <a:solidFill>
            <a:srgbClr val="C7273B"/>
          </a:solidFill>
          <a:ln w="12700">
            <a:solidFill>
              <a:srgbClr val="C7273B"/>
            </a:solidFill>
            <a:prstDash val="solid"/>
          </a:ln>
        </p:spPr>
      </p:sp>
      <p:sp>
        <p:nvSpPr>
          <p:cNvPr id="17" name="Shape 15"/>
          <p:cNvSpPr/>
          <p:nvPr/>
        </p:nvSpPr>
        <p:spPr>
          <a:xfrm>
            <a:off x="2976006" y="2139696"/>
            <a:ext cx="329184" cy="329184"/>
          </a:xfrm>
          <a:prstGeom prst="ellipse">
            <a:avLst/>
          </a:prstGeom>
          <a:solidFill>
            <a:srgbClr val="C7273B"/>
          </a:solidFill>
          <a:ln w="12700">
            <a:solidFill>
              <a:srgbClr val="C7273B"/>
            </a:solidFill>
            <a:prstDash val="solid"/>
          </a:ln>
        </p:spPr>
      </p:sp>
      <p:sp>
        <p:nvSpPr>
          <p:cNvPr id="18" name="Text 16"/>
          <p:cNvSpPr/>
          <p:nvPr/>
        </p:nvSpPr>
        <p:spPr>
          <a:xfrm>
            <a:off x="2976006" y="2139696"/>
            <a:ext cx="329184" cy="329184"/>
          </a:xfrm>
          <a:prstGeom prst="rect">
            <a:avLst/>
          </a:prstGeom>
          <a:noFill/>
          <a:ln/>
        </p:spPr>
        <p:txBody>
          <a:bodyPr wrap="square" rtlCol="0" anchor="ctr"/>
          <a:lstStyle/>
          <a:p>
            <a:pPr eaLnBrk="1" latinLnBrk="0" hangingPunct="1" algn="ctr" indent="0" marL="0">
              <a:buNone/>
            </a:pPr>
            <a:r>
              <a:rPr lang="en-US" sz="1500" b="1" dirty="0">
                <a:solidFill>
                  <a:srgbClr val="FFFFFF"/>
                </a:solidFill>
                <a:latin typeface="Segoe UI" pitchFamily="34" charset="0"/>
                <a:ea typeface="Segoe UI" pitchFamily="34" charset="-122"/>
                <a:cs typeface="Segoe UI" pitchFamily="34" charset="-120"/>
              </a:rPr>
              <a:t>2</a:t>
            </a:r>
            <a:endParaRPr lang="en-US" sz="1500" dirty="0"/>
          </a:p>
        </p:txBody>
      </p:sp>
      <p:sp>
        <p:nvSpPr>
          <p:cNvPr id="19" name="Text 17"/>
          <p:cNvSpPr/>
          <p:nvPr/>
        </p:nvSpPr>
        <p:spPr>
          <a:xfrm>
            <a:off x="2976006" y="2560320"/>
            <a:ext cx="1805574" cy="877824"/>
          </a:xfrm>
          <a:prstGeom prst="rect">
            <a:avLst/>
          </a:prstGeom>
          <a:noFill/>
          <a:ln/>
        </p:spPr>
        <p:txBody>
          <a:bodyPr wrap="square" rtlCol="0" anchor="t"/>
          <a:lstStyle/>
          <a:p>
            <a:pPr eaLnBrk="1" latinLnBrk="0" hangingPunct="1" indent="0" marL="0">
              <a:lnSpc>
                <a:spcPct val="115000"/>
              </a:lnSpc>
              <a:buNone/>
            </a:pPr>
            <a:r>
              <a:rPr lang="ja-JP" altLang="en-US" sz="1400" b="1" dirty="0">
                <a:solidFill>
                  <a:srgbClr val="331E0E"/>
                </a:solidFill>
                <a:latin typeface="Yu Mincho" pitchFamily="34" charset="0"/>
                <a:ea typeface="Yu Mincho" pitchFamily="34" charset="-122"/>
                <a:cs typeface="Yu Mincho" pitchFamily="34" charset="-120"/>
              </a:rPr>
              <a:t>AIチャットボット</a:t>
            </a:r>
            <a:endParaRPr lang="en-US" sz="1400" dirty="0"/>
          </a:p>
          <a:p>
            <a:pPr eaLnBrk="1" latinLnBrk="0" hangingPunct="1" indent="0" marL="0">
              <a:lnSpc>
                <a:spcPct val="115000"/>
              </a:lnSpc>
              <a:buNone/>
            </a:pPr>
            <a:r>
              <a:rPr lang="en-US" sz="900" dirty="0">
                <a:solidFill>
                  <a:srgbClr val="877258"/>
                </a:solidFill>
                <a:latin typeface="Segoe UI" pitchFamily="34" charset="0"/>
                <a:ea typeface="Segoe UI" pitchFamily="34" charset="-122"/>
                <a:cs typeface="Segoe UI" pitchFamily="34" charset="-120"/>
              </a:rPr>
              <a:t>Trợ lý hỏi đáp</a:t>
            </a:r>
            <a:endParaRPr lang="en-US" sz="1400" dirty="0"/>
          </a:p>
        </p:txBody>
      </p:sp>
      <p:sp>
        <p:nvSpPr>
          <p:cNvPr id="20" name="Shape 18"/>
          <p:cNvSpPr/>
          <p:nvPr/>
        </p:nvSpPr>
        <p:spPr>
          <a:xfrm>
            <a:off x="5055900" y="1956816"/>
            <a:ext cx="2079894" cy="1572768"/>
          </a:xfrm>
          <a:prstGeom prst="rect">
            <a:avLst/>
          </a:prstGeom>
          <a:solidFill>
            <a:srgbClr val="FFFFFF"/>
          </a:solidFill>
          <a:ln w="9525">
            <a:solidFill>
              <a:srgbClr val="E4D9C6"/>
            </a:solidFill>
            <a:prstDash val="solid"/>
          </a:ln>
        </p:spPr>
      </p:sp>
      <p:sp>
        <p:nvSpPr>
          <p:cNvPr id="21" name="Shape 19"/>
          <p:cNvSpPr/>
          <p:nvPr/>
        </p:nvSpPr>
        <p:spPr>
          <a:xfrm>
            <a:off x="5055900" y="1956816"/>
            <a:ext cx="2079894" cy="45720"/>
          </a:xfrm>
          <a:prstGeom prst="rect">
            <a:avLst/>
          </a:prstGeom>
          <a:solidFill>
            <a:srgbClr val="C7273B"/>
          </a:solidFill>
          <a:ln w="12700">
            <a:solidFill>
              <a:srgbClr val="C7273B"/>
            </a:solidFill>
            <a:prstDash val="solid"/>
          </a:ln>
        </p:spPr>
      </p:sp>
      <p:sp>
        <p:nvSpPr>
          <p:cNvPr id="22" name="Shape 20"/>
          <p:cNvSpPr/>
          <p:nvPr/>
        </p:nvSpPr>
        <p:spPr>
          <a:xfrm>
            <a:off x="5220492" y="2139696"/>
            <a:ext cx="329184" cy="329184"/>
          </a:xfrm>
          <a:prstGeom prst="ellipse">
            <a:avLst/>
          </a:prstGeom>
          <a:solidFill>
            <a:srgbClr val="C7273B"/>
          </a:solidFill>
          <a:ln w="12700">
            <a:solidFill>
              <a:srgbClr val="C7273B"/>
            </a:solidFill>
            <a:prstDash val="solid"/>
          </a:ln>
        </p:spPr>
      </p:sp>
      <p:sp>
        <p:nvSpPr>
          <p:cNvPr id="23" name="Text 21"/>
          <p:cNvSpPr/>
          <p:nvPr/>
        </p:nvSpPr>
        <p:spPr>
          <a:xfrm>
            <a:off x="5220492" y="2139696"/>
            <a:ext cx="329184" cy="329184"/>
          </a:xfrm>
          <a:prstGeom prst="rect">
            <a:avLst/>
          </a:prstGeom>
          <a:noFill/>
          <a:ln/>
        </p:spPr>
        <p:txBody>
          <a:bodyPr wrap="square" rtlCol="0" anchor="ctr"/>
          <a:lstStyle/>
          <a:p>
            <a:pPr eaLnBrk="1" latinLnBrk="0" hangingPunct="1" algn="ctr" indent="0" marL="0">
              <a:buNone/>
            </a:pPr>
            <a:r>
              <a:rPr lang="en-US" sz="1500" b="1" dirty="0">
                <a:solidFill>
                  <a:srgbClr val="FFFFFF"/>
                </a:solidFill>
                <a:latin typeface="Segoe UI" pitchFamily="34" charset="0"/>
                <a:ea typeface="Segoe UI" pitchFamily="34" charset="-122"/>
                <a:cs typeface="Segoe UI" pitchFamily="34" charset="-120"/>
              </a:rPr>
              <a:t>3</a:t>
            </a:r>
            <a:endParaRPr lang="en-US" sz="1500" dirty="0"/>
          </a:p>
        </p:txBody>
      </p:sp>
      <p:sp>
        <p:nvSpPr>
          <p:cNvPr id="24" name="Text 22"/>
          <p:cNvSpPr/>
          <p:nvPr/>
        </p:nvSpPr>
        <p:spPr>
          <a:xfrm>
            <a:off x="5220492" y="2560320"/>
            <a:ext cx="1805574" cy="877824"/>
          </a:xfrm>
          <a:prstGeom prst="rect">
            <a:avLst/>
          </a:prstGeom>
          <a:noFill/>
          <a:ln/>
        </p:spPr>
        <p:txBody>
          <a:bodyPr wrap="square" rtlCol="0" anchor="t"/>
          <a:lstStyle/>
          <a:p>
            <a:pPr eaLnBrk="1" latinLnBrk="0" hangingPunct="1" indent="0" marL="0">
              <a:lnSpc>
                <a:spcPct val="115000"/>
              </a:lnSpc>
              <a:buNone/>
            </a:pPr>
            <a:r>
              <a:rPr lang="ja-JP" altLang="en-US" sz="1400" b="1" dirty="0">
                <a:solidFill>
                  <a:srgbClr val="331E0E"/>
                </a:solidFill>
                <a:latin typeface="Yu Mincho" pitchFamily="34" charset="0"/>
                <a:ea typeface="Yu Mincho" pitchFamily="34" charset="-122"/>
                <a:cs typeface="Yu Mincho" pitchFamily="34" charset="-120"/>
              </a:rPr>
              <a:t>AI音声読み上げ</a:t>
            </a:r>
            <a:endParaRPr lang="en-US" sz="1400" dirty="0"/>
          </a:p>
          <a:p>
            <a:pPr eaLnBrk="1" latinLnBrk="0" hangingPunct="1" indent="0" marL="0">
              <a:lnSpc>
                <a:spcPct val="115000"/>
              </a:lnSpc>
              <a:buNone/>
            </a:pPr>
            <a:r>
              <a:rPr lang="en-US" sz="900" dirty="0">
                <a:solidFill>
                  <a:srgbClr val="877258"/>
                </a:solidFill>
                <a:latin typeface="Segoe UI" pitchFamily="34" charset="0"/>
                <a:ea typeface="Segoe UI" pitchFamily="34" charset="-122"/>
                <a:cs typeface="Segoe UI" pitchFamily="34" charset="-120"/>
              </a:rPr>
              <a:t>AI đọc công thức</a:t>
            </a:r>
            <a:endParaRPr lang="en-US" sz="1400" dirty="0"/>
          </a:p>
        </p:txBody>
      </p:sp>
      <p:sp>
        <p:nvSpPr>
          <p:cNvPr id="25" name="Shape 23"/>
          <p:cNvSpPr/>
          <p:nvPr/>
        </p:nvSpPr>
        <p:spPr>
          <a:xfrm>
            <a:off x="7300387" y="1956816"/>
            <a:ext cx="2079894" cy="1572768"/>
          </a:xfrm>
          <a:prstGeom prst="rect">
            <a:avLst/>
          </a:prstGeom>
          <a:solidFill>
            <a:srgbClr val="FFFFFF"/>
          </a:solidFill>
          <a:ln w="9525">
            <a:solidFill>
              <a:srgbClr val="E4D9C6"/>
            </a:solidFill>
            <a:prstDash val="solid"/>
          </a:ln>
        </p:spPr>
      </p:sp>
      <p:sp>
        <p:nvSpPr>
          <p:cNvPr id="26" name="Shape 24"/>
          <p:cNvSpPr/>
          <p:nvPr/>
        </p:nvSpPr>
        <p:spPr>
          <a:xfrm>
            <a:off x="7300387" y="1956816"/>
            <a:ext cx="2079894" cy="45720"/>
          </a:xfrm>
          <a:prstGeom prst="rect">
            <a:avLst/>
          </a:prstGeom>
          <a:solidFill>
            <a:srgbClr val="C7273B"/>
          </a:solidFill>
          <a:ln w="12700">
            <a:solidFill>
              <a:srgbClr val="C7273B"/>
            </a:solidFill>
            <a:prstDash val="solid"/>
          </a:ln>
        </p:spPr>
      </p:sp>
      <p:sp>
        <p:nvSpPr>
          <p:cNvPr id="27" name="Shape 25"/>
          <p:cNvSpPr/>
          <p:nvPr/>
        </p:nvSpPr>
        <p:spPr>
          <a:xfrm>
            <a:off x="7464979" y="2139696"/>
            <a:ext cx="329184" cy="329184"/>
          </a:xfrm>
          <a:prstGeom prst="ellipse">
            <a:avLst/>
          </a:prstGeom>
          <a:solidFill>
            <a:srgbClr val="C7273B"/>
          </a:solidFill>
          <a:ln w="12700">
            <a:solidFill>
              <a:srgbClr val="C7273B"/>
            </a:solidFill>
            <a:prstDash val="solid"/>
          </a:ln>
        </p:spPr>
      </p:sp>
      <p:sp>
        <p:nvSpPr>
          <p:cNvPr id="28" name="Text 26"/>
          <p:cNvSpPr/>
          <p:nvPr/>
        </p:nvSpPr>
        <p:spPr>
          <a:xfrm>
            <a:off x="7464979" y="2139696"/>
            <a:ext cx="329184" cy="329184"/>
          </a:xfrm>
          <a:prstGeom prst="rect">
            <a:avLst/>
          </a:prstGeom>
          <a:noFill/>
          <a:ln/>
        </p:spPr>
        <p:txBody>
          <a:bodyPr wrap="square" rtlCol="0" anchor="ctr"/>
          <a:lstStyle/>
          <a:p>
            <a:pPr eaLnBrk="1" latinLnBrk="0" hangingPunct="1" algn="ctr" indent="0" marL="0">
              <a:buNone/>
            </a:pPr>
            <a:r>
              <a:rPr lang="en-US" sz="1500" b="1" dirty="0">
                <a:solidFill>
                  <a:srgbClr val="FFFFFF"/>
                </a:solidFill>
                <a:latin typeface="Segoe UI" pitchFamily="34" charset="0"/>
                <a:ea typeface="Segoe UI" pitchFamily="34" charset="-122"/>
                <a:cs typeface="Segoe UI" pitchFamily="34" charset="-120"/>
              </a:rPr>
              <a:t>4</a:t>
            </a:r>
            <a:endParaRPr lang="en-US" sz="1500" dirty="0"/>
          </a:p>
        </p:txBody>
      </p:sp>
      <p:sp>
        <p:nvSpPr>
          <p:cNvPr id="29" name="Text 27"/>
          <p:cNvSpPr/>
          <p:nvPr/>
        </p:nvSpPr>
        <p:spPr>
          <a:xfrm>
            <a:off x="7849027" y="2139696"/>
            <a:ext cx="1439814" cy="329184"/>
          </a:xfrm>
          <a:prstGeom prst="rect">
            <a:avLst/>
          </a:prstGeom>
          <a:noFill/>
          <a:ln/>
        </p:spPr>
        <p:txBody>
          <a:bodyPr wrap="square" rtlCol="0" anchor="ctr"/>
          <a:lstStyle/>
          <a:p>
            <a:pPr eaLnBrk="1" latinLnBrk="0" hangingPunct="1" indent="0" marL="0">
              <a:buNone/>
            </a:pPr>
            <a:r>
              <a:rPr lang="ja-JP" altLang="en-US" sz="950" b="1" dirty="0">
                <a:solidFill>
                  <a:srgbClr val="C7273B"/>
                </a:solidFill>
                <a:latin typeface="Yu Mincho" pitchFamily="34" charset="0"/>
                <a:ea typeface="Yu Mincho" pitchFamily="34" charset="-122"/>
                <a:cs typeface="Yu Mincho" pitchFamily="34" charset="-120"/>
              </a:rPr>
              <a:t>お店で買う</a:t>
            </a:r>
            <a:endParaRPr lang="en-US" sz="950" dirty="0"/>
          </a:p>
        </p:txBody>
      </p:sp>
      <p:sp>
        <p:nvSpPr>
          <p:cNvPr id="30" name="Text 28"/>
          <p:cNvSpPr/>
          <p:nvPr/>
        </p:nvSpPr>
        <p:spPr>
          <a:xfrm>
            <a:off x="7464979" y="2560320"/>
            <a:ext cx="1805574" cy="877824"/>
          </a:xfrm>
          <a:prstGeom prst="rect">
            <a:avLst/>
          </a:prstGeom>
          <a:noFill/>
          <a:ln/>
        </p:spPr>
        <p:txBody>
          <a:bodyPr wrap="square" rtlCol="0" anchor="t"/>
          <a:lstStyle/>
          <a:p>
            <a:pPr eaLnBrk="1" latinLnBrk="0" hangingPunct="1" indent="0" marL="0">
              <a:lnSpc>
                <a:spcPct val="115000"/>
              </a:lnSpc>
              <a:buNone/>
            </a:pPr>
            <a:r>
              <a:rPr lang="ja-JP" altLang="en-US" sz="1400" b="1" dirty="0">
                <a:solidFill>
                  <a:srgbClr val="331E0E"/>
                </a:solidFill>
                <a:latin typeface="Yu Mincho" pitchFamily="34" charset="0"/>
                <a:ea typeface="Yu Mincho" pitchFamily="34" charset="-122"/>
                <a:cs typeface="Yu Mincho" pitchFamily="34" charset="-120"/>
              </a:rPr>
              <a:t>買い物リスト</a:t>
            </a:r>
            <a:endParaRPr lang="en-US" sz="1400" dirty="0"/>
          </a:p>
          <a:p>
            <a:pPr eaLnBrk="1" latinLnBrk="0" hangingPunct="1" indent="0" marL="0">
              <a:lnSpc>
                <a:spcPct val="115000"/>
              </a:lnSpc>
              <a:buNone/>
            </a:pPr>
            <a:r>
              <a:rPr lang="ja-JP" altLang="en-US" sz="1400" b="1" dirty="0">
                <a:solidFill>
                  <a:srgbClr val="331E0E"/>
                </a:solidFill>
                <a:latin typeface="Yu Mincho" pitchFamily="34" charset="0"/>
                <a:ea typeface="Yu Mincho" pitchFamily="34" charset="-122"/>
                <a:cs typeface="Yu Mincho" pitchFamily="34" charset="-120"/>
              </a:rPr>
              <a:t>＋ 売場マップ</a:t>
            </a:r>
            <a:endParaRPr lang="en-US" sz="1400" dirty="0"/>
          </a:p>
          <a:p>
            <a:pPr eaLnBrk="1" latinLnBrk="0" hangingPunct="1" indent="0" marL="0">
              <a:lnSpc>
                <a:spcPct val="115000"/>
              </a:lnSpc>
              <a:buNone/>
            </a:pPr>
            <a:r>
              <a:rPr lang="en-US" sz="900" dirty="0">
                <a:solidFill>
                  <a:srgbClr val="877258"/>
                </a:solidFill>
                <a:latin typeface="Segoe UI" pitchFamily="34" charset="0"/>
                <a:ea typeface="Segoe UI" pitchFamily="34" charset="-122"/>
                <a:cs typeface="Segoe UI" pitchFamily="34" charset="-120"/>
              </a:rPr>
              <a:t>Danh sách đi chợ theo quầy + sơ đồ</a:t>
            </a:r>
            <a:endParaRPr lang="en-US" sz="1400" dirty="0"/>
          </a:p>
        </p:txBody>
      </p:sp>
      <p:sp>
        <p:nvSpPr>
          <p:cNvPr id="31" name="Shape 29"/>
          <p:cNvSpPr/>
          <p:nvPr/>
        </p:nvSpPr>
        <p:spPr>
          <a:xfrm>
            <a:off x="9544873" y="1956816"/>
            <a:ext cx="2079894" cy="1572768"/>
          </a:xfrm>
          <a:prstGeom prst="rect">
            <a:avLst/>
          </a:prstGeom>
          <a:solidFill>
            <a:srgbClr val="FFFFFF"/>
          </a:solidFill>
          <a:ln w="9525">
            <a:solidFill>
              <a:srgbClr val="E4D9C6"/>
            </a:solidFill>
            <a:prstDash val="solid"/>
          </a:ln>
        </p:spPr>
      </p:sp>
      <p:sp>
        <p:nvSpPr>
          <p:cNvPr id="32" name="Shape 30"/>
          <p:cNvSpPr/>
          <p:nvPr/>
        </p:nvSpPr>
        <p:spPr>
          <a:xfrm>
            <a:off x="9544873" y="1956816"/>
            <a:ext cx="2079894" cy="45720"/>
          </a:xfrm>
          <a:prstGeom prst="rect">
            <a:avLst/>
          </a:prstGeom>
          <a:solidFill>
            <a:srgbClr val="C7273B"/>
          </a:solidFill>
          <a:ln w="12700">
            <a:solidFill>
              <a:srgbClr val="C7273B"/>
            </a:solidFill>
            <a:prstDash val="solid"/>
          </a:ln>
        </p:spPr>
      </p:sp>
      <p:sp>
        <p:nvSpPr>
          <p:cNvPr id="33" name="Shape 31"/>
          <p:cNvSpPr/>
          <p:nvPr/>
        </p:nvSpPr>
        <p:spPr>
          <a:xfrm>
            <a:off x="9709465" y="2139696"/>
            <a:ext cx="329184" cy="329184"/>
          </a:xfrm>
          <a:prstGeom prst="ellipse">
            <a:avLst/>
          </a:prstGeom>
          <a:solidFill>
            <a:srgbClr val="C7273B"/>
          </a:solidFill>
          <a:ln w="12700">
            <a:solidFill>
              <a:srgbClr val="C7273B"/>
            </a:solidFill>
            <a:prstDash val="solid"/>
          </a:ln>
        </p:spPr>
      </p:sp>
      <p:sp>
        <p:nvSpPr>
          <p:cNvPr id="34" name="Text 32"/>
          <p:cNvSpPr/>
          <p:nvPr/>
        </p:nvSpPr>
        <p:spPr>
          <a:xfrm>
            <a:off x="9709465" y="2139696"/>
            <a:ext cx="329184" cy="329184"/>
          </a:xfrm>
          <a:prstGeom prst="rect">
            <a:avLst/>
          </a:prstGeom>
          <a:noFill/>
          <a:ln/>
        </p:spPr>
        <p:txBody>
          <a:bodyPr wrap="square" rtlCol="0" anchor="ctr"/>
          <a:lstStyle/>
          <a:p>
            <a:pPr eaLnBrk="1" latinLnBrk="0" hangingPunct="1" algn="ctr" indent="0" marL="0">
              <a:buNone/>
            </a:pPr>
            <a:r>
              <a:rPr lang="en-US" sz="1500" b="1" dirty="0">
                <a:solidFill>
                  <a:srgbClr val="FFFFFF"/>
                </a:solidFill>
                <a:latin typeface="Segoe UI" pitchFamily="34" charset="0"/>
                <a:ea typeface="Segoe UI" pitchFamily="34" charset="-122"/>
                <a:cs typeface="Segoe UI" pitchFamily="34" charset="-120"/>
              </a:rPr>
              <a:t>5</a:t>
            </a:r>
            <a:endParaRPr lang="en-US" sz="1500" dirty="0"/>
          </a:p>
        </p:txBody>
      </p:sp>
      <p:sp>
        <p:nvSpPr>
          <p:cNvPr id="35" name="Text 33"/>
          <p:cNvSpPr/>
          <p:nvPr/>
        </p:nvSpPr>
        <p:spPr>
          <a:xfrm>
            <a:off x="10093513" y="2139696"/>
            <a:ext cx="1439814" cy="329184"/>
          </a:xfrm>
          <a:prstGeom prst="rect">
            <a:avLst/>
          </a:prstGeom>
          <a:noFill/>
          <a:ln/>
        </p:spPr>
        <p:txBody>
          <a:bodyPr wrap="square" rtlCol="0" anchor="ctr"/>
          <a:lstStyle/>
          <a:p>
            <a:pPr eaLnBrk="1" latinLnBrk="0" hangingPunct="1" indent="0" marL="0">
              <a:buNone/>
            </a:pPr>
            <a:r>
              <a:rPr lang="ja-JP" altLang="en-US" sz="950" b="1" dirty="0">
                <a:solidFill>
                  <a:srgbClr val="C7273B"/>
                </a:solidFill>
                <a:latin typeface="Yu Mincho" pitchFamily="34" charset="0"/>
                <a:ea typeface="Yu Mincho" pitchFamily="34" charset="-122"/>
                <a:cs typeface="Yu Mincho" pitchFamily="34" charset="-120"/>
              </a:rPr>
              <a:t>ネットで買う</a:t>
            </a:r>
            <a:endParaRPr lang="en-US" sz="950" dirty="0"/>
          </a:p>
        </p:txBody>
      </p:sp>
      <p:sp>
        <p:nvSpPr>
          <p:cNvPr id="36" name="Text 34"/>
          <p:cNvSpPr/>
          <p:nvPr/>
        </p:nvSpPr>
        <p:spPr>
          <a:xfrm>
            <a:off x="9709465" y="2560320"/>
            <a:ext cx="1805574" cy="877824"/>
          </a:xfrm>
          <a:prstGeom prst="rect">
            <a:avLst/>
          </a:prstGeom>
          <a:noFill/>
          <a:ln/>
        </p:spPr>
        <p:txBody>
          <a:bodyPr wrap="square" rtlCol="0" anchor="t"/>
          <a:lstStyle/>
          <a:p>
            <a:pPr eaLnBrk="1" latinLnBrk="0" hangingPunct="1" indent="0" marL="0">
              <a:lnSpc>
                <a:spcPct val="115000"/>
              </a:lnSpc>
              <a:buNone/>
            </a:pPr>
            <a:r>
              <a:rPr lang="ja-JP" altLang="en-US" sz="1400" b="1" dirty="0">
                <a:solidFill>
                  <a:srgbClr val="331E0E"/>
                </a:solidFill>
                <a:latin typeface="Yu Mincho" pitchFamily="34" charset="0"/>
                <a:ea typeface="Yu Mincho" pitchFamily="34" charset="-122"/>
                <a:cs typeface="Yu Mincho" pitchFamily="34" charset="-120"/>
              </a:rPr>
              <a:t>カート →</a:t>
            </a:r>
            <a:endParaRPr lang="en-US" sz="1400" dirty="0"/>
          </a:p>
          <a:p>
            <a:pPr eaLnBrk="1" latinLnBrk="0" hangingPunct="1" indent="0" marL="0">
              <a:lnSpc>
                <a:spcPct val="115000"/>
              </a:lnSpc>
              <a:buNone/>
            </a:pPr>
            <a:r>
              <a:rPr lang="ja-JP" altLang="en-US" sz="1400" b="1" dirty="0">
                <a:solidFill>
                  <a:srgbClr val="331E0E"/>
                </a:solidFill>
                <a:latin typeface="Yu Mincho" pitchFamily="34" charset="0"/>
                <a:ea typeface="Yu Mincho" pitchFamily="34" charset="-122"/>
                <a:cs typeface="Yu Mincho" pitchFamily="34" charset="-120"/>
              </a:rPr>
              <a:t>既存のネット通販</a:t>
            </a:r>
            <a:endParaRPr lang="en-US" sz="1400" dirty="0"/>
          </a:p>
          <a:p>
            <a:pPr eaLnBrk="1" latinLnBrk="0" hangingPunct="1" indent="0" marL="0">
              <a:lnSpc>
                <a:spcPct val="115000"/>
              </a:lnSpc>
              <a:buNone/>
            </a:pPr>
            <a:r>
              <a:rPr lang="en-US" sz="900" dirty="0">
                <a:solidFill>
                  <a:srgbClr val="877258"/>
                </a:solidFill>
                <a:latin typeface="Segoe UI" pitchFamily="34" charset="0"/>
                <a:ea typeface="Segoe UI" pitchFamily="34" charset="-122"/>
                <a:cs typeface="Segoe UI" pitchFamily="34" charset="-120"/>
              </a:rPr>
              <a:t>Giỏ hàng → trang EC sẵn có</a:t>
            </a:r>
            <a:endParaRPr lang="en-US" sz="1400" dirty="0"/>
          </a:p>
        </p:txBody>
      </p:sp>
      <p:sp>
        <p:nvSpPr>
          <p:cNvPr id="37" name="Text 35"/>
          <p:cNvSpPr/>
          <p:nvPr/>
        </p:nvSpPr>
        <p:spPr>
          <a:xfrm>
            <a:off x="566928" y="3712464"/>
            <a:ext cx="11057839" cy="237744"/>
          </a:xfrm>
          <a:prstGeom prst="rect">
            <a:avLst/>
          </a:prstGeom>
          <a:noFill/>
          <a:ln/>
        </p:spPr>
        <p:txBody>
          <a:bodyPr wrap="square" rtlCol="0" anchor="ctr"/>
          <a:lstStyle/>
          <a:p>
            <a:pPr eaLnBrk="1" latinLnBrk="0" hangingPunct="1" indent="0" marL="0">
              <a:buNone/>
            </a:pPr>
            <a:r>
              <a:rPr lang="ja-JP" altLang="en-US" sz="1000" b="1" spc="100" kern="0" dirty="0">
                <a:solidFill>
                  <a:srgbClr val="C7273B"/>
                </a:solidFill>
                <a:latin typeface="Yu Gothic" pitchFamily="34" charset="0"/>
                <a:ea typeface="Yu Gothic" pitchFamily="34" charset="-122"/>
                <a:cs typeface="Yu Gothic" pitchFamily="34" charset="-120"/>
              </a:rPr>
              <a:t>補助機能</a:t>
            </a:r>
            <a:pPr eaLnBrk="1" latinLnBrk="0" hangingPunct="1" indent="0" marL="0">
              <a:buNone/>
            </a:pPr>
            <a:r>
              <a:rPr lang="ja-JP" altLang="en-US" sz="850" b="1" spc="100" kern="0" dirty="0">
                <a:solidFill>
                  <a:srgbClr val="877258"/>
                </a:solidFill>
                <a:latin typeface="Segoe UI" pitchFamily="34" charset="0"/>
                <a:ea typeface="Segoe UI" pitchFamily="34" charset="-122"/>
                <a:cs typeface="Segoe UI" pitchFamily="34" charset="-120"/>
              </a:rPr>
              <a:t>　／ TÍNH NĂNG PHỤ</a:t>
            </a:r>
            <a:endParaRPr lang="en-US" sz="1000" dirty="0"/>
          </a:p>
        </p:txBody>
      </p:sp>
      <p:sp>
        <p:nvSpPr>
          <p:cNvPr id="38" name="Shape 36"/>
          <p:cNvSpPr/>
          <p:nvPr/>
        </p:nvSpPr>
        <p:spPr>
          <a:xfrm>
            <a:off x="566928" y="3986784"/>
            <a:ext cx="3576218" cy="658368"/>
          </a:xfrm>
          <a:prstGeom prst="roundRect">
            <a:avLst>
              <a:gd name="adj" fmla="val 11111"/>
            </a:avLst>
          </a:prstGeom>
          <a:solidFill>
            <a:srgbClr val="F7F3EA"/>
          </a:solidFill>
          <a:ln w="9525">
            <a:solidFill>
              <a:srgbClr val="E4D9C6"/>
            </a:solidFill>
            <a:prstDash val="solid"/>
          </a:ln>
        </p:spPr>
      </p:sp>
      <p:sp>
        <p:nvSpPr>
          <p:cNvPr id="39" name="Text 37"/>
          <p:cNvSpPr/>
          <p:nvPr/>
        </p:nvSpPr>
        <p:spPr>
          <a:xfrm>
            <a:off x="749808" y="3986784"/>
            <a:ext cx="3210458" cy="658368"/>
          </a:xfrm>
          <a:prstGeom prst="rect">
            <a:avLst/>
          </a:prstGeom>
          <a:noFill/>
          <a:ln/>
        </p:spPr>
        <p:txBody>
          <a:bodyPr wrap="square" rtlCol="0" anchor="ctr"/>
          <a:lstStyle/>
          <a:p>
            <a:pPr eaLnBrk="1" latinLnBrk="0" hangingPunct="1" indent="0" marL="0">
              <a:buNone/>
            </a:pPr>
            <a:r>
              <a:rPr lang="ja-JP" altLang="en-US" sz="1150" b="1" dirty="0">
                <a:solidFill>
                  <a:srgbClr val="331E0E"/>
                </a:solidFill>
                <a:latin typeface="Yu Gothic" pitchFamily="34" charset="0"/>
                <a:ea typeface="Yu Gothic" pitchFamily="34" charset="-122"/>
                <a:cs typeface="Yu Gothic" pitchFamily="34" charset="-120"/>
              </a:rPr>
              <a:t>特売情報の掲載・管理（Excel取込）</a:t>
            </a:r>
            <a:endParaRPr lang="en-US" sz="1150" dirty="0"/>
          </a:p>
          <a:p>
            <a:pPr eaLnBrk="1" latinLnBrk="0" hangingPunct="1" indent="0" marL="0">
              <a:buNone/>
            </a:pPr>
            <a:r>
              <a:rPr lang="en-US" sz="900" dirty="0">
                <a:solidFill>
                  <a:srgbClr val="877258"/>
                </a:solidFill>
                <a:latin typeface="Segoe UI" pitchFamily="34" charset="0"/>
                <a:ea typeface="Segoe UI" pitchFamily="34" charset="-122"/>
                <a:cs typeface="Segoe UI" pitchFamily="34" charset="-120"/>
              </a:rPr>
              <a:t>Đăng và quản lý KM (nhập từ Excel)</a:t>
            </a:r>
            <a:endParaRPr lang="en-US" sz="1150" dirty="0"/>
          </a:p>
        </p:txBody>
      </p:sp>
      <p:sp>
        <p:nvSpPr>
          <p:cNvPr id="40" name="Shape 38"/>
          <p:cNvSpPr/>
          <p:nvPr/>
        </p:nvSpPr>
        <p:spPr>
          <a:xfrm>
            <a:off x="4307738" y="3986784"/>
            <a:ext cx="3576218" cy="658368"/>
          </a:xfrm>
          <a:prstGeom prst="roundRect">
            <a:avLst>
              <a:gd name="adj" fmla="val 11111"/>
            </a:avLst>
          </a:prstGeom>
          <a:solidFill>
            <a:srgbClr val="F7F3EA"/>
          </a:solidFill>
          <a:ln w="9525">
            <a:solidFill>
              <a:srgbClr val="E4D9C6"/>
            </a:solidFill>
            <a:prstDash val="solid"/>
          </a:ln>
        </p:spPr>
      </p:sp>
      <p:sp>
        <p:nvSpPr>
          <p:cNvPr id="41" name="Text 39"/>
          <p:cNvSpPr/>
          <p:nvPr/>
        </p:nvSpPr>
        <p:spPr>
          <a:xfrm>
            <a:off x="4490618" y="3986784"/>
            <a:ext cx="3210458" cy="658368"/>
          </a:xfrm>
          <a:prstGeom prst="rect">
            <a:avLst/>
          </a:prstGeom>
          <a:noFill/>
          <a:ln/>
        </p:spPr>
        <p:txBody>
          <a:bodyPr wrap="square" rtlCol="0" anchor="ctr"/>
          <a:lstStyle/>
          <a:p>
            <a:pPr eaLnBrk="1" latinLnBrk="0" hangingPunct="1" indent="0" marL="0">
              <a:buNone/>
            </a:pPr>
            <a:r>
              <a:rPr lang="ja-JP" altLang="en-US" sz="1150" b="1" dirty="0">
                <a:solidFill>
                  <a:srgbClr val="331E0E"/>
                </a:solidFill>
                <a:latin typeface="Yu Gothic" pitchFamily="34" charset="0"/>
                <a:ea typeface="Yu Gothic" pitchFamily="34" charset="-122"/>
                <a:cs typeface="Yu Gothic" pitchFamily="34" charset="-120"/>
              </a:rPr>
              <a:t>関連レシピ ＋ 関連記事</a:t>
            </a:r>
            <a:endParaRPr lang="en-US" sz="1150" dirty="0"/>
          </a:p>
          <a:p>
            <a:pPr eaLnBrk="1" latinLnBrk="0" hangingPunct="1" indent="0" marL="0">
              <a:buNone/>
            </a:pPr>
            <a:r>
              <a:rPr lang="en-US" sz="900" dirty="0">
                <a:solidFill>
                  <a:srgbClr val="877258"/>
                </a:solidFill>
                <a:latin typeface="Segoe UI" pitchFamily="34" charset="0"/>
                <a:ea typeface="Segoe UI" pitchFamily="34" charset="-122"/>
                <a:cs typeface="Segoe UI" pitchFamily="34" charset="-120"/>
              </a:rPr>
              <a:t>Món tương tự + bài viết liên quan</a:t>
            </a:r>
            <a:endParaRPr lang="en-US" sz="1150" dirty="0"/>
          </a:p>
        </p:txBody>
      </p:sp>
      <p:sp>
        <p:nvSpPr>
          <p:cNvPr id="42" name="Shape 40"/>
          <p:cNvSpPr/>
          <p:nvPr/>
        </p:nvSpPr>
        <p:spPr>
          <a:xfrm>
            <a:off x="8048549" y="3986784"/>
            <a:ext cx="3576218" cy="658368"/>
          </a:xfrm>
          <a:prstGeom prst="roundRect">
            <a:avLst>
              <a:gd name="adj" fmla="val 11111"/>
            </a:avLst>
          </a:prstGeom>
          <a:solidFill>
            <a:srgbClr val="F7F3EA"/>
          </a:solidFill>
          <a:ln w="9525">
            <a:solidFill>
              <a:srgbClr val="E4D9C6"/>
            </a:solidFill>
            <a:prstDash val="solid"/>
          </a:ln>
        </p:spPr>
      </p:sp>
      <p:sp>
        <p:nvSpPr>
          <p:cNvPr id="43" name="Text 41"/>
          <p:cNvSpPr/>
          <p:nvPr/>
        </p:nvSpPr>
        <p:spPr>
          <a:xfrm>
            <a:off x="8231429" y="3986784"/>
            <a:ext cx="3210458" cy="658368"/>
          </a:xfrm>
          <a:prstGeom prst="rect">
            <a:avLst/>
          </a:prstGeom>
          <a:noFill/>
          <a:ln/>
        </p:spPr>
        <p:txBody>
          <a:bodyPr wrap="square" rtlCol="0" anchor="ctr"/>
          <a:lstStyle/>
          <a:p>
            <a:pPr eaLnBrk="1" latinLnBrk="0" hangingPunct="1" indent="0" marL="0">
              <a:buNone/>
            </a:pPr>
            <a:r>
              <a:rPr lang="ja-JP" altLang="en-US" sz="1150" b="1" dirty="0">
                <a:solidFill>
                  <a:srgbClr val="331E0E"/>
                </a:solidFill>
                <a:latin typeface="Yu Gothic" pitchFamily="34" charset="0"/>
                <a:ea typeface="Yu Gothic" pitchFamily="34" charset="-122"/>
                <a:cs typeface="Yu Gothic" pitchFamily="34" charset="-120"/>
              </a:rPr>
              <a:t>材料の価格・特売・売場を表示</a:t>
            </a:r>
            <a:endParaRPr lang="en-US" sz="1150" dirty="0"/>
          </a:p>
          <a:p>
            <a:pPr eaLnBrk="1" latinLnBrk="0" hangingPunct="1" indent="0" marL="0">
              <a:buNone/>
            </a:pPr>
            <a:r>
              <a:rPr lang="en-US" sz="900" dirty="0">
                <a:solidFill>
                  <a:srgbClr val="877258"/>
                </a:solidFill>
                <a:latin typeface="Segoe UI" pitchFamily="34" charset="0"/>
                <a:ea typeface="Segoe UI" pitchFamily="34" charset="-122"/>
                <a:cs typeface="Segoe UI" pitchFamily="34" charset="-120"/>
              </a:rPr>
              <a:t>Nguyên liệu có giá, KM và quầy</a:t>
            </a:r>
            <a:endParaRPr lang="en-US" sz="1150" dirty="0"/>
          </a:p>
        </p:txBody>
      </p:sp>
      <p:sp>
        <p:nvSpPr>
          <p:cNvPr id="44" name="Shape 42"/>
          <p:cNvSpPr/>
          <p:nvPr/>
        </p:nvSpPr>
        <p:spPr>
          <a:xfrm>
            <a:off x="566928" y="4864608"/>
            <a:ext cx="11057839" cy="749808"/>
          </a:xfrm>
          <a:prstGeom prst="rect">
            <a:avLst/>
          </a:prstGeom>
          <a:solidFill>
            <a:srgbClr val="FBF0F1"/>
          </a:solidFill>
          <a:ln w="12700">
            <a:solidFill>
              <a:srgbClr val="FBF0F1"/>
            </a:solidFill>
            <a:prstDash val="solid"/>
          </a:ln>
        </p:spPr>
      </p:sp>
      <p:sp>
        <p:nvSpPr>
          <p:cNvPr id="45" name="Shape 43"/>
          <p:cNvSpPr/>
          <p:nvPr/>
        </p:nvSpPr>
        <p:spPr>
          <a:xfrm>
            <a:off x="566928" y="4864608"/>
            <a:ext cx="54864" cy="749808"/>
          </a:xfrm>
          <a:prstGeom prst="rect">
            <a:avLst/>
          </a:prstGeom>
          <a:solidFill>
            <a:srgbClr val="C7273B"/>
          </a:solidFill>
          <a:ln w="12700">
            <a:solidFill>
              <a:srgbClr val="C7273B"/>
            </a:solidFill>
            <a:prstDash val="solid"/>
          </a:ln>
        </p:spPr>
      </p:sp>
      <p:sp>
        <p:nvSpPr>
          <p:cNvPr id="46" name="Text 44"/>
          <p:cNvSpPr/>
          <p:nvPr/>
        </p:nvSpPr>
        <p:spPr>
          <a:xfrm>
            <a:off x="822960" y="4864608"/>
            <a:ext cx="10600639" cy="749808"/>
          </a:xfrm>
          <a:prstGeom prst="rect">
            <a:avLst/>
          </a:prstGeom>
          <a:noFill/>
          <a:ln/>
        </p:spPr>
        <p:txBody>
          <a:bodyPr wrap="square" rtlCol="0" anchor="ctr"/>
          <a:lstStyle/>
          <a:p>
            <a:pPr eaLnBrk="1" latinLnBrk="0" hangingPunct="1" indent="0" marL="0">
              <a:lnSpc>
                <a:spcPct val="115000"/>
              </a:lnSpc>
              <a:buNone/>
            </a:pPr>
            <a:r>
              <a:rPr lang="ja-JP" altLang="en-US" sz="1050" b="1" dirty="0">
                <a:solidFill>
                  <a:srgbClr val="C7273B"/>
                </a:solidFill>
                <a:latin typeface="Yu Mincho" pitchFamily="34" charset="0"/>
                <a:ea typeface="Yu Mincho" pitchFamily="34" charset="-122"/>
                <a:cs typeface="Yu Mincho" pitchFamily="34" charset="-120"/>
              </a:rPr>
              <a:t>土台　</a:t>
            </a:r>
            <a:pPr eaLnBrk="1" latinLnBrk="0" hangingPunct="1" indent="0" marL="0">
              <a:lnSpc>
                <a:spcPct val="115000"/>
              </a:lnSpc>
              <a:buNone/>
            </a:pPr>
            <a:r>
              <a:rPr lang="ja-JP" altLang="en-US" sz="1350" b="1" dirty="0">
                <a:solidFill>
                  <a:srgbClr val="331E0E"/>
                </a:solidFill>
                <a:latin typeface="Yu Mincho" pitchFamily="34" charset="0"/>
                <a:ea typeface="Yu Mincho" pitchFamily="34" charset="-122"/>
                <a:cs typeface="Yu Mincho" pitchFamily="34" charset="-120"/>
              </a:rPr>
              <a:t>商品データをこのサイトに取り込み、検索・レシピ・特売・カートで共通に使う</a:t>
            </a:r>
            <a:endParaRPr lang="en-US" sz="1050" dirty="0"/>
          </a:p>
          <a:p>
            <a:pPr eaLnBrk="1" latinLnBrk="0" hangingPunct="1" indent="0" marL="0">
              <a:lnSpc>
                <a:spcPct val="115000"/>
              </a:lnSpc>
              <a:buNone/>
            </a:pPr>
            <a:r>
              <a:rPr lang="ja-JP" altLang="en-US" sz="850" b="1" dirty="0">
                <a:solidFill>
                  <a:srgbClr val="C7273B"/>
                </a:solidFill>
                <a:latin typeface="Segoe UI" pitchFamily="34" charset="0"/>
                <a:ea typeface="Segoe UI" pitchFamily="34" charset="-122"/>
                <a:cs typeface="Segoe UI" pitchFamily="34" charset="-120"/>
              </a:rPr>
              <a:t>NỀN TẢNG　</a:t>
            </a:r>
            <a:pPr eaLnBrk="1" latinLnBrk="0" hangingPunct="1" indent="0" marL="0">
              <a:lnSpc>
                <a:spcPct val="115000"/>
              </a:lnSpc>
              <a:buNone/>
            </a:pPr>
            <a:r>
              <a:rPr lang="en-US" sz="950" dirty="0">
                <a:solidFill>
                  <a:srgbClr val="877258"/>
                </a:solidFill>
                <a:latin typeface="Segoe UI" pitchFamily="34" charset="0"/>
                <a:ea typeface="Segoe UI" pitchFamily="34" charset="-122"/>
                <a:cs typeface="Segoe UI" pitchFamily="34" charset="-120"/>
              </a:rPr>
              <a:t>Đưa dữ liệu sản phẩm về web chính, dùng chung cho tìm kiếm · công thức · khuyến mãi · giỏ hàng</a:t>
            </a:r>
            <a:endParaRPr lang="en-US" sz="1050" dirty="0"/>
          </a:p>
        </p:txBody>
      </p:sp>
      <p:sp>
        <p:nvSpPr>
          <p:cNvPr id="47" name="Text 45"/>
          <p:cNvSpPr/>
          <p:nvPr/>
        </p:nvSpPr>
        <p:spPr>
          <a:xfrm>
            <a:off x="566928" y="5760720"/>
            <a:ext cx="11057839" cy="502920"/>
          </a:xfrm>
          <a:prstGeom prst="rect">
            <a:avLst/>
          </a:prstGeom>
          <a:noFill/>
          <a:ln/>
        </p:spPr>
        <p:txBody>
          <a:bodyPr wrap="square" rtlCol="0" anchor="t"/>
          <a:lstStyle/>
          <a:p>
            <a:pPr eaLnBrk="1" latinLnBrk="0" hangingPunct="1" indent="0" marL="0">
              <a:buNone/>
            </a:pPr>
            <a:r>
              <a:rPr lang="ja-JP" altLang="en-US" sz="1200" b="1" dirty="0">
                <a:solidFill>
                  <a:srgbClr val="C7273B"/>
                </a:solidFill>
                <a:latin typeface="Yu Gothic" pitchFamily="34" charset="0"/>
                <a:ea typeface="Yu Gothic" pitchFamily="34" charset="-122"/>
                <a:cs typeface="Yu Gothic" pitchFamily="34" charset="-120"/>
              </a:rPr>
              <a:t>▶ 各機能の詳しい動きは、このあとのデモでご紹介します</a:t>
            </a:r>
            <a:endParaRPr lang="en-US" sz="1200" dirty="0"/>
          </a:p>
          <a:p>
            <a:pPr eaLnBrk="1" latinLnBrk="0" hangingPunct="1" indent="0" marL="0">
              <a:buNone/>
            </a:pPr>
            <a:r>
              <a:rPr lang="en-US" sz="1000" dirty="0">
                <a:solidFill>
                  <a:srgbClr val="877258"/>
                </a:solidFill>
                <a:latin typeface="Segoe UI" pitchFamily="34" charset="0"/>
                <a:ea typeface="Segoe UI" pitchFamily="34" charset="-122"/>
                <a:cs typeface="Segoe UI" pitchFamily="34" charset="-120"/>
              </a:rPr>
              <a:t>Chi tiết từng tính năng sẽ được trình bày trong phần demo tiếp theo</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7273B"/>
          </a:solidFill>
          <a:ln w="12700">
            <a:solidFill>
              <a:srgbClr val="C7273B"/>
            </a:solidFill>
            <a:prstDash val="solid"/>
          </a:ln>
        </p:spPr>
      </p:sp>
      <p:sp>
        <p:nvSpPr>
          <p:cNvPr id="3" name="Text 1"/>
          <p:cNvSpPr/>
          <p:nvPr/>
        </p:nvSpPr>
        <p:spPr>
          <a:xfrm>
            <a:off x="566928" y="6473952"/>
            <a:ext cx="1097280" cy="228600"/>
          </a:xfrm>
          <a:prstGeom prst="rect">
            <a:avLst/>
          </a:prstGeom>
          <a:noFill/>
          <a:ln/>
        </p:spPr>
        <p:txBody>
          <a:bodyPr wrap="square" rtlCol="0" anchor="ctr"/>
          <a:lstStyle/>
          <a:p>
            <a:pPr eaLnBrk="1" latinLnBrk="0" hangingPunct="1" indent="0" marL="0">
              <a:buNone/>
            </a:pPr>
            <a:r>
              <a:rPr lang="en-US" sz="850" spc="100" kern="0" dirty="0">
                <a:solidFill>
                  <a:srgbClr val="877258"/>
                </a:solidFill>
                <a:latin typeface="Segoe UI" pitchFamily="34" charset="0"/>
                <a:ea typeface="Segoe UI" pitchFamily="34" charset="-122"/>
                <a:cs typeface="Segoe UI" pitchFamily="34" charset="-120"/>
              </a:rPr>
              <a:t>05 / 07</a:t>
            </a:r>
            <a:endParaRPr lang="en-US" sz="850" dirty="0"/>
          </a:p>
        </p:txBody>
      </p:sp>
      <p:sp>
        <p:nvSpPr>
          <p:cNvPr id="4" name="Text 2"/>
          <p:cNvSpPr/>
          <p:nvPr/>
        </p:nvSpPr>
        <p:spPr>
          <a:xfrm>
            <a:off x="8351215" y="6473952"/>
            <a:ext cx="3291840" cy="228600"/>
          </a:xfrm>
          <a:prstGeom prst="rect">
            <a:avLst/>
          </a:prstGeom>
          <a:noFill/>
          <a:ln/>
        </p:spPr>
        <p:txBody>
          <a:bodyPr wrap="square" rtlCol="0" anchor="ctr"/>
          <a:lstStyle/>
          <a:p>
            <a:pPr eaLnBrk="1" latinLnBrk="0" hangingPunct="1" algn="r" indent="0" marL="0">
              <a:buNone/>
            </a:pPr>
            <a:r>
              <a:rPr lang="ja-JP" altLang="en-US" sz="850" dirty="0">
                <a:solidFill>
                  <a:srgbClr val="877258"/>
                </a:solidFill>
                <a:latin typeface="Yu Gothic" pitchFamily="34" charset="0"/>
                <a:ea typeface="Yu Gothic" pitchFamily="34" charset="-122"/>
                <a:cs typeface="Yu Gothic" pitchFamily="34" charset="-120"/>
              </a:rPr>
              <a:t>遠鉄ストア Webサイト改善提案</a:t>
            </a:r>
            <a:endParaRPr lang="en-US" sz="850" dirty="0"/>
          </a:p>
        </p:txBody>
      </p:sp>
      <p:sp>
        <p:nvSpPr>
          <p:cNvPr id="5" name="Text 3"/>
          <p:cNvSpPr/>
          <p:nvPr/>
        </p:nvSpPr>
        <p:spPr>
          <a:xfrm>
            <a:off x="566928" y="347472"/>
            <a:ext cx="11057839" cy="256032"/>
          </a:xfrm>
          <a:prstGeom prst="rect">
            <a:avLst/>
          </a:prstGeom>
          <a:noFill/>
          <a:ln/>
        </p:spPr>
        <p:txBody>
          <a:bodyPr wrap="square" rtlCol="0" anchor="ctr"/>
          <a:lstStyle/>
          <a:p>
            <a:pPr eaLnBrk="1" latinLnBrk="0" hangingPunct="1" indent="0" marL="0">
              <a:buNone/>
            </a:pPr>
            <a:r>
              <a:rPr lang="ja-JP" altLang="en-US" sz="1050" b="1" spc="100" kern="0" dirty="0">
                <a:solidFill>
                  <a:srgbClr val="C7273B"/>
                </a:solidFill>
                <a:latin typeface="Yu Gothic" pitchFamily="34" charset="0"/>
                <a:ea typeface="Yu Gothic" pitchFamily="34" charset="-122"/>
                <a:cs typeface="Yu Gothic" pitchFamily="34" charset="-120"/>
              </a:rPr>
              <a:t>デモ</a:t>
            </a:r>
            <a:pPr eaLnBrk="1" latinLnBrk="0" hangingPunct="1" indent="0" marL="0">
              <a:buNone/>
            </a:pPr>
            <a:r>
              <a:rPr lang="ja-JP" altLang="en-US" sz="1000" b="1" spc="100" kern="0" dirty="0">
                <a:solidFill>
                  <a:srgbClr val="877258"/>
                </a:solidFill>
                <a:latin typeface="Segoe UI" pitchFamily="34" charset="0"/>
                <a:ea typeface="Segoe UI" pitchFamily="34" charset="-122"/>
                <a:cs typeface="Segoe UI" pitchFamily="34" charset="-120"/>
              </a:rPr>
              <a:t>　／ DEMO</a:t>
            </a:r>
            <a:endParaRPr lang="en-US" sz="1050" dirty="0"/>
          </a:p>
        </p:txBody>
      </p:sp>
      <p:sp>
        <p:nvSpPr>
          <p:cNvPr id="6" name="Shape 4"/>
          <p:cNvSpPr/>
          <p:nvPr/>
        </p:nvSpPr>
        <p:spPr>
          <a:xfrm>
            <a:off x="566928" y="621792"/>
            <a:ext cx="11057839" cy="0"/>
          </a:xfrm>
          <a:prstGeom prst="line">
            <a:avLst/>
          </a:prstGeom>
          <a:noFill/>
          <a:ln w="9525">
            <a:solidFill>
              <a:srgbClr val="E4D9C6"/>
            </a:solidFill>
            <a:prstDash val="solid"/>
          </a:ln>
        </p:spPr>
      </p:sp>
      <p:sp>
        <p:nvSpPr>
          <p:cNvPr id="7" name="Text 5"/>
          <p:cNvSpPr/>
          <p:nvPr/>
        </p:nvSpPr>
        <p:spPr>
          <a:xfrm>
            <a:off x="566928" y="1051560"/>
            <a:ext cx="6949440" cy="914400"/>
          </a:xfrm>
          <a:prstGeom prst="rect">
            <a:avLst/>
          </a:prstGeom>
          <a:noFill/>
          <a:ln/>
        </p:spPr>
        <p:txBody>
          <a:bodyPr wrap="square" rtlCol="0" anchor="ctr"/>
          <a:lstStyle/>
          <a:p>
            <a:pPr eaLnBrk="1" latinLnBrk="0" hangingPunct="1" indent="0" marL="0">
              <a:buNone/>
            </a:pPr>
            <a:r>
              <a:rPr lang="en-US" sz="5600" b="1" spc="600" kern="0" dirty="0">
                <a:solidFill>
                  <a:srgbClr val="C7273B"/>
                </a:solidFill>
                <a:latin typeface="Segoe UI" pitchFamily="34" charset="0"/>
                <a:ea typeface="Segoe UI" pitchFamily="34" charset="-122"/>
                <a:cs typeface="Segoe UI" pitchFamily="34" charset="-120"/>
              </a:rPr>
              <a:t>DEMO</a:t>
            </a:r>
            <a:endParaRPr lang="en-US" sz="5600" dirty="0"/>
          </a:p>
        </p:txBody>
      </p:sp>
      <p:sp>
        <p:nvSpPr>
          <p:cNvPr id="8" name="Text 6"/>
          <p:cNvSpPr/>
          <p:nvPr/>
        </p:nvSpPr>
        <p:spPr>
          <a:xfrm>
            <a:off x="566928" y="2011680"/>
            <a:ext cx="6949440" cy="457200"/>
          </a:xfrm>
          <a:prstGeom prst="rect">
            <a:avLst/>
          </a:prstGeom>
          <a:noFill/>
          <a:ln/>
        </p:spPr>
        <p:txBody>
          <a:bodyPr wrap="square" rtlCol="0" anchor="ctr"/>
          <a:lstStyle/>
          <a:p>
            <a:pPr eaLnBrk="1" latinLnBrk="0" hangingPunct="1" indent="0" marL="0">
              <a:buNone/>
            </a:pPr>
            <a:r>
              <a:rPr lang="ja-JP" altLang="en-US" sz="2100" b="1" dirty="0">
                <a:solidFill>
                  <a:srgbClr val="331E0E"/>
                </a:solidFill>
                <a:latin typeface="Yu Mincho" pitchFamily="34" charset="0"/>
                <a:ea typeface="Yu Mincho" pitchFamily="34" charset="-122"/>
                <a:cs typeface="Yu Mincho" pitchFamily="34" charset="-120"/>
              </a:rPr>
              <a:t>デモサイトで、各機能を実際にご紹介します</a:t>
            </a:r>
            <a:endParaRPr lang="en-US" sz="2100" dirty="0"/>
          </a:p>
        </p:txBody>
      </p:sp>
      <p:sp>
        <p:nvSpPr>
          <p:cNvPr id="9" name="Text 7"/>
          <p:cNvSpPr/>
          <p:nvPr/>
        </p:nvSpPr>
        <p:spPr>
          <a:xfrm>
            <a:off x="566928" y="2487168"/>
            <a:ext cx="6949440" cy="320040"/>
          </a:xfrm>
          <a:prstGeom prst="rect">
            <a:avLst/>
          </a:prstGeom>
          <a:noFill/>
          <a:ln/>
        </p:spPr>
        <p:txBody>
          <a:bodyPr wrap="square" rtlCol="0" anchor="ctr"/>
          <a:lstStyle/>
          <a:p>
            <a:pPr eaLnBrk="1" latinLnBrk="0" hangingPunct="1" indent="0" marL="0">
              <a:buNone/>
            </a:pPr>
            <a:r>
              <a:rPr lang="en-US" sz="1300" dirty="0">
                <a:solidFill>
                  <a:srgbClr val="877258"/>
                </a:solidFill>
                <a:latin typeface="Segoe UI" pitchFamily="34" charset="0"/>
                <a:ea typeface="Segoe UI" pitchFamily="34" charset="-122"/>
                <a:cs typeface="Segoe UI" pitchFamily="34" charset="-120"/>
              </a:rPr>
              <a:t>Trình bày trực tiếp các tính năng trên sản phẩm demo</a:t>
            </a:r>
            <a:endParaRPr lang="en-US" sz="1300" dirty="0"/>
          </a:p>
        </p:txBody>
      </p:sp>
      <p:sp>
        <p:nvSpPr>
          <p:cNvPr id="10" name="Shape 8"/>
          <p:cNvSpPr/>
          <p:nvPr/>
        </p:nvSpPr>
        <p:spPr>
          <a:xfrm>
            <a:off x="566928" y="3035808"/>
            <a:ext cx="6949440" cy="1097280"/>
          </a:xfrm>
          <a:prstGeom prst="rect">
            <a:avLst/>
          </a:prstGeom>
          <a:solidFill>
            <a:srgbClr val="F7F3EA"/>
          </a:solidFill>
          <a:ln w="12700">
            <a:solidFill>
              <a:srgbClr val="F7F3EA"/>
            </a:solidFill>
            <a:prstDash val="solid"/>
          </a:ln>
        </p:spPr>
      </p:sp>
      <p:sp>
        <p:nvSpPr>
          <p:cNvPr id="11" name="Shape 9"/>
          <p:cNvSpPr/>
          <p:nvPr/>
        </p:nvSpPr>
        <p:spPr>
          <a:xfrm>
            <a:off x="566928" y="3035808"/>
            <a:ext cx="54864" cy="1097280"/>
          </a:xfrm>
          <a:prstGeom prst="rect">
            <a:avLst/>
          </a:prstGeom>
          <a:solidFill>
            <a:srgbClr val="C7273B"/>
          </a:solidFill>
          <a:ln w="12700">
            <a:solidFill>
              <a:srgbClr val="C7273B"/>
            </a:solidFill>
            <a:prstDash val="solid"/>
          </a:ln>
        </p:spPr>
      </p:sp>
      <p:sp>
        <p:nvSpPr>
          <p:cNvPr id="12" name="Text 10"/>
          <p:cNvSpPr/>
          <p:nvPr/>
        </p:nvSpPr>
        <p:spPr>
          <a:xfrm>
            <a:off x="804672" y="3035808"/>
            <a:ext cx="6583680" cy="1097280"/>
          </a:xfrm>
          <a:prstGeom prst="rect">
            <a:avLst/>
          </a:prstGeom>
          <a:noFill/>
          <a:ln/>
        </p:spPr>
        <p:txBody>
          <a:bodyPr wrap="square" rtlCol="0" anchor="ctr"/>
          <a:lstStyle/>
          <a:p>
            <a:pPr eaLnBrk="1" latinLnBrk="0" hangingPunct="1" indent="0" marL="0">
              <a:lnSpc>
                <a:spcPct val="125000"/>
              </a:lnSpc>
              <a:buNone/>
            </a:pPr>
            <a:r>
              <a:rPr lang="ja-JP" altLang="en-US" sz="1150" b="1" dirty="0">
                <a:solidFill>
                  <a:srgbClr val="2A1A0E"/>
                </a:solidFill>
                <a:latin typeface="Yu Gothic" pitchFamily="34" charset="0"/>
                <a:ea typeface="Yu Gothic" pitchFamily="34" charset="-122"/>
                <a:cs typeface="Yu Gothic" pitchFamily="34" charset="-120"/>
              </a:rPr>
              <a:t>スマホからもお試しいただけます</a:t>
            </a:r>
            <a:pPr eaLnBrk="1" latinLnBrk="0" hangingPunct="1" indent="0" marL="0">
              <a:lnSpc>
                <a:spcPct val="125000"/>
              </a:lnSpc>
              <a:buNone/>
            </a:pPr>
            <a:r>
              <a:rPr lang="ja-JP" altLang="en-US" sz="950" dirty="0">
                <a:solidFill>
                  <a:srgbClr val="877258"/>
                </a:solidFill>
                <a:latin typeface="Segoe UI" pitchFamily="34" charset="0"/>
                <a:ea typeface="Segoe UI" pitchFamily="34" charset="-122"/>
                <a:cs typeface="Segoe UI" pitchFamily="34" charset="-120"/>
              </a:rPr>
              <a:t>　／ Quét mã QR hoặc mở link để dùng thử</a:t>
            </a:r>
            <a:endParaRPr lang="en-US" sz="1150" dirty="0"/>
          </a:p>
          <a:p>
            <a:pPr eaLnBrk="1" latinLnBrk="0" hangingPunct="1" indent="0" marL="0">
              <a:lnSpc>
                <a:spcPct val="125000"/>
              </a:lnSpc>
              <a:buNone/>
            </a:pPr>
            <a:r>
              <a:rPr lang="en-US" sz="1900" b="1" u="sng" dirty="0">
                <a:solidFill>
                  <a:srgbClr val="C7273B"/>
                </a:solidFill>
                <a:latin typeface="Consolas" pitchFamily="34" charset="0"/>
                <a:ea typeface="Consolas" pitchFamily="34" charset="-122"/>
                <a:cs typeface="Consolas"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https://entstore-v2-demo.onrender.com</a:t>
            </a:r>
            <a:endParaRPr lang="en-US" sz="1150" dirty="0"/>
          </a:p>
          <a:p>
            <a:pPr eaLnBrk="1" latinLnBrk="0" hangingPunct="1" indent="0" marL="0">
              <a:lnSpc>
                <a:spcPct val="125000"/>
              </a:lnSpc>
              <a:buNone/>
            </a:pPr>
            <a:r>
              <a:rPr lang="ja-JP" altLang="en-US" sz="850" dirty="0">
                <a:solidFill>
                  <a:srgbClr val="877258"/>
                </a:solidFill>
                <a:latin typeface="Yu Gothic" pitchFamily="34" charset="0"/>
                <a:ea typeface="Yu Gothic" pitchFamily="34" charset="-122"/>
                <a:cs typeface="Yu Gothic" pitchFamily="34" charset="-120"/>
              </a:rPr>
              <a:t>※ 価格・在庫・特売はデモ用のデータです ／ Giá, tồn kho, KM là dữ liệu demo</a:t>
            </a:r>
            <a:endParaRPr lang="en-US" sz="1150" dirty="0"/>
          </a:p>
        </p:txBody>
      </p:sp>
      <p:sp>
        <p:nvSpPr>
          <p:cNvPr id="13" name="Shape 11"/>
          <p:cNvSpPr/>
          <p:nvPr/>
        </p:nvSpPr>
        <p:spPr>
          <a:xfrm>
            <a:off x="8524951" y="969264"/>
            <a:ext cx="2999232" cy="3346704"/>
          </a:xfrm>
          <a:prstGeom prst="roundRect">
            <a:avLst>
              <a:gd name="adj" fmla="val 2439"/>
            </a:avLst>
          </a:prstGeom>
          <a:solidFill>
            <a:srgbClr val="FFFFFF"/>
          </a:solidFill>
          <a:ln w="12700">
            <a:solidFill>
              <a:srgbClr val="E4D9C6"/>
            </a:solidFill>
            <a:prstDash val="solid"/>
          </a:ln>
          <a:effectLst>
            <a:outerShdw sx="100000" sy="100000" kx="0" ky="0" algn="bl" rotWithShape="0" blurRad="127000" dist="38100" dir="5400000">
              <a:srgbClr val="000000">
                <a:alpha val="22000"/>
              </a:srgbClr>
            </a:outerShdw>
          </a:effectLst>
        </p:spPr>
      </p:sp>
      <p:pic>
        <p:nvPicPr>
          <p:cNvPr id="14" name="Image 0" descr="C:\Users\minhh\AppData\Local\Temp\claude\c--Users-minhh-Documents-challenge\0b7be4ed-3567-4081-a022-ada0920f3982\scratchpad\qr-demo.png">    </p:cNvPr>
          <p:cNvPicPr>
            <a:picLocks noChangeAspect="1"/>
          </p:cNvPicPr>
          <p:nvPr/>
        </p:nvPicPr>
        <p:blipFill>
          <a:blip r:embed="rId2"/>
          <a:stretch>
            <a:fillRect/>
          </a:stretch>
        </p:blipFill>
        <p:spPr>
          <a:xfrm>
            <a:off x="8652967" y="1097280"/>
            <a:ext cx="2743200" cy="2743200"/>
          </a:xfrm>
          <a:prstGeom prst="rect">
            <a:avLst/>
          </a:prstGeom>
        </p:spPr>
      </p:pic>
      <p:sp>
        <p:nvSpPr>
          <p:cNvPr id="15" name="Text 12"/>
          <p:cNvSpPr/>
          <p:nvPr/>
        </p:nvSpPr>
        <p:spPr>
          <a:xfrm>
            <a:off x="8524951" y="3840480"/>
            <a:ext cx="2999232" cy="457200"/>
          </a:xfrm>
          <a:prstGeom prst="rect">
            <a:avLst/>
          </a:prstGeom>
          <a:noFill/>
          <a:ln/>
        </p:spPr>
        <p:txBody>
          <a:bodyPr wrap="square" rtlCol="0" anchor="ctr"/>
          <a:lstStyle/>
          <a:p>
            <a:pPr eaLnBrk="1" latinLnBrk="0" hangingPunct="1" algn="ctr" indent="0" marL="0">
              <a:buNone/>
            </a:pPr>
            <a:r>
              <a:rPr lang="ja-JP" altLang="en-US" sz="1100" b="1" dirty="0">
                <a:solidFill>
                  <a:srgbClr val="331E0E"/>
                </a:solidFill>
                <a:latin typeface="Yu Gothic" pitchFamily="34" charset="0"/>
                <a:ea typeface="Yu Gothic" pitchFamily="34" charset="-122"/>
                <a:cs typeface="Yu Gothic" pitchFamily="34" charset="-120"/>
              </a:rPr>
              <a:t>スマホで読み取り</a:t>
            </a:r>
            <a:endParaRPr lang="en-US" sz="1100" dirty="0"/>
          </a:p>
          <a:p>
            <a:pPr eaLnBrk="1" latinLnBrk="0" hangingPunct="1" algn="ctr" indent="0" marL="0">
              <a:buNone/>
            </a:pPr>
            <a:r>
              <a:rPr lang="en-US" sz="900" dirty="0">
                <a:solidFill>
                  <a:srgbClr val="877258"/>
                </a:solidFill>
                <a:latin typeface="Segoe UI" pitchFamily="34" charset="0"/>
                <a:ea typeface="Segoe UI" pitchFamily="34" charset="-122"/>
                <a:cs typeface="Segoe UI" pitchFamily="34" charset="-120"/>
              </a:rPr>
              <a:t>Quét bằng điện thoại</a:t>
            </a:r>
            <a:endParaRPr lang="en-US" sz="1100" dirty="0"/>
          </a:p>
        </p:txBody>
      </p:sp>
      <p:sp>
        <p:nvSpPr>
          <p:cNvPr id="16" name="Shape 13"/>
          <p:cNvSpPr/>
          <p:nvPr/>
        </p:nvSpPr>
        <p:spPr>
          <a:xfrm>
            <a:off x="870052" y="4846320"/>
            <a:ext cx="1783080" cy="731520"/>
          </a:xfrm>
          <a:prstGeom prst="roundRect">
            <a:avLst>
              <a:gd name="adj" fmla="val 12500"/>
            </a:avLst>
          </a:prstGeom>
          <a:solidFill>
            <a:srgbClr val="F7F3EA"/>
          </a:solidFill>
          <a:ln w="9525">
            <a:solidFill>
              <a:srgbClr val="E4D9C6"/>
            </a:solidFill>
            <a:prstDash val="solid"/>
          </a:ln>
        </p:spPr>
      </p:sp>
      <p:sp>
        <p:nvSpPr>
          <p:cNvPr id="17" name="Text 14"/>
          <p:cNvSpPr/>
          <p:nvPr/>
        </p:nvSpPr>
        <p:spPr>
          <a:xfrm>
            <a:off x="870052" y="4846320"/>
            <a:ext cx="1783080" cy="731520"/>
          </a:xfrm>
          <a:prstGeom prst="rect">
            <a:avLst/>
          </a:prstGeom>
          <a:noFill/>
          <a:ln/>
        </p:spPr>
        <p:txBody>
          <a:bodyPr wrap="square" rtlCol="0" anchor="ctr"/>
          <a:lstStyle/>
          <a:p>
            <a:pPr eaLnBrk="1" latinLnBrk="0" hangingPunct="1" algn="ctr" indent="0" marL="0">
              <a:buNone/>
            </a:pPr>
            <a:r>
              <a:rPr lang="ja-JP" altLang="en-US" sz="1200" b="1" dirty="0">
                <a:solidFill>
                  <a:srgbClr val="331E0E"/>
                </a:solidFill>
                <a:latin typeface="Yu Gothic" pitchFamily="34" charset="0"/>
                <a:ea typeface="Yu Gothic" pitchFamily="34" charset="-122"/>
                <a:cs typeface="Yu Gothic" pitchFamily="34" charset="-120"/>
              </a:rPr>
              <a:t>1  検索</a:t>
            </a:r>
            <a:endParaRPr lang="en-US" sz="1200" dirty="0"/>
          </a:p>
          <a:p>
            <a:pPr eaLnBrk="1" latinLnBrk="0" hangingPunct="1" algn="ctr" indent="0" marL="0">
              <a:buNone/>
            </a:pPr>
            <a:r>
              <a:rPr lang="en-US" sz="900" dirty="0">
                <a:solidFill>
                  <a:srgbClr val="877258"/>
                </a:solidFill>
                <a:latin typeface="Segoe UI" pitchFamily="34" charset="0"/>
                <a:ea typeface="Segoe UI" pitchFamily="34" charset="-122"/>
                <a:cs typeface="Segoe UI" pitchFamily="34" charset="-120"/>
              </a:rPr>
              <a:t>Tìm kiếm</a:t>
            </a:r>
            <a:endParaRPr lang="en-US" sz="1200" dirty="0"/>
          </a:p>
        </p:txBody>
      </p:sp>
      <p:sp>
        <p:nvSpPr>
          <p:cNvPr id="18" name="Text 15"/>
          <p:cNvSpPr/>
          <p:nvPr/>
        </p:nvSpPr>
        <p:spPr>
          <a:xfrm>
            <a:off x="2653132" y="4983480"/>
            <a:ext cx="384048" cy="457200"/>
          </a:xfrm>
          <a:prstGeom prst="rect">
            <a:avLst/>
          </a:prstGeom>
          <a:noFill/>
          <a:ln/>
        </p:spPr>
        <p:txBody>
          <a:bodyPr wrap="square" rtlCol="0" anchor="ctr"/>
          <a:lstStyle/>
          <a:p>
            <a:pPr eaLnBrk="1" latinLnBrk="0" hangingPunct="1" algn="ctr" indent="0" marL="0">
              <a:buNone/>
            </a:pPr>
            <a:r>
              <a:rPr lang="en-US" sz="2000" dirty="0">
                <a:solidFill>
                  <a:srgbClr val="C7273B"/>
                </a:solidFill>
                <a:latin typeface="Yu Gothic" pitchFamily="34" charset="0"/>
                <a:ea typeface="Yu Gothic" pitchFamily="34" charset="-122"/>
                <a:cs typeface="Yu Gothic" pitchFamily="34" charset="-120"/>
              </a:rPr>
              <a:t>›</a:t>
            </a:r>
            <a:endParaRPr lang="en-US" sz="2000" dirty="0"/>
          </a:p>
        </p:txBody>
      </p:sp>
      <p:sp>
        <p:nvSpPr>
          <p:cNvPr id="19" name="Shape 16"/>
          <p:cNvSpPr/>
          <p:nvPr/>
        </p:nvSpPr>
        <p:spPr>
          <a:xfrm>
            <a:off x="3037180" y="4846320"/>
            <a:ext cx="1783080" cy="731520"/>
          </a:xfrm>
          <a:prstGeom prst="roundRect">
            <a:avLst>
              <a:gd name="adj" fmla="val 12500"/>
            </a:avLst>
          </a:prstGeom>
          <a:solidFill>
            <a:srgbClr val="F7F3EA"/>
          </a:solidFill>
          <a:ln w="9525">
            <a:solidFill>
              <a:srgbClr val="E4D9C6"/>
            </a:solidFill>
            <a:prstDash val="solid"/>
          </a:ln>
        </p:spPr>
      </p:sp>
      <p:sp>
        <p:nvSpPr>
          <p:cNvPr id="20" name="Text 17"/>
          <p:cNvSpPr/>
          <p:nvPr/>
        </p:nvSpPr>
        <p:spPr>
          <a:xfrm>
            <a:off x="3037180" y="4846320"/>
            <a:ext cx="1783080" cy="731520"/>
          </a:xfrm>
          <a:prstGeom prst="rect">
            <a:avLst/>
          </a:prstGeom>
          <a:noFill/>
          <a:ln/>
        </p:spPr>
        <p:txBody>
          <a:bodyPr wrap="square" rtlCol="0" anchor="ctr"/>
          <a:lstStyle/>
          <a:p>
            <a:pPr eaLnBrk="1" latinLnBrk="0" hangingPunct="1" algn="ctr" indent="0" marL="0">
              <a:buNone/>
            </a:pPr>
            <a:r>
              <a:rPr lang="ja-JP" altLang="en-US" sz="1200" b="1" dirty="0">
                <a:solidFill>
                  <a:srgbClr val="331E0E"/>
                </a:solidFill>
                <a:latin typeface="Yu Gothic" pitchFamily="34" charset="0"/>
                <a:ea typeface="Yu Gothic" pitchFamily="34" charset="-122"/>
                <a:cs typeface="Yu Gothic" pitchFamily="34" charset="-120"/>
              </a:rPr>
              <a:t>2  チャットボット</a:t>
            </a:r>
            <a:endParaRPr lang="en-US" sz="1200" dirty="0"/>
          </a:p>
          <a:p>
            <a:pPr eaLnBrk="1" latinLnBrk="0" hangingPunct="1" algn="ctr" indent="0" marL="0">
              <a:buNone/>
            </a:pPr>
            <a:r>
              <a:rPr lang="en-US" sz="900" dirty="0">
                <a:solidFill>
                  <a:srgbClr val="877258"/>
                </a:solidFill>
                <a:latin typeface="Segoe UI" pitchFamily="34" charset="0"/>
                <a:ea typeface="Segoe UI" pitchFamily="34" charset="-122"/>
                <a:cs typeface="Segoe UI" pitchFamily="34" charset="-120"/>
              </a:rPr>
              <a:t>Trợ lý AI</a:t>
            </a:r>
            <a:endParaRPr lang="en-US" sz="1200" dirty="0"/>
          </a:p>
        </p:txBody>
      </p:sp>
      <p:sp>
        <p:nvSpPr>
          <p:cNvPr id="21" name="Text 18"/>
          <p:cNvSpPr/>
          <p:nvPr/>
        </p:nvSpPr>
        <p:spPr>
          <a:xfrm>
            <a:off x="4820260" y="4983480"/>
            <a:ext cx="384048" cy="457200"/>
          </a:xfrm>
          <a:prstGeom prst="rect">
            <a:avLst/>
          </a:prstGeom>
          <a:noFill/>
          <a:ln/>
        </p:spPr>
        <p:txBody>
          <a:bodyPr wrap="square" rtlCol="0" anchor="ctr"/>
          <a:lstStyle/>
          <a:p>
            <a:pPr eaLnBrk="1" latinLnBrk="0" hangingPunct="1" algn="ctr" indent="0" marL="0">
              <a:buNone/>
            </a:pPr>
            <a:r>
              <a:rPr lang="en-US" sz="2000" dirty="0">
                <a:solidFill>
                  <a:srgbClr val="C7273B"/>
                </a:solidFill>
                <a:latin typeface="Yu Gothic" pitchFamily="34" charset="0"/>
                <a:ea typeface="Yu Gothic" pitchFamily="34" charset="-122"/>
                <a:cs typeface="Yu Gothic" pitchFamily="34" charset="-120"/>
              </a:rPr>
              <a:t>›</a:t>
            </a:r>
            <a:endParaRPr lang="en-US" sz="2000" dirty="0"/>
          </a:p>
        </p:txBody>
      </p:sp>
      <p:sp>
        <p:nvSpPr>
          <p:cNvPr id="22" name="Shape 19"/>
          <p:cNvSpPr/>
          <p:nvPr/>
        </p:nvSpPr>
        <p:spPr>
          <a:xfrm>
            <a:off x="5204308" y="4846320"/>
            <a:ext cx="1783080" cy="731520"/>
          </a:xfrm>
          <a:prstGeom prst="roundRect">
            <a:avLst>
              <a:gd name="adj" fmla="val 12500"/>
            </a:avLst>
          </a:prstGeom>
          <a:solidFill>
            <a:srgbClr val="F7F3EA"/>
          </a:solidFill>
          <a:ln w="9525">
            <a:solidFill>
              <a:srgbClr val="E4D9C6"/>
            </a:solidFill>
            <a:prstDash val="solid"/>
          </a:ln>
        </p:spPr>
      </p:sp>
      <p:sp>
        <p:nvSpPr>
          <p:cNvPr id="23" name="Text 20"/>
          <p:cNvSpPr/>
          <p:nvPr/>
        </p:nvSpPr>
        <p:spPr>
          <a:xfrm>
            <a:off x="5204308" y="4846320"/>
            <a:ext cx="1783080" cy="731520"/>
          </a:xfrm>
          <a:prstGeom prst="rect">
            <a:avLst/>
          </a:prstGeom>
          <a:noFill/>
          <a:ln/>
        </p:spPr>
        <p:txBody>
          <a:bodyPr wrap="square" rtlCol="0" anchor="ctr"/>
          <a:lstStyle/>
          <a:p>
            <a:pPr eaLnBrk="1" latinLnBrk="0" hangingPunct="1" algn="ctr" indent="0" marL="0">
              <a:buNone/>
            </a:pPr>
            <a:r>
              <a:rPr lang="ja-JP" altLang="en-US" sz="1200" b="1" dirty="0">
                <a:solidFill>
                  <a:srgbClr val="331E0E"/>
                </a:solidFill>
                <a:latin typeface="Yu Gothic" pitchFamily="34" charset="0"/>
                <a:ea typeface="Yu Gothic" pitchFamily="34" charset="-122"/>
                <a:cs typeface="Yu Gothic" pitchFamily="34" charset="-120"/>
              </a:rPr>
              <a:t>3  レシピ</a:t>
            </a:r>
            <a:endParaRPr lang="en-US" sz="1200" dirty="0"/>
          </a:p>
          <a:p>
            <a:pPr eaLnBrk="1" latinLnBrk="0" hangingPunct="1" algn="ctr" indent="0" marL="0">
              <a:buNone/>
            </a:pPr>
            <a:r>
              <a:rPr lang="en-US" sz="900" dirty="0">
                <a:solidFill>
                  <a:srgbClr val="877258"/>
                </a:solidFill>
                <a:latin typeface="Segoe UI" pitchFamily="34" charset="0"/>
                <a:ea typeface="Segoe UI" pitchFamily="34" charset="-122"/>
                <a:cs typeface="Segoe UI" pitchFamily="34" charset="-120"/>
              </a:rPr>
              <a:t>Công thức</a:t>
            </a:r>
            <a:endParaRPr lang="en-US" sz="1200" dirty="0"/>
          </a:p>
        </p:txBody>
      </p:sp>
      <p:sp>
        <p:nvSpPr>
          <p:cNvPr id="24" name="Text 21"/>
          <p:cNvSpPr/>
          <p:nvPr/>
        </p:nvSpPr>
        <p:spPr>
          <a:xfrm>
            <a:off x="6987388" y="4983480"/>
            <a:ext cx="384048" cy="457200"/>
          </a:xfrm>
          <a:prstGeom prst="rect">
            <a:avLst/>
          </a:prstGeom>
          <a:noFill/>
          <a:ln/>
        </p:spPr>
        <p:txBody>
          <a:bodyPr wrap="square" rtlCol="0" anchor="ctr"/>
          <a:lstStyle/>
          <a:p>
            <a:pPr eaLnBrk="1" latinLnBrk="0" hangingPunct="1" algn="ctr" indent="0" marL="0">
              <a:buNone/>
            </a:pPr>
            <a:r>
              <a:rPr lang="en-US" sz="2000" dirty="0">
                <a:solidFill>
                  <a:srgbClr val="C7273B"/>
                </a:solidFill>
                <a:latin typeface="Yu Gothic" pitchFamily="34" charset="0"/>
                <a:ea typeface="Yu Gothic" pitchFamily="34" charset="-122"/>
                <a:cs typeface="Yu Gothic" pitchFamily="34" charset="-120"/>
              </a:rPr>
              <a:t>›</a:t>
            </a:r>
            <a:endParaRPr lang="en-US" sz="2000" dirty="0"/>
          </a:p>
        </p:txBody>
      </p:sp>
      <p:sp>
        <p:nvSpPr>
          <p:cNvPr id="25" name="Shape 22"/>
          <p:cNvSpPr/>
          <p:nvPr/>
        </p:nvSpPr>
        <p:spPr>
          <a:xfrm>
            <a:off x="7371436" y="4846320"/>
            <a:ext cx="1783080" cy="731520"/>
          </a:xfrm>
          <a:prstGeom prst="roundRect">
            <a:avLst>
              <a:gd name="adj" fmla="val 12500"/>
            </a:avLst>
          </a:prstGeom>
          <a:solidFill>
            <a:srgbClr val="F7F3EA"/>
          </a:solidFill>
          <a:ln w="9525">
            <a:solidFill>
              <a:srgbClr val="E4D9C6"/>
            </a:solidFill>
            <a:prstDash val="solid"/>
          </a:ln>
        </p:spPr>
      </p:sp>
      <p:sp>
        <p:nvSpPr>
          <p:cNvPr id="26" name="Text 23"/>
          <p:cNvSpPr/>
          <p:nvPr/>
        </p:nvSpPr>
        <p:spPr>
          <a:xfrm>
            <a:off x="7371436" y="4846320"/>
            <a:ext cx="1783080" cy="731520"/>
          </a:xfrm>
          <a:prstGeom prst="rect">
            <a:avLst/>
          </a:prstGeom>
          <a:noFill/>
          <a:ln/>
        </p:spPr>
        <p:txBody>
          <a:bodyPr wrap="square" rtlCol="0" anchor="ctr"/>
          <a:lstStyle/>
          <a:p>
            <a:pPr eaLnBrk="1" latinLnBrk="0" hangingPunct="1" algn="ctr" indent="0" marL="0">
              <a:buNone/>
            </a:pPr>
            <a:r>
              <a:rPr lang="ja-JP" altLang="en-US" sz="1200" b="1" dirty="0">
                <a:solidFill>
                  <a:srgbClr val="331E0E"/>
                </a:solidFill>
                <a:latin typeface="Yu Gothic" pitchFamily="34" charset="0"/>
                <a:ea typeface="Yu Gothic" pitchFamily="34" charset="-122"/>
                <a:cs typeface="Yu Gothic" pitchFamily="34" charset="-120"/>
              </a:rPr>
              <a:t>4  買い物リスト</a:t>
            </a:r>
            <a:endParaRPr lang="en-US" sz="1200" dirty="0"/>
          </a:p>
          <a:p>
            <a:pPr eaLnBrk="1" latinLnBrk="0" hangingPunct="1" algn="ctr" indent="0" marL="0">
              <a:buNone/>
            </a:pPr>
            <a:r>
              <a:rPr lang="en-US" sz="900" dirty="0">
                <a:solidFill>
                  <a:srgbClr val="877258"/>
                </a:solidFill>
                <a:latin typeface="Segoe UI" pitchFamily="34" charset="0"/>
                <a:ea typeface="Segoe UI" pitchFamily="34" charset="-122"/>
                <a:cs typeface="Segoe UI" pitchFamily="34" charset="-120"/>
              </a:rPr>
              <a:t>Danh sách đi chợ</a:t>
            </a:r>
            <a:endParaRPr lang="en-US" sz="1200" dirty="0"/>
          </a:p>
        </p:txBody>
      </p:sp>
      <p:sp>
        <p:nvSpPr>
          <p:cNvPr id="27" name="Text 24"/>
          <p:cNvSpPr/>
          <p:nvPr/>
        </p:nvSpPr>
        <p:spPr>
          <a:xfrm>
            <a:off x="9154516" y="4983480"/>
            <a:ext cx="384048" cy="457200"/>
          </a:xfrm>
          <a:prstGeom prst="rect">
            <a:avLst/>
          </a:prstGeom>
          <a:noFill/>
          <a:ln/>
        </p:spPr>
        <p:txBody>
          <a:bodyPr wrap="square" rtlCol="0" anchor="ctr"/>
          <a:lstStyle/>
          <a:p>
            <a:pPr eaLnBrk="1" latinLnBrk="0" hangingPunct="1" algn="ctr" indent="0" marL="0">
              <a:buNone/>
            </a:pPr>
            <a:r>
              <a:rPr lang="en-US" sz="2000" dirty="0">
                <a:solidFill>
                  <a:srgbClr val="C7273B"/>
                </a:solidFill>
                <a:latin typeface="Yu Gothic" pitchFamily="34" charset="0"/>
                <a:ea typeface="Yu Gothic" pitchFamily="34" charset="-122"/>
                <a:cs typeface="Yu Gothic" pitchFamily="34" charset="-120"/>
              </a:rPr>
              <a:t>›</a:t>
            </a:r>
            <a:endParaRPr lang="en-US" sz="2000" dirty="0"/>
          </a:p>
        </p:txBody>
      </p:sp>
      <p:sp>
        <p:nvSpPr>
          <p:cNvPr id="28" name="Shape 25"/>
          <p:cNvSpPr/>
          <p:nvPr/>
        </p:nvSpPr>
        <p:spPr>
          <a:xfrm>
            <a:off x="9538564" y="4846320"/>
            <a:ext cx="1783080" cy="731520"/>
          </a:xfrm>
          <a:prstGeom prst="roundRect">
            <a:avLst>
              <a:gd name="adj" fmla="val 12500"/>
            </a:avLst>
          </a:prstGeom>
          <a:solidFill>
            <a:srgbClr val="F7F3EA"/>
          </a:solidFill>
          <a:ln w="9525">
            <a:solidFill>
              <a:srgbClr val="E4D9C6"/>
            </a:solidFill>
            <a:prstDash val="solid"/>
          </a:ln>
        </p:spPr>
      </p:sp>
      <p:sp>
        <p:nvSpPr>
          <p:cNvPr id="29" name="Text 26"/>
          <p:cNvSpPr/>
          <p:nvPr/>
        </p:nvSpPr>
        <p:spPr>
          <a:xfrm>
            <a:off x="9538564" y="4846320"/>
            <a:ext cx="1783080" cy="731520"/>
          </a:xfrm>
          <a:prstGeom prst="rect">
            <a:avLst/>
          </a:prstGeom>
          <a:noFill/>
          <a:ln/>
        </p:spPr>
        <p:txBody>
          <a:bodyPr wrap="square" rtlCol="0" anchor="ctr"/>
          <a:lstStyle/>
          <a:p>
            <a:pPr eaLnBrk="1" latinLnBrk="0" hangingPunct="1" algn="ctr" indent="0" marL="0">
              <a:buNone/>
            </a:pPr>
            <a:r>
              <a:rPr lang="ja-JP" altLang="en-US" sz="1200" b="1" dirty="0">
                <a:solidFill>
                  <a:srgbClr val="331E0E"/>
                </a:solidFill>
                <a:latin typeface="Yu Gothic" pitchFamily="34" charset="0"/>
                <a:ea typeface="Yu Gothic" pitchFamily="34" charset="-122"/>
                <a:cs typeface="Yu Gothic" pitchFamily="34" charset="-120"/>
              </a:rPr>
              <a:t>5  カート → 通販</a:t>
            </a:r>
            <a:endParaRPr lang="en-US" sz="1200" dirty="0"/>
          </a:p>
          <a:p>
            <a:pPr eaLnBrk="1" latinLnBrk="0" hangingPunct="1" algn="ctr" indent="0" marL="0">
              <a:buNone/>
            </a:pPr>
            <a:r>
              <a:rPr lang="en-US" sz="900" dirty="0">
                <a:solidFill>
                  <a:srgbClr val="877258"/>
                </a:solidFill>
                <a:latin typeface="Segoe UI" pitchFamily="34" charset="0"/>
                <a:ea typeface="Segoe UI" pitchFamily="34" charset="-122"/>
                <a:cs typeface="Segoe UI" pitchFamily="34" charset="-120"/>
              </a:rPr>
              <a:t>Giỏ hàng → EC</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7273B"/>
          </a:solidFill>
          <a:ln w="12700">
            <a:solidFill>
              <a:srgbClr val="C7273B"/>
            </a:solidFill>
            <a:prstDash val="solid"/>
          </a:ln>
        </p:spPr>
      </p:sp>
      <p:sp>
        <p:nvSpPr>
          <p:cNvPr id="3" name="Text 1"/>
          <p:cNvSpPr/>
          <p:nvPr/>
        </p:nvSpPr>
        <p:spPr>
          <a:xfrm>
            <a:off x="566928" y="6473952"/>
            <a:ext cx="1097280" cy="228600"/>
          </a:xfrm>
          <a:prstGeom prst="rect">
            <a:avLst/>
          </a:prstGeom>
          <a:noFill/>
          <a:ln/>
        </p:spPr>
        <p:txBody>
          <a:bodyPr wrap="square" rtlCol="0" anchor="ctr"/>
          <a:lstStyle/>
          <a:p>
            <a:pPr eaLnBrk="1" latinLnBrk="0" hangingPunct="1" indent="0" marL="0">
              <a:buNone/>
            </a:pPr>
            <a:r>
              <a:rPr lang="en-US" sz="850" spc="100" kern="0" dirty="0">
                <a:solidFill>
                  <a:srgbClr val="877258"/>
                </a:solidFill>
                <a:latin typeface="Segoe UI" pitchFamily="34" charset="0"/>
                <a:ea typeface="Segoe UI" pitchFamily="34" charset="-122"/>
                <a:cs typeface="Segoe UI" pitchFamily="34" charset="-120"/>
              </a:rPr>
              <a:t>06 / 07</a:t>
            </a:r>
            <a:endParaRPr lang="en-US" sz="850" dirty="0"/>
          </a:p>
        </p:txBody>
      </p:sp>
      <p:sp>
        <p:nvSpPr>
          <p:cNvPr id="4" name="Text 2"/>
          <p:cNvSpPr/>
          <p:nvPr/>
        </p:nvSpPr>
        <p:spPr>
          <a:xfrm>
            <a:off x="8351215" y="6473952"/>
            <a:ext cx="3291840" cy="228600"/>
          </a:xfrm>
          <a:prstGeom prst="rect">
            <a:avLst/>
          </a:prstGeom>
          <a:noFill/>
          <a:ln/>
        </p:spPr>
        <p:txBody>
          <a:bodyPr wrap="square" rtlCol="0" anchor="ctr"/>
          <a:lstStyle/>
          <a:p>
            <a:pPr eaLnBrk="1" latinLnBrk="0" hangingPunct="1" algn="r" indent="0" marL="0">
              <a:buNone/>
            </a:pPr>
            <a:r>
              <a:rPr lang="ja-JP" altLang="en-US" sz="850" dirty="0">
                <a:solidFill>
                  <a:srgbClr val="877258"/>
                </a:solidFill>
                <a:latin typeface="Yu Gothic" pitchFamily="34" charset="0"/>
                <a:ea typeface="Yu Gothic" pitchFamily="34" charset="-122"/>
                <a:cs typeface="Yu Gothic" pitchFamily="34" charset="-120"/>
              </a:rPr>
              <a:t>遠鉄ストア Webサイト改善提案</a:t>
            </a:r>
            <a:endParaRPr lang="en-US" sz="850" dirty="0"/>
          </a:p>
        </p:txBody>
      </p:sp>
      <p:sp>
        <p:nvSpPr>
          <p:cNvPr id="5" name="Text 3"/>
          <p:cNvSpPr/>
          <p:nvPr/>
        </p:nvSpPr>
        <p:spPr>
          <a:xfrm>
            <a:off x="566928" y="347472"/>
            <a:ext cx="11057839" cy="256032"/>
          </a:xfrm>
          <a:prstGeom prst="rect">
            <a:avLst/>
          </a:prstGeom>
          <a:noFill/>
          <a:ln/>
        </p:spPr>
        <p:txBody>
          <a:bodyPr wrap="square" rtlCol="0" anchor="ctr"/>
          <a:lstStyle/>
          <a:p>
            <a:pPr eaLnBrk="1" latinLnBrk="0" hangingPunct="1" indent="0" marL="0">
              <a:buNone/>
            </a:pPr>
            <a:r>
              <a:rPr lang="ja-JP" altLang="en-US" sz="1050" b="1" spc="100" kern="0" dirty="0">
                <a:solidFill>
                  <a:srgbClr val="C7273B"/>
                </a:solidFill>
                <a:latin typeface="Yu Gothic" pitchFamily="34" charset="0"/>
                <a:ea typeface="Yu Gothic" pitchFamily="34" charset="-122"/>
                <a:cs typeface="Yu Gothic" pitchFamily="34" charset="-120"/>
              </a:rPr>
              <a:t>期待効果と課題</a:t>
            </a:r>
            <a:pPr eaLnBrk="1" latinLnBrk="0" hangingPunct="1" indent="0" marL="0">
              <a:buNone/>
            </a:pPr>
            <a:r>
              <a:rPr lang="ja-JP" altLang="en-US" sz="1000" b="1" spc="100" kern="0" dirty="0">
                <a:solidFill>
                  <a:srgbClr val="877258"/>
                </a:solidFill>
                <a:latin typeface="Segoe UI" pitchFamily="34" charset="0"/>
                <a:ea typeface="Segoe UI" pitchFamily="34" charset="-122"/>
                <a:cs typeface="Segoe UI" pitchFamily="34" charset="-120"/>
              </a:rPr>
              <a:t>　／ KỲ VỌNG &amp; HẠN CHẾ</a:t>
            </a:r>
            <a:endParaRPr lang="en-US" sz="1050" dirty="0"/>
          </a:p>
        </p:txBody>
      </p:sp>
      <p:sp>
        <p:nvSpPr>
          <p:cNvPr id="6" name="Shape 4"/>
          <p:cNvSpPr/>
          <p:nvPr/>
        </p:nvSpPr>
        <p:spPr>
          <a:xfrm>
            <a:off x="566928" y="621792"/>
            <a:ext cx="11057839" cy="0"/>
          </a:xfrm>
          <a:prstGeom prst="line">
            <a:avLst/>
          </a:prstGeom>
          <a:noFill/>
          <a:ln w="9525">
            <a:solidFill>
              <a:srgbClr val="E4D9C6"/>
            </a:solidFill>
            <a:prstDash val="solid"/>
          </a:ln>
        </p:spPr>
      </p:sp>
      <p:sp>
        <p:nvSpPr>
          <p:cNvPr id="7" name="Text 5"/>
          <p:cNvSpPr/>
          <p:nvPr/>
        </p:nvSpPr>
        <p:spPr>
          <a:xfrm>
            <a:off x="566928" y="713232"/>
            <a:ext cx="11057839" cy="502920"/>
          </a:xfrm>
          <a:prstGeom prst="rect">
            <a:avLst/>
          </a:prstGeom>
          <a:noFill/>
          <a:ln/>
        </p:spPr>
        <p:txBody>
          <a:bodyPr wrap="square" rtlCol="0" anchor="ctr"/>
          <a:lstStyle/>
          <a:p>
            <a:pPr eaLnBrk="1" latinLnBrk="0" hangingPunct="1" indent="0" marL="0">
              <a:buNone/>
            </a:pPr>
            <a:r>
              <a:rPr lang="ja-JP" altLang="en-US" sz="2700" b="1" dirty="0">
                <a:solidFill>
                  <a:srgbClr val="331E0E"/>
                </a:solidFill>
                <a:latin typeface="Yu Mincho" pitchFamily="34" charset="0"/>
                <a:ea typeface="Yu Mincho" pitchFamily="34" charset="-122"/>
                <a:cs typeface="Yu Mincho" pitchFamily="34" charset="-120"/>
              </a:rPr>
              <a:t>期待できる効果と、今後の課題</a:t>
            </a:r>
            <a:endParaRPr lang="en-US" sz="2700" dirty="0"/>
          </a:p>
        </p:txBody>
      </p:sp>
      <p:sp>
        <p:nvSpPr>
          <p:cNvPr id="8" name="Text 6"/>
          <p:cNvSpPr/>
          <p:nvPr/>
        </p:nvSpPr>
        <p:spPr>
          <a:xfrm>
            <a:off x="566928" y="1225296"/>
            <a:ext cx="11057839" cy="274320"/>
          </a:xfrm>
          <a:prstGeom prst="rect">
            <a:avLst/>
          </a:prstGeom>
          <a:noFill/>
          <a:ln/>
        </p:spPr>
        <p:txBody>
          <a:bodyPr wrap="square" rtlCol="0" anchor="ctr"/>
          <a:lstStyle/>
          <a:p>
            <a:pPr eaLnBrk="1" latinLnBrk="0" hangingPunct="1" indent="0" marL="0">
              <a:buNone/>
            </a:pPr>
            <a:r>
              <a:rPr lang="en-US" sz="1250" dirty="0">
                <a:solidFill>
                  <a:srgbClr val="877258"/>
                </a:solidFill>
                <a:latin typeface="Segoe UI" pitchFamily="34" charset="0"/>
                <a:ea typeface="Segoe UI" pitchFamily="34" charset="-122"/>
                <a:cs typeface="Segoe UI" pitchFamily="34" charset="-120"/>
              </a:rPr>
              <a:t>Kết quả kỳ vọng và hạn chế</a:t>
            </a:r>
            <a:endParaRPr lang="en-US" sz="1250" dirty="0"/>
          </a:p>
        </p:txBody>
      </p:sp>
      <p:sp>
        <p:nvSpPr>
          <p:cNvPr id="9" name="Shape 7"/>
          <p:cNvSpPr/>
          <p:nvPr/>
        </p:nvSpPr>
        <p:spPr>
          <a:xfrm>
            <a:off x="566928" y="1755648"/>
            <a:ext cx="6720840" cy="402336"/>
          </a:xfrm>
          <a:prstGeom prst="rect">
            <a:avLst/>
          </a:prstGeom>
          <a:solidFill>
            <a:srgbClr val="C7273B"/>
          </a:solidFill>
          <a:ln w="12700">
            <a:solidFill>
              <a:srgbClr val="C7273B"/>
            </a:solidFill>
            <a:prstDash val="solid"/>
          </a:ln>
        </p:spPr>
      </p:sp>
      <p:sp>
        <p:nvSpPr>
          <p:cNvPr id="10" name="Text 8"/>
          <p:cNvSpPr/>
          <p:nvPr/>
        </p:nvSpPr>
        <p:spPr>
          <a:xfrm>
            <a:off x="749808" y="1755648"/>
            <a:ext cx="6355080" cy="402336"/>
          </a:xfrm>
          <a:prstGeom prst="rect">
            <a:avLst/>
          </a:prstGeom>
          <a:noFill/>
          <a:ln/>
        </p:spPr>
        <p:txBody>
          <a:bodyPr wrap="square" rtlCol="0" anchor="ctr"/>
          <a:lstStyle/>
          <a:p>
            <a:pPr eaLnBrk="1" latinLnBrk="0" hangingPunct="1" indent="0" marL="0">
              <a:buNone/>
            </a:pPr>
            <a:r>
              <a:rPr lang="ja-JP" altLang="en-US" sz="1250" b="1" dirty="0">
                <a:solidFill>
                  <a:srgbClr val="FFFFFF"/>
                </a:solidFill>
                <a:latin typeface="Yu Gothic" pitchFamily="34" charset="0"/>
                <a:ea typeface="Yu Gothic" pitchFamily="34" charset="-122"/>
                <a:cs typeface="Yu Gothic" pitchFamily="34" charset="-120"/>
              </a:rPr>
              <a:t>期待できる効果</a:t>
            </a:r>
            <a:pPr eaLnBrk="1" latinLnBrk="0" hangingPunct="1" indent="0" marL="0">
              <a:buNone/>
            </a:pPr>
            <a:r>
              <a:rPr lang="ja-JP" altLang="en-US" sz="950" b="1" dirty="0">
                <a:solidFill>
                  <a:srgbClr val="FFFFFF"/>
                </a:solidFill>
                <a:latin typeface="Segoe UI" pitchFamily="34" charset="0"/>
                <a:ea typeface="Segoe UI" pitchFamily="34" charset="-122"/>
                <a:cs typeface="Segoe UI" pitchFamily="34" charset="-120"/>
              </a:rPr>
              <a:t>　／ KẾT QUẢ KỲ VỌNG</a:t>
            </a:r>
            <a:endParaRPr lang="en-US" sz="1250" dirty="0"/>
          </a:p>
        </p:txBody>
      </p:sp>
      <p:sp>
        <p:nvSpPr>
          <p:cNvPr id="11" name="Shape 9"/>
          <p:cNvSpPr/>
          <p:nvPr/>
        </p:nvSpPr>
        <p:spPr>
          <a:xfrm>
            <a:off x="566928" y="2157984"/>
            <a:ext cx="6720840" cy="2834640"/>
          </a:xfrm>
          <a:prstGeom prst="rect">
            <a:avLst/>
          </a:prstGeom>
          <a:solidFill>
            <a:srgbClr val="FFFFFF"/>
          </a:solidFill>
          <a:ln w="9525">
            <a:solidFill>
              <a:srgbClr val="E4D9C6"/>
            </a:solidFill>
            <a:prstDash val="solid"/>
          </a:ln>
        </p:spPr>
      </p:sp>
      <p:sp>
        <p:nvSpPr>
          <p:cNvPr id="12" name="Text 10"/>
          <p:cNvSpPr/>
          <p:nvPr/>
        </p:nvSpPr>
        <p:spPr>
          <a:xfrm>
            <a:off x="731520" y="2322576"/>
            <a:ext cx="6391656" cy="2560320"/>
          </a:xfrm>
          <a:prstGeom prst="rect">
            <a:avLst/>
          </a:prstGeom>
          <a:noFill/>
          <a:ln/>
        </p:spPr>
        <p:txBody>
          <a:bodyPr wrap="square" rtlCol="0" anchor="t"/>
          <a:lstStyle/>
          <a:p>
            <a:pPr eaLnBrk="1" latinLnBrk="0" hangingPunct="1" marL="254000" indent="-254000">
              <a:lnSpc>
                <a:spcPct val="120000"/>
              </a:lnSpc>
              <a:buSzPct val="100000"/>
              <a:buFont typeface="+mj-lt"/>
              <a:buAutoNum type="arabicPeriod" startAt="1"/>
            </a:pPr>
            <a:r>
              <a:rPr lang="ja-JP" altLang="en-US" sz="1150" b="1" dirty="0">
                <a:solidFill>
                  <a:srgbClr val="2A1A0E"/>
                </a:solidFill>
                <a:latin typeface="Yu Gothic" pitchFamily="34" charset="0"/>
                <a:ea typeface="Yu Gothic" pitchFamily="34" charset="-122"/>
                <a:cs typeface="Yu Gothic" pitchFamily="34" charset="-120"/>
              </a:rPr>
              <a:t>外国語でも、探したい情報にすぐたどり着ける</a:t>
            </a:r>
            <a:br/>
            <a:pPr eaLnBrk="1" latinLnBrk="0" hangingPunct="1" indent="0" marL="0">
              <a:buNone/>
            </a:pPr>
            <a:r>
              <a:rPr lang="en-US" sz="950" dirty="0">
                <a:solidFill>
                  <a:srgbClr val="877258"/>
                </a:solidFill>
                <a:latin typeface="Segoe UI" pitchFamily="34" charset="0"/>
                <a:ea typeface="Segoe UI" pitchFamily="34" charset="-122"/>
                <a:cs typeface="Segoe UI" pitchFamily="34" charset="-120"/>
              </a:rPr>
              <a:t>Khách (kể cả người nước ngoài) dễ dàng tìm kiếm được thông tin cần</a:t>
            </a:r>
            <a:endParaRPr lang="en-US" sz="1150" dirty="0"/>
          </a:p>
          <a:p>
            <a:pPr eaLnBrk="1" latinLnBrk="0" hangingPunct="1" marL="254000" indent="-254000">
              <a:lnSpc>
                <a:spcPct val="120000"/>
              </a:lnSpc>
              <a:spcBef>
                <a:spcPts val="1100"/>
              </a:spcBef>
              <a:buSzPct val="100000"/>
              <a:buFont typeface="+mj-lt"/>
              <a:buAutoNum type="arabicPeriod" startAt="1"/>
            </a:pPr>
            <a:r>
              <a:rPr lang="ja-JP" altLang="en-US" sz="1150" b="1" dirty="0">
                <a:solidFill>
                  <a:srgbClr val="2A1A0E"/>
                </a:solidFill>
                <a:latin typeface="Yu Gothic" pitchFamily="34" charset="0"/>
                <a:ea typeface="Yu Gothic" pitchFamily="34" charset="-122"/>
                <a:cs typeface="Yu Gothic" pitchFamily="34" charset="-120"/>
              </a:rPr>
              <a:t>関連レシピ・関連記事・予算の提案で、サイトに長く滞在</a:t>
            </a:r>
            <a:br/>
            <a:pPr eaLnBrk="1" latinLnBrk="0" hangingPunct="1" indent="0" marL="0">
              <a:buNone/>
            </a:pPr>
            <a:r>
              <a:rPr lang="en-US" sz="950" dirty="0">
                <a:solidFill>
                  <a:srgbClr val="877258"/>
                </a:solidFill>
                <a:latin typeface="Segoe UI" pitchFamily="34" charset="0"/>
                <a:ea typeface="Segoe UI" pitchFamily="34" charset="-122"/>
                <a:cs typeface="Segoe UI" pitchFamily="34" charset="-120"/>
              </a:rPr>
              <a:t>Gợi ý món, bài viết liên quan, món theo ngân sách giúp khách ở lại website lâu hơn</a:t>
            </a:r>
            <a:endParaRPr lang="en-US" sz="1150" dirty="0"/>
          </a:p>
          <a:p>
            <a:pPr eaLnBrk="1" latinLnBrk="0" hangingPunct="1" marL="254000" indent="-254000">
              <a:lnSpc>
                <a:spcPct val="120000"/>
              </a:lnSpc>
              <a:spcBef>
                <a:spcPts val="1100"/>
              </a:spcBef>
              <a:buSzPct val="100000"/>
              <a:buFont typeface="+mj-lt"/>
              <a:buAutoNum type="arabicPeriod" startAt="1"/>
            </a:pPr>
            <a:r>
              <a:rPr lang="ja-JP" altLang="en-US" sz="1150" b="1" dirty="0">
                <a:solidFill>
                  <a:srgbClr val="2A1A0E"/>
                </a:solidFill>
                <a:latin typeface="Yu Gothic" pitchFamily="34" charset="0"/>
                <a:ea typeface="Yu Gothic" pitchFamily="34" charset="-122"/>
                <a:cs typeface="Yu Gothic" pitchFamily="34" charset="-120"/>
              </a:rPr>
              <a:t>特売が検索やチャットで見つかり、商品やカートへ直結</a:t>
            </a:r>
            <a:br/>
            <a:pPr eaLnBrk="1" latinLnBrk="0" hangingPunct="1" indent="0" marL="0">
              <a:buNone/>
            </a:pPr>
            <a:r>
              <a:rPr lang="en-US" sz="950" dirty="0">
                <a:solidFill>
                  <a:srgbClr val="877258"/>
                </a:solidFill>
                <a:latin typeface="Segoe UI" pitchFamily="34" charset="0"/>
                <a:ea typeface="Segoe UI" pitchFamily="34" charset="-122"/>
                <a:cs typeface="Segoe UI" pitchFamily="34" charset="-120"/>
              </a:rPr>
              <a:t>Khuyến mãi dễ tìm hơn và dẫn thẳng tới sản phẩm, giỏ hàng</a:t>
            </a:r>
            <a:endParaRPr lang="en-US" sz="1150" dirty="0"/>
          </a:p>
          <a:p>
            <a:pPr eaLnBrk="1" latinLnBrk="0" hangingPunct="1" marL="254000" indent="-254000">
              <a:lnSpc>
                <a:spcPct val="120000"/>
              </a:lnSpc>
              <a:spcBef>
                <a:spcPts val="1100"/>
              </a:spcBef>
              <a:buSzPct val="100000"/>
              <a:buFont typeface="+mj-lt"/>
              <a:buAutoNum type="arabicPeriod" startAt="1"/>
            </a:pPr>
            <a:r>
              <a:rPr lang="ja-JP" altLang="en-US" sz="1150" b="1" dirty="0">
                <a:solidFill>
                  <a:srgbClr val="2A1A0E"/>
                </a:solidFill>
                <a:latin typeface="Yu Gothic" pitchFamily="34" charset="0"/>
                <a:ea typeface="Yu Gothic" pitchFamily="34" charset="-122"/>
                <a:cs typeface="Yu Gothic" pitchFamily="34" charset="-120"/>
              </a:rPr>
              <a:t>お店では売場順リストで買い忘れ防止、ネットは既存の通販へ送客</a:t>
            </a:r>
            <a:br/>
            <a:pPr eaLnBrk="1" latinLnBrk="0" hangingPunct="1" indent="0" marL="0">
              <a:buNone/>
            </a:pPr>
            <a:r>
              <a:rPr lang="en-US" sz="950" dirty="0">
                <a:solidFill>
                  <a:srgbClr val="877258"/>
                </a:solidFill>
                <a:latin typeface="Segoe UI" pitchFamily="34" charset="0"/>
                <a:ea typeface="Segoe UI" pitchFamily="34" charset="-122"/>
                <a:cs typeface="Segoe UI" pitchFamily="34" charset="-120"/>
              </a:rPr>
              <a:t>Mua tại siêu thị không sót món; mua online được dẫn sang trang EC sẵn có</a:t>
            </a:r>
            <a:endParaRPr lang="en-US" sz="1150" dirty="0"/>
          </a:p>
          <a:p>
            <a:pPr eaLnBrk="1" latinLnBrk="0" hangingPunct="1" marL="254000" indent="-254000">
              <a:lnSpc>
                <a:spcPct val="120000"/>
              </a:lnSpc>
              <a:spcBef>
                <a:spcPts val="1100"/>
              </a:spcBef>
              <a:buSzPct val="100000"/>
              <a:buFont typeface="+mj-lt"/>
              <a:buAutoNum type="arabicPeriod" startAt="1"/>
            </a:pPr>
            <a:r>
              <a:rPr lang="ja-JP" altLang="en-US" sz="1150" b="1" dirty="0">
                <a:solidFill>
                  <a:srgbClr val="2A1A0E"/>
                </a:solidFill>
                <a:latin typeface="Yu Gothic" pitchFamily="34" charset="0"/>
                <a:ea typeface="Yu Gothic" pitchFamily="34" charset="-122"/>
                <a:cs typeface="Yu Gothic" pitchFamily="34" charset="-120"/>
              </a:rPr>
              <a:t>特売はExcelのまま登録でき、期限切れは自動で非表示</a:t>
            </a:r>
            <a:br/>
            <a:pPr eaLnBrk="1" latinLnBrk="0" hangingPunct="1" indent="0" marL="0">
              <a:buNone/>
            </a:pPr>
            <a:r>
              <a:rPr lang="en-US" sz="950" dirty="0">
                <a:solidFill>
                  <a:srgbClr val="877258"/>
                </a:solidFill>
                <a:latin typeface="Segoe UI" pitchFamily="34" charset="0"/>
                <a:ea typeface="Segoe UI" pitchFamily="34" charset="-122"/>
                <a:cs typeface="Segoe UI" pitchFamily="34" charset="-120"/>
              </a:rPr>
              <a:t>Nhân viên cập nhật KM dễ, hết hạn tự ẩn — giảm công vận hành</a:t>
            </a:r>
            <a:endParaRPr lang="en-US" sz="1150" dirty="0"/>
          </a:p>
        </p:txBody>
      </p:sp>
      <p:sp>
        <p:nvSpPr>
          <p:cNvPr id="13" name="Shape 11"/>
          <p:cNvSpPr/>
          <p:nvPr/>
        </p:nvSpPr>
        <p:spPr>
          <a:xfrm>
            <a:off x="7562088" y="1755648"/>
            <a:ext cx="4062679" cy="402336"/>
          </a:xfrm>
          <a:prstGeom prst="rect">
            <a:avLst/>
          </a:prstGeom>
          <a:solidFill>
            <a:srgbClr val="B0651C"/>
          </a:solidFill>
          <a:ln w="12700">
            <a:solidFill>
              <a:srgbClr val="B0651C"/>
            </a:solidFill>
            <a:prstDash val="solid"/>
          </a:ln>
        </p:spPr>
      </p:sp>
      <p:sp>
        <p:nvSpPr>
          <p:cNvPr id="14" name="Text 12"/>
          <p:cNvSpPr/>
          <p:nvPr/>
        </p:nvSpPr>
        <p:spPr>
          <a:xfrm>
            <a:off x="7744968" y="1755648"/>
            <a:ext cx="3696919" cy="402336"/>
          </a:xfrm>
          <a:prstGeom prst="rect">
            <a:avLst/>
          </a:prstGeom>
          <a:noFill/>
          <a:ln/>
        </p:spPr>
        <p:txBody>
          <a:bodyPr wrap="square" rtlCol="0" anchor="ctr"/>
          <a:lstStyle/>
          <a:p>
            <a:pPr eaLnBrk="1" latinLnBrk="0" hangingPunct="1" indent="0" marL="0">
              <a:buNone/>
            </a:pPr>
            <a:r>
              <a:rPr lang="ja-JP" altLang="en-US" sz="1250" b="1" dirty="0">
                <a:solidFill>
                  <a:srgbClr val="FFFFFF"/>
                </a:solidFill>
                <a:latin typeface="Yu Gothic" pitchFamily="34" charset="0"/>
                <a:ea typeface="Yu Gothic" pitchFamily="34" charset="-122"/>
                <a:cs typeface="Yu Gothic" pitchFamily="34" charset="-120"/>
              </a:rPr>
              <a:t>今後の課題</a:t>
            </a:r>
            <a:pPr eaLnBrk="1" latinLnBrk="0" hangingPunct="1" indent="0" marL="0">
              <a:buNone/>
            </a:pPr>
            <a:r>
              <a:rPr lang="ja-JP" altLang="en-US" sz="950" b="1" dirty="0">
                <a:solidFill>
                  <a:srgbClr val="FFFFFF"/>
                </a:solidFill>
                <a:latin typeface="Segoe UI" pitchFamily="34" charset="0"/>
                <a:ea typeface="Segoe UI" pitchFamily="34" charset="-122"/>
                <a:cs typeface="Segoe UI" pitchFamily="34" charset="-120"/>
              </a:rPr>
              <a:t>　／ HẠN CHẾ</a:t>
            </a:r>
            <a:endParaRPr lang="en-US" sz="1250" dirty="0"/>
          </a:p>
        </p:txBody>
      </p:sp>
      <p:sp>
        <p:nvSpPr>
          <p:cNvPr id="15" name="Shape 13"/>
          <p:cNvSpPr/>
          <p:nvPr/>
        </p:nvSpPr>
        <p:spPr>
          <a:xfrm>
            <a:off x="7562088" y="2157984"/>
            <a:ext cx="4062679" cy="2834640"/>
          </a:xfrm>
          <a:prstGeom prst="rect">
            <a:avLst/>
          </a:prstGeom>
          <a:solidFill>
            <a:srgbClr val="F9F3ED"/>
          </a:solidFill>
          <a:ln w="12700">
            <a:solidFill>
              <a:srgbClr val="F9F3ED"/>
            </a:solidFill>
            <a:prstDash val="solid"/>
          </a:ln>
        </p:spPr>
      </p:sp>
      <p:sp>
        <p:nvSpPr>
          <p:cNvPr id="16" name="Text 14"/>
          <p:cNvSpPr/>
          <p:nvPr/>
        </p:nvSpPr>
        <p:spPr>
          <a:xfrm>
            <a:off x="7708392" y="2322576"/>
            <a:ext cx="3770071" cy="2560320"/>
          </a:xfrm>
          <a:prstGeom prst="rect">
            <a:avLst/>
          </a:prstGeom>
          <a:noFill/>
          <a:ln/>
        </p:spPr>
        <p:txBody>
          <a:bodyPr wrap="square" rtlCol="0" anchor="t"/>
          <a:lstStyle/>
          <a:p>
            <a:pPr eaLnBrk="1" latinLnBrk="0" hangingPunct="1" marL="254000" indent="-254000">
              <a:lnSpc>
                <a:spcPct val="120000"/>
              </a:lnSpc>
              <a:buSzPct val="100000"/>
              <a:buFont typeface="+mj-lt"/>
              <a:buAutoNum type="arabicPeriod" startAt="1"/>
            </a:pPr>
            <a:r>
              <a:rPr lang="ja-JP" altLang="en-US" sz="1150" b="1" dirty="0">
                <a:solidFill>
                  <a:srgbClr val="2A1A0E"/>
                </a:solidFill>
                <a:latin typeface="Yu Gothic" pitchFamily="34" charset="0"/>
                <a:ea typeface="Yu Gothic" pitchFamily="34" charset="-122"/>
                <a:cs typeface="Yu Gothic" pitchFamily="34" charset="-120"/>
              </a:rPr>
              <a:t>デモ用データで、店舗の実データとは未連携</a:t>
            </a:r>
            <a:br/>
            <a:pPr eaLnBrk="1" latinLnBrk="0" hangingPunct="1" indent="0" marL="0">
              <a:buNone/>
            </a:pPr>
            <a:r>
              <a:rPr lang="en-US" sz="950" dirty="0">
                <a:solidFill>
                  <a:srgbClr val="877258"/>
                </a:solidFill>
                <a:latin typeface="Segoe UI" pitchFamily="34" charset="0"/>
                <a:ea typeface="Segoe UI" pitchFamily="34" charset="-122"/>
                <a:cs typeface="Segoe UI" pitchFamily="34" charset="-120"/>
              </a:rPr>
              <a:t>Dữ liệu hiện là data demo, chưa tích hợp với dữ liệu thực của các cửa hàng</a:t>
            </a:r>
            <a:endParaRPr lang="en-US" sz="1150" dirty="0"/>
          </a:p>
          <a:p>
            <a:pPr eaLnBrk="1" latinLnBrk="0" hangingPunct="1" marL="254000" indent="-254000">
              <a:lnSpc>
                <a:spcPct val="120000"/>
              </a:lnSpc>
              <a:spcBef>
                <a:spcPts val="1100"/>
              </a:spcBef>
              <a:buSzPct val="100000"/>
              <a:buFont typeface="+mj-lt"/>
              <a:buAutoNum type="arabicPeriod" startAt="1"/>
            </a:pPr>
            <a:r>
              <a:rPr lang="ja-JP" altLang="en-US" sz="1150" b="1" dirty="0">
                <a:solidFill>
                  <a:srgbClr val="2A1A0E"/>
                </a:solidFill>
                <a:latin typeface="Yu Gothic" pitchFamily="34" charset="0"/>
                <a:ea typeface="Yu Gothic" pitchFamily="34" charset="-122"/>
                <a:cs typeface="Yu Gothic" pitchFamily="34" charset="-120"/>
              </a:rPr>
              <a:t>通販サイトの仕組みが分からず、カートは未連携</a:t>
            </a:r>
            <a:br/>
            <a:pPr eaLnBrk="1" latinLnBrk="0" hangingPunct="1" indent="0" marL="0">
              <a:buNone/>
            </a:pPr>
            <a:r>
              <a:rPr lang="en-US" sz="950" dirty="0">
                <a:solidFill>
                  <a:srgbClr val="877258"/>
                </a:solidFill>
                <a:latin typeface="Segoe UI" pitchFamily="34" charset="0"/>
                <a:ea typeface="Segoe UI" pitchFamily="34" charset="-122"/>
                <a:cs typeface="Segoe UI" pitchFamily="34" charset="-120"/>
              </a:rPr>
              <a:t>Chưa nắm được công nghệ bên trang EC để kết nối giỏ hàng</a:t>
            </a:r>
            <a:endParaRPr lang="en-US" sz="1150" dirty="0"/>
          </a:p>
          <a:p>
            <a:pPr eaLnBrk="1" latinLnBrk="0" hangingPunct="1" marL="254000" indent="-254000">
              <a:lnSpc>
                <a:spcPct val="120000"/>
              </a:lnSpc>
              <a:spcBef>
                <a:spcPts val="1100"/>
              </a:spcBef>
              <a:buSzPct val="100000"/>
              <a:buFont typeface="+mj-lt"/>
              <a:buAutoNum type="arabicPeriod" startAt="1"/>
            </a:pPr>
            <a:r>
              <a:rPr lang="ja-JP" altLang="en-US" sz="1150" b="1" dirty="0">
                <a:solidFill>
                  <a:srgbClr val="2A1A0E"/>
                </a:solidFill>
                <a:latin typeface="Yu Gothic" pitchFamily="34" charset="0"/>
                <a:ea typeface="Yu Gothic" pitchFamily="34" charset="-122"/>
                <a:cs typeface="Yu Gothic" pitchFamily="34" charset="-120"/>
              </a:rPr>
              <a:t>売場マップは標準の配置で、店舗別は未対応</a:t>
            </a:r>
            <a:br/>
            <a:pPr eaLnBrk="1" latinLnBrk="0" hangingPunct="1" indent="0" marL="0">
              <a:buNone/>
            </a:pPr>
            <a:r>
              <a:rPr lang="en-US" sz="950" dirty="0">
                <a:solidFill>
                  <a:srgbClr val="877258"/>
                </a:solidFill>
                <a:latin typeface="Segoe UI" pitchFamily="34" charset="0"/>
                <a:ea typeface="Segoe UI" pitchFamily="34" charset="-122"/>
                <a:cs typeface="Segoe UI" pitchFamily="34" charset="-120"/>
              </a:rPr>
              <a:t>Sơ đồ quầy đang là bố cục mẫu, chưa theo từng cửa hàng</a:t>
            </a:r>
            <a:endParaRPr lang="en-US" sz="1150" dirty="0"/>
          </a:p>
        </p:txBody>
      </p:sp>
      <p:sp>
        <p:nvSpPr>
          <p:cNvPr id="17" name="Shape 15"/>
          <p:cNvSpPr/>
          <p:nvPr/>
        </p:nvSpPr>
        <p:spPr>
          <a:xfrm>
            <a:off x="566928" y="5175504"/>
            <a:ext cx="11057839" cy="786384"/>
          </a:xfrm>
          <a:prstGeom prst="rect">
            <a:avLst/>
          </a:prstGeom>
          <a:solidFill>
            <a:srgbClr val="FBF0F1"/>
          </a:solidFill>
          <a:ln w="12700">
            <a:solidFill>
              <a:srgbClr val="FBF0F1"/>
            </a:solidFill>
            <a:prstDash val="solid"/>
          </a:ln>
        </p:spPr>
      </p:sp>
      <p:sp>
        <p:nvSpPr>
          <p:cNvPr id="18" name="Shape 16"/>
          <p:cNvSpPr/>
          <p:nvPr/>
        </p:nvSpPr>
        <p:spPr>
          <a:xfrm>
            <a:off x="566928" y="5175504"/>
            <a:ext cx="54864" cy="786384"/>
          </a:xfrm>
          <a:prstGeom prst="rect">
            <a:avLst/>
          </a:prstGeom>
          <a:solidFill>
            <a:srgbClr val="C7273B"/>
          </a:solidFill>
          <a:ln w="12700">
            <a:solidFill>
              <a:srgbClr val="C7273B"/>
            </a:solidFill>
            <a:prstDash val="solid"/>
          </a:ln>
        </p:spPr>
      </p:sp>
      <p:sp>
        <p:nvSpPr>
          <p:cNvPr id="19" name="Text 17"/>
          <p:cNvSpPr/>
          <p:nvPr/>
        </p:nvSpPr>
        <p:spPr>
          <a:xfrm>
            <a:off x="841248" y="5175504"/>
            <a:ext cx="10600639" cy="786384"/>
          </a:xfrm>
          <a:prstGeom prst="rect">
            <a:avLst/>
          </a:prstGeom>
          <a:noFill/>
          <a:ln/>
        </p:spPr>
        <p:txBody>
          <a:bodyPr wrap="square" rtlCol="0" anchor="ctr"/>
          <a:lstStyle/>
          <a:p>
            <a:pPr eaLnBrk="1" latinLnBrk="0" hangingPunct="1" indent="0" marL="0">
              <a:buNone/>
            </a:pPr>
            <a:r>
              <a:rPr lang="ja-JP" altLang="en-US" sz="1800" b="1" dirty="0">
                <a:solidFill>
                  <a:srgbClr val="C7273B"/>
                </a:solidFill>
                <a:latin typeface="Yu Mincho" pitchFamily="34" charset="0"/>
                <a:ea typeface="Yu Mincho" pitchFamily="34" charset="-122"/>
                <a:cs typeface="Yu Mincho" pitchFamily="34" charset="-120"/>
              </a:rPr>
              <a:t>→ 販売数が増え、会社の売上アップへ</a:t>
            </a:r>
            <a:endParaRPr lang="en-US" sz="1800" dirty="0"/>
          </a:p>
          <a:p>
            <a:pPr eaLnBrk="1" latinLnBrk="0" hangingPunct="1" indent="0" marL="0">
              <a:buNone/>
            </a:pPr>
            <a:r>
              <a:rPr lang="en-US" sz="1100" dirty="0">
                <a:solidFill>
                  <a:srgbClr val="877258"/>
                </a:solidFill>
                <a:latin typeface="Segoe UI" pitchFamily="34" charset="0"/>
                <a:ea typeface="Segoe UI" pitchFamily="34" charset="-122"/>
                <a:cs typeface="Segoe UI" pitchFamily="34" charset="-120"/>
              </a:rPr>
              <a:t>Từ đó tăng lượng bán ra, giúp công ty tăng doanh thu</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7273B"/>
          </a:solidFill>
          <a:ln w="12700">
            <a:solidFill>
              <a:srgbClr val="C7273B"/>
            </a:solidFill>
            <a:prstDash val="solid"/>
          </a:ln>
        </p:spPr>
      </p:sp>
      <p:sp>
        <p:nvSpPr>
          <p:cNvPr id="3" name="Text 1"/>
          <p:cNvSpPr/>
          <p:nvPr/>
        </p:nvSpPr>
        <p:spPr>
          <a:xfrm>
            <a:off x="566928" y="6473952"/>
            <a:ext cx="1097280" cy="228600"/>
          </a:xfrm>
          <a:prstGeom prst="rect">
            <a:avLst/>
          </a:prstGeom>
          <a:noFill/>
          <a:ln/>
        </p:spPr>
        <p:txBody>
          <a:bodyPr wrap="square" rtlCol="0" anchor="ctr"/>
          <a:lstStyle/>
          <a:p>
            <a:pPr eaLnBrk="1" latinLnBrk="0" hangingPunct="1" indent="0" marL="0">
              <a:buNone/>
            </a:pPr>
            <a:r>
              <a:rPr lang="en-US" sz="850" spc="100" kern="0" dirty="0">
                <a:solidFill>
                  <a:srgbClr val="877258"/>
                </a:solidFill>
                <a:latin typeface="Segoe UI" pitchFamily="34" charset="0"/>
                <a:ea typeface="Segoe UI" pitchFamily="34" charset="-122"/>
                <a:cs typeface="Segoe UI" pitchFamily="34" charset="-120"/>
              </a:rPr>
              <a:t>07 / 07</a:t>
            </a:r>
            <a:endParaRPr lang="en-US" sz="850" dirty="0"/>
          </a:p>
        </p:txBody>
      </p:sp>
      <p:sp>
        <p:nvSpPr>
          <p:cNvPr id="4" name="Text 2"/>
          <p:cNvSpPr/>
          <p:nvPr/>
        </p:nvSpPr>
        <p:spPr>
          <a:xfrm>
            <a:off x="8351215" y="6473952"/>
            <a:ext cx="3291840" cy="228600"/>
          </a:xfrm>
          <a:prstGeom prst="rect">
            <a:avLst/>
          </a:prstGeom>
          <a:noFill/>
          <a:ln/>
        </p:spPr>
        <p:txBody>
          <a:bodyPr wrap="square" rtlCol="0" anchor="ctr"/>
          <a:lstStyle/>
          <a:p>
            <a:pPr eaLnBrk="1" latinLnBrk="0" hangingPunct="1" algn="r" indent="0" marL="0">
              <a:buNone/>
            </a:pPr>
            <a:r>
              <a:rPr lang="ja-JP" altLang="en-US" sz="850" dirty="0">
                <a:solidFill>
                  <a:srgbClr val="877258"/>
                </a:solidFill>
                <a:latin typeface="Yu Gothic" pitchFamily="34" charset="0"/>
                <a:ea typeface="Yu Gothic" pitchFamily="34" charset="-122"/>
                <a:cs typeface="Yu Gothic" pitchFamily="34" charset="-120"/>
              </a:rPr>
              <a:t>遠鉄ストア Webサイト改善提案</a:t>
            </a:r>
            <a:endParaRPr lang="en-US" sz="850" dirty="0"/>
          </a:p>
        </p:txBody>
      </p:sp>
      <p:sp>
        <p:nvSpPr>
          <p:cNvPr id="5" name="Text 3"/>
          <p:cNvSpPr/>
          <p:nvPr/>
        </p:nvSpPr>
        <p:spPr>
          <a:xfrm>
            <a:off x="566928" y="347472"/>
            <a:ext cx="11057839" cy="256032"/>
          </a:xfrm>
          <a:prstGeom prst="rect">
            <a:avLst/>
          </a:prstGeom>
          <a:noFill/>
          <a:ln/>
        </p:spPr>
        <p:txBody>
          <a:bodyPr wrap="square" rtlCol="0" anchor="ctr"/>
          <a:lstStyle/>
          <a:p>
            <a:pPr eaLnBrk="1" latinLnBrk="0" hangingPunct="1" indent="0" marL="0">
              <a:buNone/>
            </a:pPr>
            <a:r>
              <a:rPr lang="ja-JP" altLang="en-US" sz="1050" b="1" spc="100" kern="0" dirty="0">
                <a:solidFill>
                  <a:srgbClr val="C7273B"/>
                </a:solidFill>
                <a:latin typeface="Yu Gothic" pitchFamily="34" charset="0"/>
                <a:ea typeface="Yu Gothic" pitchFamily="34" charset="-122"/>
                <a:cs typeface="Yu Gothic" pitchFamily="34" charset="-120"/>
              </a:rPr>
              <a:t>おわりに</a:t>
            </a:r>
            <a:pPr eaLnBrk="1" latinLnBrk="0" hangingPunct="1" indent="0" marL="0">
              <a:buNone/>
            </a:pPr>
            <a:r>
              <a:rPr lang="ja-JP" altLang="en-US" sz="1000" b="1" spc="100" kern="0" dirty="0">
                <a:solidFill>
                  <a:srgbClr val="877258"/>
                </a:solidFill>
                <a:latin typeface="Segoe UI" pitchFamily="34" charset="0"/>
                <a:ea typeface="Segoe UI" pitchFamily="34" charset="-122"/>
                <a:cs typeface="Segoe UI" pitchFamily="34" charset="-120"/>
              </a:rPr>
              <a:t>　／ KẾT THÚC</a:t>
            </a:r>
            <a:endParaRPr lang="en-US" sz="1050" dirty="0"/>
          </a:p>
        </p:txBody>
      </p:sp>
      <p:sp>
        <p:nvSpPr>
          <p:cNvPr id="6" name="Shape 4"/>
          <p:cNvSpPr/>
          <p:nvPr/>
        </p:nvSpPr>
        <p:spPr>
          <a:xfrm>
            <a:off x="566928" y="621792"/>
            <a:ext cx="11057839" cy="0"/>
          </a:xfrm>
          <a:prstGeom prst="line">
            <a:avLst/>
          </a:prstGeom>
          <a:noFill/>
          <a:ln w="9525">
            <a:solidFill>
              <a:srgbClr val="E4D9C6"/>
            </a:solidFill>
            <a:prstDash val="solid"/>
          </a:ln>
        </p:spPr>
      </p:sp>
      <p:sp>
        <p:nvSpPr>
          <p:cNvPr id="7" name="Text 5"/>
          <p:cNvSpPr/>
          <p:nvPr/>
        </p:nvSpPr>
        <p:spPr>
          <a:xfrm>
            <a:off x="566928" y="2011680"/>
            <a:ext cx="11057839" cy="777240"/>
          </a:xfrm>
          <a:prstGeom prst="rect">
            <a:avLst/>
          </a:prstGeom>
          <a:noFill/>
          <a:ln/>
        </p:spPr>
        <p:txBody>
          <a:bodyPr wrap="square" rtlCol="0" anchor="ctr"/>
          <a:lstStyle/>
          <a:p>
            <a:pPr eaLnBrk="1" latinLnBrk="0" hangingPunct="1" algn="ctr" indent="0" marL="0">
              <a:buNone/>
            </a:pPr>
            <a:r>
              <a:rPr lang="ja-JP" altLang="en-US" sz="3600" b="1" dirty="0">
                <a:solidFill>
                  <a:srgbClr val="331E0E"/>
                </a:solidFill>
                <a:latin typeface="Yu Mincho" pitchFamily="34" charset="0"/>
                <a:ea typeface="Yu Mincho" pitchFamily="34" charset="-122"/>
                <a:cs typeface="Yu Mincho" pitchFamily="34" charset="-120"/>
              </a:rPr>
              <a:t>ご清聴ありがとうございました。</a:t>
            </a:r>
            <a:endParaRPr lang="en-US" sz="3600" dirty="0"/>
          </a:p>
        </p:txBody>
      </p:sp>
      <p:sp>
        <p:nvSpPr>
          <p:cNvPr id="8" name="Text 6"/>
          <p:cNvSpPr/>
          <p:nvPr/>
        </p:nvSpPr>
        <p:spPr>
          <a:xfrm>
            <a:off x="566928" y="2816352"/>
            <a:ext cx="11057839" cy="384048"/>
          </a:xfrm>
          <a:prstGeom prst="rect">
            <a:avLst/>
          </a:prstGeom>
          <a:noFill/>
          <a:ln/>
        </p:spPr>
        <p:txBody>
          <a:bodyPr wrap="square" rtlCol="0" anchor="ctr"/>
          <a:lstStyle/>
          <a:p>
            <a:pPr eaLnBrk="1" latinLnBrk="0" hangingPunct="1" algn="ctr" indent="0" marL="0">
              <a:buNone/>
            </a:pPr>
            <a:r>
              <a:rPr lang="en-US" sz="1500" dirty="0">
                <a:solidFill>
                  <a:srgbClr val="877258"/>
                </a:solidFill>
                <a:latin typeface="Segoe UI" pitchFamily="34" charset="0"/>
                <a:ea typeface="Segoe UI" pitchFamily="34" charset="-122"/>
                <a:cs typeface="Segoe UI" pitchFamily="34" charset="-120"/>
              </a:rPr>
              <a:t>Cảm ơn mọi người đã lắng nghe.</a:t>
            </a:r>
            <a:endParaRPr lang="en-US" sz="1500" dirty="0"/>
          </a:p>
        </p:txBody>
      </p:sp>
      <p:sp>
        <p:nvSpPr>
          <p:cNvPr id="9" name="Shape 7"/>
          <p:cNvSpPr/>
          <p:nvPr/>
        </p:nvSpPr>
        <p:spPr>
          <a:xfrm>
            <a:off x="5821528" y="3456432"/>
            <a:ext cx="548640" cy="45720"/>
          </a:xfrm>
          <a:prstGeom prst="rect">
            <a:avLst/>
          </a:prstGeom>
          <a:solidFill>
            <a:srgbClr val="C7273B"/>
          </a:solidFill>
          <a:ln w="12700">
            <a:solidFill>
              <a:srgbClr val="C7273B"/>
            </a:solidFill>
            <a:prstDash val="solid"/>
          </a:ln>
        </p:spPr>
      </p:sp>
      <p:sp>
        <p:nvSpPr>
          <p:cNvPr id="10" name="Text 8"/>
          <p:cNvSpPr/>
          <p:nvPr/>
        </p:nvSpPr>
        <p:spPr>
          <a:xfrm>
            <a:off x="566928" y="3675888"/>
            <a:ext cx="11057839" cy="384048"/>
          </a:xfrm>
          <a:prstGeom prst="rect">
            <a:avLst/>
          </a:prstGeom>
          <a:noFill/>
          <a:ln/>
        </p:spPr>
        <p:txBody>
          <a:bodyPr wrap="square" rtlCol="0" anchor="ctr"/>
          <a:lstStyle/>
          <a:p>
            <a:pPr eaLnBrk="1" latinLnBrk="0" hangingPunct="1" algn="ctr" indent="0" marL="0">
              <a:buNone/>
            </a:pPr>
            <a:r>
              <a:rPr lang="ja-JP" altLang="en-US" sz="1600" dirty="0">
                <a:solidFill>
                  <a:srgbClr val="2A1A0E"/>
                </a:solidFill>
                <a:latin typeface="Yu Gothic" pitchFamily="34" charset="0"/>
                <a:ea typeface="Yu Gothic" pitchFamily="34" charset="-122"/>
                <a:cs typeface="Yu Gothic" pitchFamily="34" charset="-120"/>
              </a:rPr>
              <a:t>ご質問をお受けいたします。</a:t>
            </a:r>
            <a:endParaRPr lang="en-US" sz="1600" dirty="0"/>
          </a:p>
        </p:txBody>
      </p:sp>
      <p:sp>
        <p:nvSpPr>
          <p:cNvPr id="11" name="Text 9"/>
          <p:cNvSpPr/>
          <p:nvPr/>
        </p:nvSpPr>
        <p:spPr>
          <a:xfrm>
            <a:off x="566928" y="4059936"/>
            <a:ext cx="11057839" cy="329184"/>
          </a:xfrm>
          <a:prstGeom prst="rect">
            <a:avLst/>
          </a:prstGeom>
          <a:noFill/>
          <a:ln/>
        </p:spPr>
        <p:txBody>
          <a:bodyPr wrap="square" rtlCol="0" anchor="ctr"/>
          <a:lstStyle/>
          <a:p>
            <a:pPr eaLnBrk="1" latinLnBrk="0" hangingPunct="1" algn="ctr" indent="0" marL="0">
              <a:buNone/>
            </a:pPr>
            <a:r>
              <a:rPr lang="en-US" sz="1150" dirty="0">
                <a:solidFill>
                  <a:srgbClr val="877258"/>
                </a:solidFill>
                <a:latin typeface="Segoe UI" pitchFamily="34" charset="0"/>
                <a:ea typeface="Segoe UI" pitchFamily="34" charset="-122"/>
                <a:cs typeface="Segoe UI" pitchFamily="34" charset="-120"/>
              </a:rPr>
              <a:t>Rất mong nhận được câu hỏi và góp ý.</a:t>
            </a:r>
            <a:endParaRPr lang="en-US" sz="1150" dirty="0"/>
          </a:p>
        </p:txBody>
      </p:sp>
      <p:sp>
        <p:nvSpPr>
          <p:cNvPr id="12" name="Shape 10"/>
          <p:cNvSpPr/>
          <p:nvPr/>
        </p:nvSpPr>
        <p:spPr>
          <a:xfrm>
            <a:off x="566928" y="5394960"/>
            <a:ext cx="11057839" cy="0"/>
          </a:xfrm>
          <a:prstGeom prst="line">
            <a:avLst/>
          </a:prstGeom>
          <a:noFill/>
          <a:ln w="9525">
            <a:solidFill>
              <a:srgbClr val="E4D9C6"/>
            </a:solidFill>
            <a:prstDash val="solid"/>
          </a:ln>
        </p:spPr>
      </p:sp>
      <p:sp>
        <p:nvSpPr>
          <p:cNvPr id="13" name="Shape 11"/>
          <p:cNvSpPr/>
          <p:nvPr/>
        </p:nvSpPr>
        <p:spPr>
          <a:xfrm>
            <a:off x="566928" y="5559552"/>
            <a:ext cx="45720" cy="658368"/>
          </a:xfrm>
          <a:prstGeom prst="rect">
            <a:avLst/>
          </a:prstGeom>
          <a:solidFill>
            <a:srgbClr val="C7273B"/>
          </a:solidFill>
          <a:ln w="12700">
            <a:solidFill>
              <a:srgbClr val="C7273B"/>
            </a:solidFill>
            <a:prstDash val="solid"/>
          </a:ln>
        </p:spPr>
      </p:sp>
      <p:sp>
        <p:nvSpPr>
          <p:cNvPr id="14" name="Text 12"/>
          <p:cNvSpPr/>
          <p:nvPr/>
        </p:nvSpPr>
        <p:spPr>
          <a:xfrm>
            <a:off x="768096" y="5577840"/>
            <a:ext cx="10652760" cy="640080"/>
          </a:xfrm>
          <a:prstGeom prst="rect">
            <a:avLst/>
          </a:prstGeom>
          <a:noFill/>
          <a:ln/>
        </p:spPr>
        <p:txBody>
          <a:bodyPr wrap="square" rtlCol="0" anchor="t"/>
          <a:lstStyle/>
          <a:p>
            <a:pPr eaLnBrk="1" latinLnBrk="0" hangingPunct="1" indent="0" marL="0">
              <a:lnSpc>
                <a:spcPct val="125000"/>
              </a:lnSpc>
              <a:buNone/>
            </a:pPr>
            <a:r>
              <a:rPr lang="ja-JP" altLang="en-US" sz="850" dirty="0">
                <a:solidFill>
                  <a:srgbClr val="877258"/>
                </a:solidFill>
                <a:latin typeface="Yu Gothic" pitchFamily="34" charset="0"/>
                <a:ea typeface="Yu Gothic" pitchFamily="34" charset="-122"/>
                <a:cs typeface="Yu Gothic" pitchFamily="34" charset="-120"/>
              </a:rPr>
              <a:t>本提案の内容は、主にインターネットで調べた情報をもとにまとめたものです。実際の店舗業務を経験したうえでの提案ではないため、事実と異なる点があるかもしれません。お気づきの点がございましたら、ご指摘・ご助言をいただけますと幸いです。</a:t>
            </a:r>
            <a:endParaRPr lang="en-US" sz="850" dirty="0"/>
          </a:p>
          <a:p>
            <a:pPr eaLnBrk="1" latinLnBrk="0" hangingPunct="1" indent="0" marL="0">
              <a:lnSpc>
                <a:spcPct val="120000"/>
              </a:lnSpc>
              <a:buNone/>
            </a:pPr>
            <a:r>
              <a:rPr lang="en-US" sz="750" dirty="0">
                <a:solidFill>
                  <a:srgbClr val="877258"/>
                </a:solidFill>
                <a:latin typeface="Segoe UI" pitchFamily="34" charset="0"/>
                <a:ea typeface="Segoe UI" pitchFamily="34" charset="-122"/>
                <a:cs typeface="Segoe UI" pitchFamily="34" charset="-120"/>
              </a:rPr>
              <a:t>Bởi vì nội dung thử thách đa số được em tìm hiểu, tham khảo trên mạng, và cũng chưa được trải nghiệm thực tế, vì vậy nếu có sai lệch gì mong mọi người góp ý để ý tưởng của em được hoàn thiện hơn ạ!</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Entstore Smart Search</dc:title>
  <dc:subject>PptxGenJS Presentation</dc:subject>
  <dc:creator>EVN (Entetsu Vietnam) — Nguyen Van Minh</dc:creator>
  <cp:lastModifiedBy>EVN (Entetsu Vietnam) — Nguyen Van Minh</cp:lastModifiedBy>
  <cp:revision>1</cp:revision>
  <dcterms:created xsi:type="dcterms:W3CDTF">2026-09-30T02:13:17Z</dcterms:created>
  <dcterms:modified xsi:type="dcterms:W3CDTF">2026-09-30T02:13:17Z</dcterms:modified>
</cp:coreProperties>
</file>