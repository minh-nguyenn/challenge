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4" r:id="rId2"/>
    <p:sldId id="266" r:id="rId3"/>
    <p:sldId id="267" r:id="rId4"/>
    <p:sldId id="269" r:id="rId5"/>
    <p:sldId id="270" r:id="rId6"/>
    <p:sldId id="265" r:id="rId7"/>
    <p:sldId id="271" r:id="rId8"/>
    <p:sldId id="27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70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E00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0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FF3B2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8E000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6217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E50012"/>
                </a:solidFill>
              </a:rPr>
              <a:t>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3736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遠鉄ストア ENTETSU STORE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04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Entstore Smart Search</a:t>
            </a:r>
            <a:endParaRPr lang="en-US" sz="4000" b="1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E3DD"/>
                </a:solidFill>
              </a:rPr>
              <a:t>「なんでも検索」— 商品・レシピ・特売がひとつの入力でつながる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C9C0"/>
                </a:solidFill>
              </a:rPr>
              <a:t>Đề xuất nâng cấp website: Tìm kiếm thông minh kết nối sản phẩm・công thức・khuyến mãi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7D0"/>
                </a:solidFill>
              </a:rPr>
              <a:t>2026年7月　|　提案者: EVN (Entetsu Vietnam)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1775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現状の課題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đặt 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遠鉄ストア Webサイト改善提案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50012"/>
                </a:solidFill>
              </a:rPr>
              <a:t>情報が「バラバラ」で、お客様が探しにくい</a:t>
            </a:r>
            <a:endParaRPr lang="en-US" sz="1700" dirty="0"/>
          </a:p>
          <a:p>
            <a:pPr marL="0" indent="0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i="1" dirty="0">
                <a:solidFill>
                  <a:srgbClr val="E50012"/>
                </a:solidFill>
              </a:rPr>
              <a:t>Thông tin rời rạc khiến khách hàng khó tìm kiếm.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FC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サイト内検索がない　</a:t>
            </a:r>
            <a:r>
              <a:rPr lang="en-US" sz="1100" i="1" dirty="0">
                <a:solidFill>
                  <a:srgbClr val="E50012"/>
                </a:solidFill>
              </a:rPr>
              <a:t>Không có ô tìm kiếm chung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31343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商品・レシピ・特売・店舗情報・記事(ブログ)がそれぞれ別ページ。お客様は目的の情報まで何回もクリックが必要。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Sản phẩm, công thức, khuyến mãi, thông tin cửa hàng và bài viết (blog) nằm ở các trang riêng — khách phải nhấp nhiều lần.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01752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特売情報が静的　</a:t>
            </a:r>
            <a:r>
              <a:rPr lang="en-US" sz="1100" i="1" dirty="0">
                <a:solidFill>
                  <a:srgbClr val="E50012"/>
                </a:solidFill>
              </a:rPr>
              <a:t>Thông tin KM tĩnh, khó truy xuất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36499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チラシはPDF/画像中心でテキスト検索できない。期限切れ情報の管理も手作業。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Tờ rơi chủ yếu là PDF/hình ảnh nên không tìm bằng chữ; quản lý hạn dùng vẫn làm thủ công.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502920" cy="50292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🍳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406908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レシピと商品が未連携　</a:t>
            </a:r>
            <a:r>
              <a:rPr lang="en-US" sz="1100" i="1" dirty="0">
                <a:solidFill>
                  <a:srgbClr val="E50012"/>
                </a:solidFill>
              </a:rPr>
              <a:t>Công thức chưa liên kết sản phẩm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41655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レシピを見ても、材料がどの売場・いくらで買えるか、特売中かどうかが分からない。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Xem công thức nhưng không rõ nguyên liệu ở quầy nào, giá bao nhiêu, có đang khuyến mãi không.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5166360"/>
            <a:ext cx="502920" cy="502920"/>
          </a:xfrm>
          <a:prstGeom prst="ellipse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512064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ECサイトと本サイトが分断　</a:t>
            </a:r>
            <a:r>
              <a:rPr lang="en-US" sz="1100" i="1" dirty="0">
                <a:solidFill>
                  <a:srgbClr val="E50012"/>
                </a:solidFill>
              </a:rPr>
              <a:t>Web chính và shop online tách rời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5468112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shop.entstore.co.jp の商品データが本サイトの体験に活かされていない。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Dữ liệu sản phẩm trên shop.entstore.co.jp chưa được tận dụng cho trải nghiệm web chính.</a:t>
            </a:r>
          </a:p>
        </p:txBody>
      </p:sp>
      <p:sp>
        <p:nvSpPr>
          <p:cNvPr id="22" name="Shape 20"/>
          <p:cNvSpPr/>
          <p:nvPr/>
        </p:nvSpPr>
        <p:spPr>
          <a:xfrm>
            <a:off x="7589520" y="173736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6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6384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77777"/>
                </a:solidFill>
              </a:rPr>
              <a:t>お客様の声（想定）</a:t>
            </a:r>
            <a:r>
              <a:rPr lang="en-US" sz="1050" i="1" dirty="0">
                <a:solidFill>
                  <a:srgbClr val="E50012"/>
                </a:solidFill>
              </a:rPr>
              <a:t>　/ Tiếng nói khách hàng (giả định)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</a:rPr>
              <a:t>「うなぎの特売、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</a:rPr>
              <a:t>いつまで？」</a:t>
            </a:r>
            <a:endParaRPr lang="en-US" sz="1900" dirty="0"/>
          </a:p>
          <a:p>
            <a:pPr marL="0" indent="0">
              <a:lnSpc>
                <a:spcPts val="1150"/>
              </a:lnSpc>
              <a:spcBef>
                <a:spcPts val="100"/>
              </a:spcBef>
              <a:buNone/>
            </a:pPr>
            <a:r>
              <a:rPr lang="en-US" sz="1150" i="1" dirty="0">
                <a:solidFill>
                  <a:srgbClr val="E50012"/>
                </a:solidFill>
              </a:rPr>
              <a:t>“Khuyến mãi lươn đến bao giờ?”</a:t>
            </a:r>
          </a:p>
        </p:txBody>
      </p:sp>
      <p:sp>
        <p:nvSpPr>
          <p:cNvPr id="25" name="Text 23"/>
          <p:cNvSpPr/>
          <p:nvPr/>
        </p:nvSpPr>
        <p:spPr>
          <a:xfrm>
            <a:off x="786384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</a:rPr>
              <a:t>「この材料、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2B2B2B"/>
                </a:solidFill>
              </a:rPr>
              <a:t>どの売場にある？」</a:t>
            </a:r>
            <a:endParaRPr lang="en-US" sz="1900" dirty="0"/>
          </a:p>
          <a:p>
            <a:pPr marL="0" indent="0">
              <a:lnSpc>
                <a:spcPts val="1150"/>
              </a:lnSpc>
              <a:spcBef>
                <a:spcPts val="100"/>
              </a:spcBef>
              <a:buNone/>
            </a:pPr>
            <a:r>
              <a:rPr lang="en-US" sz="1150" i="1" dirty="0">
                <a:solidFill>
                  <a:srgbClr val="E50012"/>
                </a:solidFill>
              </a:rPr>
              <a:t>“Nguyên liệu này ở quầy nào?”</a:t>
            </a:r>
          </a:p>
        </p:txBody>
      </p:sp>
      <p:sp>
        <p:nvSpPr>
          <p:cNvPr id="26" name="Text 24"/>
          <p:cNvSpPr/>
          <p:nvPr/>
        </p:nvSpPr>
        <p:spPr>
          <a:xfrm>
            <a:off x="7863840" y="4389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</a:rPr>
              <a:t>「レシピ通り作りたいけど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</a:rPr>
              <a:t>買い物リストが面倒…」</a:t>
            </a:r>
            <a:endParaRPr lang="en-US" sz="1600" dirty="0"/>
          </a:p>
          <a:p>
            <a:pPr marL="0" indent="0">
              <a:lnSpc>
                <a:spcPts val="1150"/>
              </a:lnSpc>
              <a:spcBef>
                <a:spcPts val="100"/>
              </a:spcBef>
              <a:buNone/>
            </a:pPr>
            <a:r>
              <a:rPr lang="en-US" sz="1150" i="1" dirty="0">
                <a:solidFill>
                  <a:srgbClr val="E50012"/>
                </a:solidFill>
              </a:rPr>
              <a:t>“Muốn nấu đúng công thức mà lập danh sách đi chợ phiền quá…”</a:t>
            </a:r>
          </a:p>
        </p:txBody>
      </p:sp>
      <p:sp>
        <p:nvSpPr>
          <p:cNvPr id="27" name="Text 25"/>
          <p:cNvSpPr/>
          <p:nvPr/>
        </p:nvSpPr>
        <p:spPr>
          <a:xfrm>
            <a:off x="7863840" y="5486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50012"/>
                </a:solidFill>
              </a:rPr>
              <a:t>→ サイトを見ても答えにたどり着きにくい</a:t>
            </a:r>
            <a:endParaRPr lang="en-US" sz="120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→ Xem web vẫn khó tìm ra câu trả lời.</a:t>
            </a:r>
          </a:p>
        </p:txBody>
      </p:sp>
    </p:spTree>
    <p:extLst>
      <p:ext uri="{BB962C8B-B14F-4D97-AF65-F5344CB8AC3E}">
        <p14:creationId xmlns:p14="http://schemas.microsoft.com/office/powerpoint/2010/main" val="3802545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解決策：「なんでも検索」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 đề xuất: Tìm kiếm thông minh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遠鉄ストア Webサイト改善提案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</a:rPr>
              <a:t>1つの検索ボックスに入力するだけで、関連情報をまとめて提案</a:t>
            </a:r>
            <a:endParaRPr lang="en-US" sz="1600" dirty="0"/>
          </a:p>
          <a:p>
            <a:pPr marL="0" indent="0">
              <a:lnSpc>
                <a:spcPts val="1100"/>
              </a:lnSpc>
              <a:spcBef>
                <a:spcPts val="100"/>
              </a:spcBef>
              <a:buNone/>
            </a:pPr>
            <a:r>
              <a:rPr lang="en-US" sz="1100" i="1" dirty="0">
                <a:solidFill>
                  <a:srgbClr val="E50012"/>
                </a:solidFill>
              </a:rPr>
              <a:t>Chỉ cần nhập vào một ô tìm kiếm, hệ thống gợi ý gộp các thông tin liên quan.</a:t>
            </a: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852160" cy="1097280"/>
          </a:xfrm>
          <a:prstGeom prst="roundRect">
            <a:avLst>
              <a:gd name="adj" fmla="val 8333"/>
            </a:avLst>
          </a:prstGeom>
          <a:solidFill>
            <a:srgbClr val="FC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0012"/>
                </a:solidFill>
              </a:rPr>
              <a:t>①  入力</a:t>
            </a:r>
            <a:r>
              <a:rPr lang="en-US" sz="1050" i="1" dirty="0">
                <a:solidFill>
                  <a:srgbClr val="E50012"/>
                </a:solidFill>
              </a:rPr>
              <a:t>　/ Nhập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商品名・料理名・食材・店舗名を入力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例：「うなぎ」「カレー」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Nhập tên SP/món ăn/nguyên liệu/cửa hàng (vd: lươn, cà ri).</a:t>
            </a:r>
          </a:p>
        </p:txBody>
      </p:sp>
      <p:sp>
        <p:nvSpPr>
          <p:cNvPr id="9" name="Text 7"/>
          <p:cNvSpPr/>
          <p:nvPr/>
        </p:nvSpPr>
        <p:spPr>
          <a:xfrm>
            <a:off x="310896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BBBBB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852160" cy="1097280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6301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800"/>
                </a:solidFill>
              </a:rPr>
              <a:t>②  提案ページ</a:t>
            </a:r>
            <a:r>
              <a:rPr lang="en-US" sz="1050" i="1" dirty="0">
                <a:solidFill>
                  <a:srgbClr val="E50012"/>
                </a:solidFill>
              </a:rPr>
              <a:t>　/ Trang gợi 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レシピ / 商品 / 特売 / 記事 / 店舗 / 季節のおすすめ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をグループ表示（Google検索のように）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Hiển thị nhóm: công thức/SP/KM/bài viết/cửa hàng/gợi ý theo mùa (như Google).</a:t>
            </a:r>
          </a:p>
        </p:txBody>
      </p:sp>
      <p:sp>
        <p:nvSpPr>
          <p:cNvPr id="13" name="Text 11"/>
          <p:cNvSpPr/>
          <p:nvPr/>
        </p:nvSpPr>
        <p:spPr>
          <a:xfrm>
            <a:off x="3108960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BBBBB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5852160" cy="109728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9560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3A"/>
                </a:solidFill>
              </a:rPr>
              <a:t>③  詳細ページ</a:t>
            </a:r>
            <a:r>
              <a:rPr lang="en-US" sz="1050" i="1" dirty="0">
                <a:solidFill>
                  <a:srgbClr val="E50012"/>
                </a:solidFill>
              </a:rPr>
              <a:t>　/ Trang chi tiết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3035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レシピ手順（画像付き）・AI読み上げ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買い物リスト・売場マップ・EC購入へ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Bước nấu (kèm ảnh) · AI đọc · danh sách đi chợ · sơ đồ quầy · mua trên EC.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6263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0012"/>
                </a:solidFill>
              </a:rPr>
              <a:t>お客様が「知りたい」に最短でたどり着ける / Giúp KH truy xuất thông tin nhanh, tiết kiệm thời gian</a:t>
            </a:r>
            <a:endParaRPr lang="en-US" sz="1100" dirty="0"/>
          </a:p>
        </p:txBody>
      </p:sp>
      <p:pic>
        <p:nvPicPr>
          <p:cNvPr id="18" name="Image 0" descr="shot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5029200" cy="3538728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6720840" y="5029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</a:rPr>
              <a:t>▲ モックアップ：トップページ＋検索ボックス</a:t>
            </a:r>
            <a:r>
              <a:rPr lang="en-US" sz="1000" i="1" dirty="0">
                <a:solidFill>
                  <a:srgbClr val="E50012"/>
                </a:solidFill>
              </a:rPr>
              <a:t>　/ Bản mẫu: trang chủ + ô tìm kiếm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92998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仕組み：データ連携と動的な特売データ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chế hoạt động: liên kết dữ liệu &amp; dữ liệu KM động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遠鉄ストア Webサイト改善提案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3A"/>
                </a:solidFill>
              </a:rPr>
              <a:t>公式サイト</a:t>
            </a:r>
            <a:r>
              <a:rPr lang="en-US" sz="1050" i="1" dirty="0">
                <a:solidFill>
                  <a:srgbClr val="E50012"/>
                </a:solidFill>
              </a:rPr>
              <a:t>　/ Trang chính thức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</a:rPr>
              <a:t>www.entstore.co.jp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</a:rPr>
              <a:t>レシピ・記事・店舗・サービス情報</a:t>
            </a:r>
            <a:endParaRPr lang="en-US" sz="10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Công thức · bài viết · cửa hàng · dịch vụ</a:t>
            </a:r>
          </a:p>
        </p:txBody>
      </p:sp>
      <p:sp>
        <p:nvSpPr>
          <p:cNvPr id="8" name="Text 6"/>
          <p:cNvSpPr/>
          <p:nvPr/>
        </p:nvSpPr>
        <p:spPr>
          <a:xfrm>
            <a:off x="201168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BBBBB"/>
                </a:solidFill>
              </a:rPr>
              <a:t>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ネット通販 (EC)</a:t>
            </a:r>
            <a:r>
              <a:rPr lang="en-US" sz="1050" i="1" dirty="0">
                <a:solidFill>
                  <a:srgbClr val="E50012"/>
                </a:solidFill>
              </a:rPr>
              <a:t>　/ Bán hàng online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057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</a:rPr>
              <a:t>shop.entstore.co.jp/f/ec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</a:rPr>
              <a:t>商品名・価格・画像・在庫</a:t>
            </a:r>
            <a:endParaRPr lang="en-US" sz="10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Tên SP · giá · hình ảnh · tồn kho</a:t>
            </a:r>
          </a:p>
        </p:txBody>
      </p:sp>
      <p:sp>
        <p:nvSpPr>
          <p:cNvPr id="12" name="Text 10"/>
          <p:cNvSpPr/>
          <p:nvPr/>
        </p:nvSpPr>
        <p:spPr>
          <a:xfrm>
            <a:off x="598932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BBBBB"/>
                </a:solidFill>
              </a:rPr>
              <a:t>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0" y="155448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0" y="1691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6A00"/>
                </a:solidFill>
              </a:rPr>
              <a:t>特売データ管理</a:t>
            </a:r>
            <a:r>
              <a:rPr lang="en-US" sz="1050" i="1" dirty="0">
                <a:solidFill>
                  <a:srgbClr val="E50012"/>
                </a:solidFill>
              </a:rPr>
              <a:t>　/ Quản lý dữ liệu KM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0" y="2057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</a:rPr>
              <a:t>チラシ(/chirashi)・管理画面から登録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</a:rPr>
              <a:t>終了日を持つ動的データ</a:t>
            </a:r>
            <a:endParaRPr lang="en-US" sz="10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Đăng ký qua form; dữ liệu động, có ngày hết hạn</a:t>
            </a:r>
          </a:p>
        </p:txBody>
      </p:sp>
      <p:sp>
        <p:nvSpPr>
          <p:cNvPr id="16" name="Text 14"/>
          <p:cNvSpPr/>
          <p:nvPr/>
        </p:nvSpPr>
        <p:spPr>
          <a:xfrm>
            <a:off x="996696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BBBBB"/>
                </a:solidFill>
              </a:rPr>
              <a:t>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94560" y="3246120"/>
            <a:ext cx="7772400" cy="960120"/>
          </a:xfrm>
          <a:prstGeom prst="roundRect">
            <a:avLst>
              <a:gd name="adj" fmla="val 9524"/>
            </a:avLst>
          </a:prstGeom>
          <a:solidFill>
            <a:srgbClr val="E50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94560" y="33649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検索・提案エンジン（サイト内検索 API）</a:t>
            </a:r>
            <a:r>
              <a:rPr lang="en-US" sz="1050" i="1" dirty="0">
                <a:solidFill>
                  <a:srgbClr val="FFD1D1"/>
                </a:solidFill>
              </a:rPr>
              <a:t>　/ Bộ máy tìm kiếm &amp; gợi ý (API)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94560" y="37764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E3DD"/>
                </a:solidFill>
              </a:rPr>
              <a:t>キーワード → レシピ・商品・特売・記事・店舗・季節情報をマッチング</a:t>
            </a:r>
            <a:endParaRPr lang="en-US" sz="110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FFD1D1"/>
                </a:solidFill>
              </a:rPr>
              <a:t>Từ khóa → khớp công thức · SP · KM · bài viết · cửa hàng · thông tin mùa</a:t>
            </a:r>
          </a:p>
        </p:txBody>
      </p:sp>
      <p:sp>
        <p:nvSpPr>
          <p:cNvPr id="20" name="Text 18"/>
          <p:cNvSpPr/>
          <p:nvPr/>
        </p:nvSpPr>
        <p:spPr>
          <a:xfrm>
            <a:off x="5852160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BBBBB"/>
                </a:solidFill>
              </a:rPr>
              <a:t>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194560" y="457200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94560" y="4754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提案ページ・詳細ページ・売場マップに表示</a:t>
            </a:r>
            <a:r>
              <a:rPr lang="en-US" sz="1050" i="1" dirty="0">
                <a:solidFill>
                  <a:srgbClr val="FFD1D1"/>
                </a:solidFill>
              </a:rPr>
              <a:t>　/ Hiển thị ở trang gợi ý · chi tiết · sơ đồ quầy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5577840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56875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D6E00"/>
                </a:solidFill>
              </a:rPr>
              <a:t>⏰ 動的データのポイント：</a:t>
            </a:r>
            <a:r>
              <a:rPr lang="en-US" sz="1200" dirty="0">
                <a:solidFill>
                  <a:srgbClr val="6D5A00"/>
                </a:solidFill>
              </a:rPr>
              <a:t>特売データは「終了日」を持ち、期限切れになると一覧・検索結果・商品ページから自動で除外。手作業の削除が不要で、後のロジックに影響しない。</a:t>
            </a:r>
            <a:r>
              <a:rPr lang="en-US" sz="1050" i="1" dirty="0">
                <a:solidFill>
                  <a:srgbClr val="9E8A20"/>
                </a:solidFill>
              </a:rPr>
              <a:t>　(Dữ liệu KM động: hết hạn → tự động gỡ, không ảnh hưởng logic về sau)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26460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機能①：検索 → 提案ページ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1: Nhập từ khóa → trang gợi 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遠鉄ストア Webサイト改善提案</a:t>
            </a:r>
            <a:endParaRPr lang="en-US" sz="900" dirty="0"/>
          </a:p>
        </p:txBody>
      </p:sp>
      <p:pic>
        <p:nvPicPr>
          <p:cNvPr id="5" name="Image 0" descr="sho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309360" cy="443484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5989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</a:rPr>
              <a:t>▲ 「うなぎ」で検索した結果（モックアップ）</a:t>
            </a:r>
            <a:r>
              <a:rPr lang="en-US" sz="1000" i="1" dirty="0">
                <a:solidFill>
                  <a:srgbClr val="E50012"/>
                </a:solidFill>
              </a:rPr>
              <a:t>　/ Kết quả tìm “lươn” (bản mẫu)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0" y="1645920"/>
            <a:ext cx="502920" cy="502920"/>
          </a:xfrm>
          <a:prstGeom prst="ellipse">
            <a:avLst/>
          </a:prstGeom>
          <a:solidFill>
            <a:srgbClr val="FC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2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6002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分かりやすい入力欄　</a:t>
            </a:r>
            <a:r>
              <a:rPr lang="en-US" sz="1100" i="1" dirty="0">
                <a:solidFill>
                  <a:srgbClr val="E50012"/>
                </a:solidFill>
              </a:rPr>
              <a:t>Placeholder gợi ý rõ ràng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19476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「商品名・料理名・食材・店舗名を入力（例：うなぎ、カレー、上島店…）」。人気ワードもワンタップ。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Ô nhập gợi ý rõ ràng (tên SP/món/nguyên liệu/cửa hàng); từ khóa hot chỉ một chạm.</a:t>
            </a:r>
          </a:p>
        </p:txBody>
      </p:sp>
      <p:sp>
        <p:nvSpPr>
          <p:cNvPr id="11" name="Shape 8"/>
          <p:cNvSpPr/>
          <p:nvPr/>
        </p:nvSpPr>
        <p:spPr>
          <a:xfrm>
            <a:off x="7132320" y="2697480"/>
            <a:ext cx="502920" cy="502920"/>
          </a:xfrm>
          <a:prstGeom prst="ellipse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818120" y="2651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結果をグループ表示　</a:t>
            </a:r>
            <a:r>
              <a:rPr lang="en-US" sz="1100" i="1" dirty="0">
                <a:solidFill>
                  <a:srgbClr val="E50012"/>
                </a:solidFill>
              </a:rPr>
              <a:t>Kết quả nhóm theo loại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29992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特売 / レシピ / 商品 / 記事 / 店舗 の順に整理。件数も表示。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Sắp theo thứ tự KM/công thức/SP/bài viết/cửa hàng, kèm số lượng.</a:t>
            </a:r>
          </a:p>
        </p:txBody>
      </p:sp>
      <p:sp>
        <p:nvSpPr>
          <p:cNvPr id="15" name="Shape 12"/>
          <p:cNvSpPr/>
          <p:nvPr/>
        </p:nvSpPr>
        <p:spPr>
          <a:xfrm>
            <a:off x="7132320" y="3749040"/>
            <a:ext cx="502920" cy="502920"/>
          </a:xfrm>
          <a:prstGeom prst="ellipse">
            <a:avLst/>
          </a:prstGeom>
          <a:solidFill>
            <a:srgbClr val="FFE0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818120" y="37033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特売中なら必ず表示　</a:t>
            </a:r>
            <a:r>
              <a:rPr lang="en-US" sz="1100" i="1" dirty="0">
                <a:solidFill>
                  <a:srgbClr val="E50012"/>
                </a:solidFill>
              </a:rPr>
              <a:t>SP có KM thì hiển thị nổi bật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18120" y="40507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検索した商品が特売中の場合、特売価格と期限をハイライト表示。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Nếu SP đang khuyến mãi, làm nổi bật giá KM và hạn dùng.</a:t>
            </a:r>
          </a:p>
        </p:txBody>
      </p:sp>
      <p:sp>
        <p:nvSpPr>
          <p:cNvPr id="19" name="Shape 16"/>
          <p:cNvSpPr/>
          <p:nvPr/>
        </p:nvSpPr>
        <p:spPr>
          <a:xfrm>
            <a:off x="7132320" y="4800600"/>
            <a:ext cx="502920" cy="50292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🌞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818120" y="4754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季節のおすすめ　</a:t>
            </a:r>
            <a:r>
              <a:rPr lang="en-US" sz="1100" i="1" dirty="0">
                <a:solidFill>
                  <a:srgbClr val="E50012"/>
                </a:solidFill>
              </a:rPr>
              <a:t>Gợi ý theo mùa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818120" y="51023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夏は「土用の丑の日」特集など、季節に合った提案を上部に表示。</a:t>
            </a:r>
            <a:endParaRPr lang="en-US" sz="11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Mùa hè hiển thị gợi ý theo mùa (vd “ngày Doyo no Ushi”) lên đầu.</a:t>
            </a:r>
          </a:p>
        </p:txBody>
      </p:sp>
    </p:spTree>
    <p:extLst>
      <p:ext uri="{BB962C8B-B14F-4D97-AF65-F5344CB8AC3E}">
        <p14:creationId xmlns:p14="http://schemas.microsoft.com/office/powerpoint/2010/main" val="329855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機能②：レシピ詳細 — 画像・AI読み上げ・買い物リスト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2: Công thức — hình ảnh từng bước, AI đọc, danh sách đi chợ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遠鉄ストア Webサイト改善提案</a:t>
            </a:r>
            <a:endParaRPr lang="en-US" sz="900" dirty="0"/>
          </a:p>
        </p:txBody>
      </p:sp>
      <p:pic>
        <p:nvPicPr>
          <p:cNvPr id="5" name="Image 0" descr="shot_rec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309360" cy="4434840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5989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</a:rPr>
              <a:t>▲ レシピ詳細ページ（モックアップ）</a:t>
            </a:r>
            <a:r>
              <a:rPr lang="en-US" sz="1000" i="1" dirty="0">
                <a:solidFill>
                  <a:srgbClr val="E50012"/>
                </a:solidFill>
              </a:rPr>
              <a:t>　/ Trang chi tiết công thức (bản mẫu)</a:t>
            </a:r>
          </a:p>
        </p:txBody>
      </p:sp>
      <p:sp>
        <p:nvSpPr>
          <p:cNvPr id="7" name="Shape 4"/>
          <p:cNvSpPr/>
          <p:nvPr/>
        </p:nvSpPr>
        <p:spPr>
          <a:xfrm>
            <a:off x="7132320" y="1645920"/>
            <a:ext cx="502920" cy="50292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2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🖼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18120" y="16002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手順を画像付きで表示　</a:t>
            </a:r>
            <a:r>
              <a:rPr lang="en-US" sz="1100" i="1" dirty="0">
                <a:solidFill>
                  <a:srgbClr val="E50012"/>
                </a:solidFill>
              </a:rPr>
              <a:t>Các bước có hình minh họa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19476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STEP毎に写真・イラストを表示し、直感的に理解できる。既存レシピ集(Kitchen365)へのリンクも設置。</a:t>
            </a:r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Mỗi bước có hình minh họa, dễ hiểu trực quan; có liên kết tới bộ công thức Kitchen365.</a:t>
            </a:r>
          </a:p>
        </p:txBody>
      </p:sp>
      <p:sp>
        <p:nvSpPr>
          <p:cNvPr id="11" name="Shape 8"/>
          <p:cNvSpPr/>
          <p:nvPr/>
        </p:nvSpPr>
        <p:spPr>
          <a:xfrm>
            <a:off x="7132320" y="2697480"/>
            <a:ext cx="502920" cy="502920"/>
          </a:xfrm>
          <a:prstGeom prst="ellipse">
            <a:avLst/>
          </a:prstGeom>
          <a:solidFill>
            <a:srgbClr val="FC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🔊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818120" y="26517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AI音声でレシピ読み上げ　</a:t>
            </a:r>
            <a:r>
              <a:rPr lang="en-US" sz="1100" i="1" dirty="0">
                <a:solidFill>
                  <a:srgbClr val="E50012"/>
                </a:solidFill>
              </a:rPr>
              <a:t>Nút AI đọc công thức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29992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ボタンひとつで材料と手順を音声で読み上げ。調理中に手が離せなくても聞ける。</a:t>
            </a:r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Một nút bấm để AI đọc nguyên liệu và các bước; nghe được cả khi đang bận nấu.</a:t>
            </a:r>
          </a:p>
        </p:txBody>
      </p:sp>
      <p:sp>
        <p:nvSpPr>
          <p:cNvPr id="15" name="Shape 12"/>
          <p:cNvSpPr/>
          <p:nvPr/>
        </p:nvSpPr>
        <p:spPr>
          <a:xfrm>
            <a:off x="7132320" y="3749040"/>
            <a:ext cx="502920" cy="502920"/>
          </a:xfrm>
          <a:prstGeom prst="ellipse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323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818120" y="37033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買い物リスト自動作成　</a:t>
            </a:r>
            <a:r>
              <a:rPr lang="en-US" sz="1100" i="1" dirty="0">
                <a:solidFill>
                  <a:srgbClr val="E50012"/>
                </a:solidFill>
              </a:rPr>
              <a:t>Tạo danh sách đi chợ 1 chạm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818120" y="40507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材料から買い物リストを生成し、各材料の売場（青果・鮮魚…）を表示。</a:t>
            </a:r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Tự tạo danh sách đi chợ và hiển thị quầy của từng nguyên liệu (rau củ, hải sản…).</a:t>
            </a:r>
          </a:p>
        </p:txBody>
      </p:sp>
      <p:sp>
        <p:nvSpPr>
          <p:cNvPr id="19" name="Shape 16"/>
          <p:cNvSpPr/>
          <p:nvPr/>
        </p:nvSpPr>
        <p:spPr>
          <a:xfrm>
            <a:off x="7132320" y="4800600"/>
            <a:ext cx="502920" cy="502920"/>
          </a:xfrm>
          <a:prstGeom prst="ellipse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323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818120" y="47548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</a:rPr>
              <a:t>材料 → 商品ページへ　</a:t>
            </a:r>
            <a:r>
              <a:rPr lang="en-US" sz="1100" i="1" dirty="0">
                <a:solidFill>
                  <a:srgbClr val="E50012"/>
                </a:solidFill>
              </a:rPr>
              <a:t>Nguyên liệu liên kết sản phẩm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818120" y="51023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77777"/>
                </a:solidFill>
              </a:rPr>
              <a:t>材料をタップすると商品詳細へ。特売中なら「🔥特売中」を表示し、ECでも購入可能。</a:t>
            </a:r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Chạm nguyên liệu để xem sản phẩm; nếu đang KM sẽ hiển thị và mua được trên EC.</a:t>
            </a:r>
          </a:p>
        </p:txBody>
      </p:sp>
    </p:spTree>
    <p:extLst>
      <p:ext uri="{BB962C8B-B14F-4D97-AF65-F5344CB8AC3E}">
        <p14:creationId xmlns:p14="http://schemas.microsoft.com/office/powerpoint/2010/main" val="155726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機能③：売場マップ更新 ＆ 特売管理画面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3: Sơ đồ siêu thị &amp; màn hình quản lý khuyến mãi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遠鉄ストア Webサイト改善提案</a:t>
            </a:r>
            <a:endParaRPr lang="en-US" sz="900" dirty="0"/>
          </a:p>
        </p:txBody>
      </p:sp>
      <p:pic>
        <p:nvPicPr>
          <p:cNvPr id="5" name="Image 0" descr="sho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577840" cy="3922776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57200" y="5577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</a:rPr>
              <a:t>▲ 売場マップ：買い物リストの売場を自動ハイライト</a:t>
            </a:r>
            <a:r>
              <a:rPr lang="en-US" sz="1000" i="1" dirty="0">
                <a:solidFill>
                  <a:srgbClr val="E50012"/>
                </a:solidFill>
              </a:rPr>
              <a:t>　/ Sơ đồ siêu thị (bản mẫu)</a:t>
            </a:r>
            <a:endParaRPr lang="en-US" sz="1000" dirty="0"/>
          </a:p>
        </p:txBody>
      </p:sp>
      <p:pic>
        <p:nvPicPr>
          <p:cNvPr id="7" name="Image 1" descr="shot_ad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577840" cy="3922776"/>
          </a:xfrm>
          <a:prstGeom prst="rect">
            <a:avLst/>
          </a:prstGeom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309360" y="5577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</a:rPr>
              <a:t>▲ 特売管理画面：フォーム / JSON で登録、期限切れは自動除外</a:t>
            </a:r>
            <a:r>
              <a:rPr lang="en-US" sz="1000" i="1" dirty="0">
                <a:solidFill>
                  <a:srgbClr val="E50012"/>
                </a:solidFill>
              </a:rPr>
              <a:t>　/ Màn hình quản lý KM (bản mẫu)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</a:rPr>
              <a:t>最新の売場レイアウトを反映し、レシピの買い物リストと連動。店内での「探す時間」を削減。担当者はコードを書かずに特売情報を登録・削除できる。</a:t>
            </a:r>
            <a:endParaRPr lang="en-US" sz="12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Cập nhật sơ đồ quầy mới nhất &amp; liên kết danh sách đi chợ; giảm thời gian tìm trong siêu thị; nhân viên tự đăng ký/xóa KM mà không cần viết code.</a:t>
            </a:r>
          </a:p>
        </p:txBody>
      </p:sp>
    </p:spTree>
    <p:extLst>
      <p:ext uri="{BB962C8B-B14F-4D97-AF65-F5344CB8AC3E}">
        <p14:creationId xmlns:p14="http://schemas.microsoft.com/office/powerpoint/2010/main" val="81368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期待効果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00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ích kỳ vọng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遠鉄ストア Webサイト改善提案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623560" cy="2103120"/>
          </a:xfrm>
          <a:prstGeom prst="roundRect">
            <a:avLst>
              <a:gd name="adj" fmla="val 5217"/>
            </a:avLst>
          </a:prstGeom>
          <a:solidFill>
            <a:srgbClr val="FCE4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50012"/>
                </a:solidFill>
              </a:rPr>
              <a:t>時間節約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77777"/>
                </a:solidFill>
              </a:rPr>
              <a:t>Tiết kiệm thời gian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</a:rPr>
              <a:t>探す時間を大幅短縮。1回の入力で商品・レシピ・特売へ最短アクセス。</a:t>
            </a:r>
            <a:endParaRPr lang="en-US" sz="12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Giảm mạnh thời gian tìm; một lần nhập là tới ngay SP · công thức · KM.</a:t>
            </a:r>
          </a:p>
        </p:txBody>
      </p:sp>
      <p:sp>
        <p:nvSpPr>
          <p:cNvPr id="11" name="Shape 9"/>
          <p:cNvSpPr/>
          <p:nvPr/>
        </p:nvSpPr>
        <p:spPr>
          <a:xfrm>
            <a:off x="6355080" y="1554480"/>
            <a:ext cx="5623560" cy="2103120"/>
          </a:xfrm>
          <a:prstGeom prst="roundRect">
            <a:avLst>
              <a:gd name="adj" fmla="val 5217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2940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52360" y="1828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96A00"/>
                </a:solidFill>
              </a:rPr>
              <a:t>買上点数アップ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45236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77777"/>
                </a:solidFill>
              </a:rPr>
              <a:t>Tăng số lượng mua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26974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</a:rPr>
              <a:t>レシピ→材料→特売→売場マップの導線で「ついで買い」を促進。</a:t>
            </a:r>
            <a:endParaRPr lang="en-US" sz="12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Luồng công thức → nguyên liệu → KM → sơ đồ quầy thúc đẩy mua thêm.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5623560" cy="2103120"/>
          </a:xfrm>
          <a:prstGeom prst="roundRect">
            <a:avLst>
              <a:gd name="adj" fmla="val 5217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5448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65C0"/>
                </a:solidFill>
              </a:rPr>
              <a:t>EC送客の強化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554480" y="4617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77777"/>
                </a:solidFill>
              </a:rPr>
              <a:t>Kéo khách sang shop online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5074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</a:rPr>
              <a:t>本サイトの検索結果からネット通販へ自然に誘導。地元の逸品を全国へ。</a:t>
            </a:r>
            <a:endParaRPr lang="en-US" sz="12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Dẫn khách từ kết quả tìm sang shop online; đặc sản địa phương ra toàn quốc.</a:t>
            </a:r>
          </a:p>
        </p:txBody>
      </p:sp>
      <p:sp>
        <p:nvSpPr>
          <p:cNvPr id="23" name="Shape 21"/>
          <p:cNvSpPr/>
          <p:nvPr/>
        </p:nvSpPr>
        <p:spPr>
          <a:xfrm>
            <a:off x="6355080" y="3931920"/>
            <a:ext cx="5623560" cy="2103120"/>
          </a:xfrm>
          <a:prstGeom prst="roundRect">
            <a:avLst>
              <a:gd name="adj" fmla="val 5217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4206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45236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8B3A"/>
                </a:solidFill>
              </a:rPr>
              <a:t>顧客満足度向上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452360" y="4617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77777"/>
                </a:solidFill>
              </a:rPr>
              <a:t>Nâng cao trải nghiệm KH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75120" y="5074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</a:rPr>
              <a:t>AI読み上げ・売場マップ・季節提案で、幅広い年代のお客様に優しいサイトへ。</a:t>
            </a:r>
            <a:endParaRPr lang="en-US" sz="1250" dirty="0"/>
          </a:p>
          <a:p>
            <a:pPr marL="0" indent="0">
              <a:lnSpc>
                <a:spcPts val="1000"/>
              </a:lnSpc>
              <a:spcBef>
                <a:spcPts val="100"/>
              </a:spcBef>
              <a:buNone/>
            </a:pPr>
            <a:r>
              <a:rPr lang="en-US" sz="1000" i="1" dirty="0">
                <a:solidFill>
                  <a:srgbClr val="E50012"/>
                </a:solidFill>
              </a:rPr>
              <a:t>AI đọc · sơ đồ quầy · gợi ý theo mùa — web thân thiện với mọi lứa tuổi.</a:t>
            </a:r>
          </a:p>
        </p:txBody>
      </p:sp>
    </p:spTree>
    <p:extLst>
      <p:ext uri="{BB962C8B-B14F-4D97-AF65-F5344CB8AC3E}">
        <p14:creationId xmlns:p14="http://schemas.microsoft.com/office/powerpoint/2010/main" val="778936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EB71FA-F23B-4545-B03A-83FCD853645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1ec324f-a5fd-4d08-91fc-2f825a01ca2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1400</Words>
  <Application>Microsoft Office PowerPoint</Application>
  <PresentationFormat>Widescreen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 VAN MINH258052</cp:lastModifiedBy>
  <cp:revision>3</cp:revision>
  <dcterms:created xsi:type="dcterms:W3CDTF">2026-07-21T08:06:36Z</dcterms:created>
  <dcterms:modified xsi:type="dcterms:W3CDTF">2026-07-22T07:46:15Z</dcterms:modified>
</cp:coreProperties>
</file>